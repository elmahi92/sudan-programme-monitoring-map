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3" r:id="rId3"/>
    <p:sldId id="2577" r:id="rId4"/>
    <p:sldId id="2566" r:id="rId5"/>
    <p:sldId id="2567" r:id="rId6"/>
    <p:sldId id="2568" r:id="rId7"/>
    <p:sldId id="2570" r:id="rId8"/>
    <p:sldId id="2565" r:id="rId9"/>
    <p:sldId id="2571" r:id="rId10"/>
    <p:sldId id="2572" r:id="rId11"/>
    <p:sldId id="2573" r:id="rId12"/>
    <p:sldId id="2574" r:id="rId13"/>
    <p:sldId id="2569" r:id="rId14"/>
    <p:sldId id="257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dan CO Progress Report on Beneficiaries Reached (Jan–May 2026)" id="{96E86CD3-9AF4-4D31-931F-23ECBE446D83}">
          <p14:sldIdLst>
            <p14:sldId id="2561"/>
            <p14:sldId id="2563"/>
            <p14:sldId id="2577"/>
            <p14:sldId id="2566"/>
            <p14:sldId id="2567"/>
            <p14:sldId id="2568"/>
          </p14:sldIdLst>
        </p14:section>
        <p14:section name="Programme Progress and Beneficiary Reach Overview" id="{9BC5E9E0-7444-4179-8617-73C35B25DE44}">
          <p14:sldIdLst>
            <p14:sldId id="2570"/>
            <p14:sldId id="2565"/>
            <p14:sldId id="2571"/>
            <p14:sldId id="2572"/>
            <p14:sldId id="2573"/>
            <p14:sldId id="2574"/>
            <p14:sldId id="2569"/>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CDC3E8-F6FE-4EF9-BAD0-943278427021}" v="6" dt="2026-09-24T12:13:14.5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5254" autoAdjust="0"/>
  </p:normalViewPr>
  <p:slideViewPr>
    <p:cSldViewPr snapToGrid="0">
      <p:cViewPr varScale="1">
        <p:scale>
          <a:sx n="91" d="100"/>
          <a:sy n="91" d="100"/>
        </p:scale>
        <p:origin x="341" y="6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ia Hamid" userId="1a8b3e6d-c43a-471e-848e-6d991e9503ff" providerId="ADAL" clId="{E2351F14-96F9-4EC1-92E8-1100AE292190}"/>
    <pc:docChg chg="undo custSel addSld delSld modSld modSection">
      <pc:chgData name="Nadia Hamid" userId="1a8b3e6d-c43a-471e-848e-6d991e9503ff" providerId="ADAL" clId="{E2351F14-96F9-4EC1-92E8-1100AE292190}" dt="2026-09-24T12:35:43.230" v="31" actId="20577"/>
      <pc:docMkLst>
        <pc:docMk/>
      </pc:docMkLst>
      <pc:sldChg chg="modSp add del mod addAnim delAnim">
        <pc:chgData name="Nadia Hamid" userId="1a8b3e6d-c43a-471e-848e-6d991e9503ff" providerId="ADAL" clId="{E2351F14-96F9-4EC1-92E8-1100AE292190}" dt="2026-09-24T12:13:14.523" v="15" actId="20577"/>
        <pc:sldMkLst>
          <pc:docMk/>
          <pc:sldMk cId="2188665991" sldId="2563"/>
        </pc:sldMkLst>
        <pc:spChg chg="mod">
          <ac:chgData name="Nadia Hamid" userId="1a8b3e6d-c43a-471e-848e-6d991e9503ff" providerId="ADAL" clId="{E2351F14-96F9-4EC1-92E8-1100AE292190}" dt="2026-09-24T12:13:14.523" v="15" actId="20577"/>
          <ac:spMkLst>
            <pc:docMk/>
            <pc:sldMk cId="2188665991" sldId="2563"/>
            <ac:spMk id="4" creationId="{20648E94-D67C-7B40-F0EA-2EAA0C4747DE}"/>
          </ac:spMkLst>
        </pc:spChg>
      </pc:sldChg>
      <pc:sldChg chg="addSp delSp modSp mod">
        <pc:chgData name="Nadia Hamid" userId="1a8b3e6d-c43a-471e-848e-6d991e9503ff" providerId="ADAL" clId="{E2351F14-96F9-4EC1-92E8-1100AE292190}" dt="2026-09-24T12:35:43.230" v="31" actId="20577"/>
        <pc:sldMkLst>
          <pc:docMk/>
          <pc:sldMk cId="921145203" sldId="2565"/>
        </pc:sldMkLst>
        <pc:spChg chg="del mod">
          <ac:chgData name="Nadia Hamid" userId="1a8b3e6d-c43a-471e-848e-6d991e9503ff" providerId="ADAL" clId="{E2351F14-96F9-4EC1-92E8-1100AE292190}" dt="2026-09-24T12:35:36.945" v="18" actId="478"/>
          <ac:spMkLst>
            <pc:docMk/>
            <pc:sldMk cId="921145203" sldId="2565"/>
            <ac:spMk id="2" creationId="{DB61AF09-DFEE-AF66-3C27-CB98FA341013}"/>
          </ac:spMkLst>
        </pc:spChg>
        <pc:spChg chg="add mod">
          <ac:chgData name="Nadia Hamid" userId="1a8b3e6d-c43a-471e-848e-6d991e9503ff" providerId="ADAL" clId="{E2351F14-96F9-4EC1-92E8-1100AE292190}" dt="2026-09-24T12:35:43.230" v="31" actId="20577"/>
          <ac:spMkLst>
            <pc:docMk/>
            <pc:sldMk cId="921145203" sldId="2565"/>
            <ac:spMk id="6" creationId="{A4755B98-BD79-2668-E6B3-7331A5036314}"/>
          </ac:spMkLst>
        </pc:spChg>
      </pc:sldChg>
      <pc:sldChg chg="add del">
        <pc:chgData name="Nadia Hamid" userId="1a8b3e6d-c43a-471e-848e-6d991e9503ff" providerId="ADAL" clId="{E2351F14-96F9-4EC1-92E8-1100AE292190}" dt="2026-09-24T12:10:05.217" v="5"/>
        <pc:sldMkLst>
          <pc:docMk/>
          <pc:sldMk cId="1505138883" sldId="2566"/>
        </pc:sldMkLst>
      </pc:sldChg>
      <pc:sldChg chg="modSp add del mod">
        <pc:chgData name="Nadia Hamid" userId="1a8b3e6d-c43a-471e-848e-6d991e9503ff" providerId="ADAL" clId="{E2351F14-96F9-4EC1-92E8-1100AE292190}" dt="2026-09-24T12:33:59.431" v="16" actId="14100"/>
        <pc:sldMkLst>
          <pc:docMk/>
          <pc:sldMk cId="3441399619" sldId="2567"/>
        </pc:sldMkLst>
        <pc:picChg chg="mod">
          <ac:chgData name="Nadia Hamid" userId="1a8b3e6d-c43a-471e-848e-6d991e9503ff" providerId="ADAL" clId="{E2351F14-96F9-4EC1-92E8-1100AE292190}" dt="2026-09-24T12:33:59.431" v="16" actId="14100"/>
          <ac:picMkLst>
            <pc:docMk/>
            <pc:sldMk cId="3441399619" sldId="2567"/>
            <ac:picMk id="7" creationId="{6C809A4A-8A90-FA25-8C37-213D73881D8F}"/>
          </ac:picMkLst>
        </pc:picChg>
      </pc:sldChg>
      <pc:sldChg chg="modSp add del mod">
        <pc:chgData name="Nadia Hamid" userId="1a8b3e6d-c43a-471e-848e-6d991e9503ff" providerId="ADAL" clId="{E2351F14-96F9-4EC1-92E8-1100AE292190}" dt="2026-09-24T12:10:41.552" v="8" actId="27636"/>
        <pc:sldMkLst>
          <pc:docMk/>
          <pc:sldMk cId="1460791687" sldId="2568"/>
        </pc:sldMkLst>
        <pc:spChg chg="mod">
          <ac:chgData name="Nadia Hamid" userId="1a8b3e6d-c43a-471e-848e-6d991e9503ff" providerId="ADAL" clId="{E2351F14-96F9-4EC1-92E8-1100AE292190}" dt="2026-09-24T12:10:41.552" v="8" actId="27636"/>
          <ac:spMkLst>
            <pc:docMk/>
            <pc:sldMk cId="1460791687" sldId="2568"/>
            <ac:spMk id="4" creationId="{631271B3-DA2D-A098-A81D-182EAF646E78}"/>
          </ac:spMkLst>
        </pc:spChg>
      </pc:sldChg>
      <pc:sldChg chg="modSp mod">
        <pc:chgData name="Nadia Hamid" userId="1a8b3e6d-c43a-471e-848e-6d991e9503ff" providerId="ADAL" clId="{E2351F14-96F9-4EC1-92E8-1100AE292190}" dt="2026-09-24T12:11:22.141" v="11" actId="6549"/>
        <pc:sldMkLst>
          <pc:docMk/>
          <pc:sldMk cId="1612172798" sldId="2570"/>
        </pc:sldMkLst>
        <pc:spChg chg="mod">
          <ac:chgData name="Nadia Hamid" userId="1a8b3e6d-c43a-471e-848e-6d991e9503ff" providerId="ADAL" clId="{E2351F14-96F9-4EC1-92E8-1100AE292190}" dt="2026-09-24T12:11:22.141" v="11" actId="6549"/>
          <ac:spMkLst>
            <pc:docMk/>
            <pc:sldMk cId="1612172798" sldId="2570"/>
            <ac:spMk id="3" creationId="{370F4559-E3D9-3044-FA43-410E0D734C7B}"/>
          </ac:spMkLst>
        </pc:spChg>
      </pc:sldChg>
      <pc:sldChg chg="del">
        <pc:chgData name="Nadia Hamid" userId="1a8b3e6d-c43a-471e-848e-6d991e9503ff" providerId="ADAL" clId="{E2351F14-96F9-4EC1-92E8-1100AE292190}" dt="2026-09-24T12:09:57.787" v="1" actId="47"/>
        <pc:sldMkLst>
          <pc:docMk/>
          <pc:sldMk cId="749508677" sldId="2575"/>
        </pc:sldMkLst>
      </pc:sldChg>
      <pc:sldChg chg="add">
        <pc:chgData name="Nadia Hamid" userId="1a8b3e6d-c43a-471e-848e-6d991e9503ff" providerId="ADAL" clId="{E2351F14-96F9-4EC1-92E8-1100AE292190}" dt="2026-09-24T12:10:05.217" v="5"/>
        <pc:sldMkLst>
          <pc:docMk/>
          <pc:sldMk cId="823024960" sldId="25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66460-6FA1-4587-BF8E-998790C3EBC0}" type="datetimeFigureOut">
              <a:t>2026-09-26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E7235-D3CA-41F4-A425-D97BC358B2FE}" type="slidenum">
              <a:t>‹#›</a:t>
            </a:fld>
            <a:endParaRPr lang="en-US"/>
          </a:p>
        </p:txBody>
      </p:sp>
    </p:spTree>
    <p:extLst>
      <p:ext uri="{BB962C8B-B14F-4D97-AF65-F5344CB8AC3E}">
        <p14:creationId xmlns:p14="http://schemas.microsoft.com/office/powerpoint/2010/main" val="244423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2835AD20-0263-4534-ABE9-74F600441E8B}" type="slidenum">
              <a:t>1</a:t>
            </a:fld>
            <a:endParaRPr lang="en-US"/>
          </a:p>
        </p:txBody>
      </p:sp>
    </p:spTree>
    <p:extLst>
      <p:ext uri="{BB962C8B-B14F-4D97-AF65-F5344CB8AC3E}">
        <p14:creationId xmlns:p14="http://schemas.microsoft.com/office/powerpoint/2010/main" val="3628832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summarizes key findings from the Sudan Country Office Progress Report on beneficiaries reached between January and May 2026. The reporting period took place against an exceptionally challenging backdrop marked by protracted conflict, large-scale displacement, and severe socioeconomic stress. Sudan continues to host more than 8.8 million internally displaced persons, placing extraordinary pressure on essential services, livelihoods, and local coping mechanisms. At the same time, food insecurity remains acute, with famine risk identified in multiple areas of Darfur and Kordofan under worst-case scenarios. Despite these constraints, there are early signs of economic recovery in relatively stable areas, with estimated growth of around 3 percent in 2025, although this recovery remains uneven and fragile due to inflation levels approaching 50 percent and rising costs of fuel and imported goods. The purpose of this presentation is to distill the most relevant programmatic results from the full report into a concise, decision-oriented format suitable for programme and pillar-level discussions. It focuses on who was reached, where interventions were delivered, and how progress aligns with planned targets under the Country Programme Document (CPD) 2026–2028. The scope covers all four programme pillars—Health and Essential Services; Resilience and Recovery; Peacebuilding and Inclusive Governance; and Environment, Energy and Climate Change—using both narrative analysis and visual summaries drawn directly from the report. Particular attention is given to geographic coverage, beneficiary composition by gender and age, and variations in performance across states. By providing a clear overview of achievements and gaps, this slide sets the foundation for informed discussion on strategic adjustments, resource allocation, and prioritization for the remainder of 2026. The presentation is intended to complement, not replace, the full report, offering a shared evidence base to support programme planning, coordination, and accountability across pillars.</a:t>
            </a:r>
          </a:p>
        </p:txBody>
      </p:sp>
      <p:sp>
        <p:nvSpPr>
          <p:cNvPr id="4" name="Slide Number Placeholder 3"/>
          <p:cNvSpPr>
            <a:spLocks noGrp="1"/>
          </p:cNvSpPr>
          <p:nvPr>
            <p:ph type="sldNum" sz="quarter" idx="5"/>
          </p:nvPr>
        </p:nvSpPr>
        <p:spPr/>
        <p:txBody>
          <a:bodyPr/>
          <a:lstStyle/>
          <a:p>
            <a:fld id="{2835AD20-0263-4534-ABE9-74F600441E8B}" type="slidenum">
              <a:t>2</a:t>
            </a:fld>
            <a:endParaRPr lang="en-US"/>
          </a:p>
        </p:txBody>
      </p:sp>
    </p:spTree>
    <p:extLst>
      <p:ext uri="{BB962C8B-B14F-4D97-AF65-F5344CB8AC3E}">
        <p14:creationId xmlns:p14="http://schemas.microsoft.com/office/powerpoint/2010/main" val="3959943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Under Pillar 1, UNDP-supported health and essential service interventions reached more than 6.1 million people between January and May 2026, with women accounting for approximately 46 percent of beneficiaries. Key results include over 4.1 million people accessing healthcare services through mobile and facility-based primary healthcare, 1.5 million people benefiting from improved access to functional health facilities, and nearly 400,000 individuals receiving HIV, tuberculosis, and related services. Targeted support was also provided to people living with chronic conditions, including 45,000 individuals receiving life-saving insulin and related diabetes care. Beyond service delivery, investments focused on strengthening system resilience through upgrading 50 primary healthcare facilities and building the capacity of 1,500 health workers. Strategic initiatives, such as preparations for the installation of an MRI unit in Kassala State, demonstrate a commitment to expanding access to advanced diagnostic services for an estimated 1.5 million people. Health interventions were closely integrated with water, food security, and climate-resilient activities, recognizing the interdependence of essential services in fragile contexts. This integrated approach has contributed to improved continuity, quality, and sustainability of health services in conflict-affected and hard-to-reach areas, while laying the groundwork for longer-term system recovery.</a:t>
            </a:r>
          </a:p>
        </p:txBody>
      </p:sp>
      <p:sp>
        <p:nvSpPr>
          <p:cNvPr id="4" name="Slide Number Placeholder 3"/>
          <p:cNvSpPr>
            <a:spLocks noGrp="1"/>
          </p:cNvSpPr>
          <p:nvPr>
            <p:ph type="sldNum" sz="quarter" idx="5"/>
          </p:nvPr>
        </p:nvSpPr>
        <p:spPr/>
        <p:txBody>
          <a:bodyPr/>
          <a:lstStyle/>
          <a:p>
            <a:fld id="{2835AD20-0263-4534-ABE9-74F600441E8B}" type="slidenum">
              <a:t>4</a:t>
            </a:fld>
            <a:endParaRPr lang="en-US"/>
          </a:p>
        </p:txBody>
      </p:sp>
    </p:spTree>
    <p:extLst>
      <p:ext uri="{BB962C8B-B14F-4D97-AF65-F5344CB8AC3E}">
        <p14:creationId xmlns:p14="http://schemas.microsoft.com/office/powerpoint/2010/main" val="2633803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Resilience and Recovery interventions reached approximately 1.52 million people during the reporting period, with women representing 36 percent of direct beneficiaries. Activities focused on restoring livelihoods, strengthening food security, improving water access, and expanding economic opportunities for vulnerable populations. Over 105,000 individuals received agricultural inputs and extension services, indirectly benefiting hundreds of thousands of community members. Solarized water yards and irrigation schemes improved access to safe water for more than 240,000 people and enhanced agricultural productivity for farmers. Cash-for-work programmes and micro-grants provided short-term income support and longer-term self-employment opportunities, particularly for women and youth, while vocational training and capacity-building initiatives strengthened employability and community management systems. These interventions collectively contributed to rebuilding productive capacities, stimulating local economies, and enhancing resilience to economic and climate-related shocks. The scale and diversity of results under this pillar underscore the importance of integrated livelihood and recovery programming in addressing both immediate needs and structural vulnerabilities in crisis-affected contexts.</a:t>
            </a:r>
          </a:p>
        </p:txBody>
      </p:sp>
      <p:sp>
        <p:nvSpPr>
          <p:cNvPr id="4" name="Slide Number Placeholder 3"/>
          <p:cNvSpPr>
            <a:spLocks noGrp="1"/>
          </p:cNvSpPr>
          <p:nvPr>
            <p:ph type="sldNum" sz="quarter" idx="5"/>
          </p:nvPr>
        </p:nvSpPr>
        <p:spPr/>
        <p:txBody>
          <a:bodyPr/>
          <a:lstStyle/>
          <a:p>
            <a:fld id="{2835AD20-0263-4534-ABE9-74F600441E8B}" type="slidenum">
              <a:t>5</a:t>
            </a:fld>
            <a:endParaRPr lang="en-US"/>
          </a:p>
        </p:txBody>
      </p:sp>
    </p:spTree>
    <p:extLst>
      <p:ext uri="{BB962C8B-B14F-4D97-AF65-F5344CB8AC3E}">
        <p14:creationId xmlns:p14="http://schemas.microsoft.com/office/powerpoint/2010/main" val="1555360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Peacebuilding and inclusive governance interventions reached nearly 4,918 people between January and May 2026, with women accounting for about 45 percent of participants. These initiatives focused on community protection, mediation, dialogue, and social cohesion, supporting locally led mechanisms to prevent and resolve conflict and strengthen inclusive institutions. Activities included strengthening academic peace centres, reactivating community-based protection structures, and promoting the participation of women and youth in peace processes. Under Pillar 4, environment, energy, and climate change interventions expanded access to clean energy and climate-resilient services. More than 47,000 people were connected to electricity through solar infrastructure, over 239,000 gained access to safe water via solar-powered systems, and nearly 13,000 farmers benefited from solar irrigation, supporting food production for tens of thousands more. Together, these pillars contribute to safer, more resilient communities while advancing sustainable natural resource management and climate action aligned with national and global commitments.</a:t>
            </a:r>
          </a:p>
        </p:txBody>
      </p:sp>
      <p:sp>
        <p:nvSpPr>
          <p:cNvPr id="4" name="Slide Number Placeholder 3"/>
          <p:cNvSpPr>
            <a:spLocks noGrp="1"/>
          </p:cNvSpPr>
          <p:nvPr>
            <p:ph type="sldNum" sz="quarter" idx="5"/>
          </p:nvPr>
        </p:nvSpPr>
        <p:spPr/>
        <p:txBody>
          <a:bodyPr/>
          <a:lstStyle/>
          <a:p>
            <a:fld id="{2835AD20-0263-4534-ABE9-74F600441E8B}" type="slidenum">
              <a:t>6</a:t>
            </a:fld>
            <a:endParaRPr lang="en-US"/>
          </a:p>
        </p:txBody>
      </p:sp>
    </p:spTree>
    <p:extLst>
      <p:ext uri="{BB962C8B-B14F-4D97-AF65-F5344CB8AC3E}">
        <p14:creationId xmlns:p14="http://schemas.microsoft.com/office/powerpoint/2010/main" val="2158263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Geographic analysis of beneficiary data reveals significant variation in programme reach and performance across Sudan’s states, shaped by differences in access, security conditions, partner presence, and operational capacity. States such as Northern, Red Sea, Kassala, Aj Jazirah, Gedaref, and North Kordofan have largely met or exceeded their planned beneficiary targets, reflecting relatively stable operating environments and strong multi-pillar engagement. In contrast, South Kordofan, Blue Nile, Sennar, and White Nile recorded lower reach compared to targets, highlighting persistent access constraints, insecurity, and logistical challenges that have slowed implementation. Darfur states show mixed performance, with moderate progress overall but notable disparities between locations, underscoring the need for more nuanced, area-based planning. Mapping of pillar presence also indicates that Red Sea, Kassala, and Gedaref benefit from the strongest multi-pillar overlap, while some areas—such as West Kordofan—currently show limited or no programme presence. These spatial patterns are critical for understanding not only where beneficiaries are being reached, but also where service gaps remain. The maps included in the report provide a visual synthesis of these trends, enabling clearer identification of opportunities for scale-up, rebalancing, or targeted support. Strengthening the clarity of map legends and keys, as noted in feedback, will further enhance their usefulness for programme decision-making and coordination.</a:t>
            </a:r>
          </a:p>
        </p:txBody>
      </p:sp>
      <p:sp>
        <p:nvSpPr>
          <p:cNvPr id="4" name="Slide Number Placeholder 3"/>
          <p:cNvSpPr>
            <a:spLocks noGrp="1"/>
          </p:cNvSpPr>
          <p:nvPr>
            <p:ph type="sldNum" sz="quarter" idx="5"/>
          </p:nvPr>
        </p:nvSpPr>
        <p:spPr/>
        <p:txBody>
          <a:bodyPr/>
          <a:lstStyle/>
          <a:p>
            <a:fld id="{2835AD20-0263-4534-ABE9-74F600441E8B}" type="slidenum">
              <a:t>8</a:t>
            </a:fld>
            <a:endParaRPr lang="en-US"/>
          </a:p>
        </p:txBody>
      </p:sp>
    </p:spTree>
    <p:extLst>
      <p:ext uri="{BB962C8B-B14F-4D97-AF65-F5344CB8AC3E}">
        <p14:creationId xmlns:p14="http://schemas.microsoft.com/office/powerpoint/2010/main" val="175899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Implementation during the first half of 2026 was constrained by continued conflict and insecurity, large-scale displacement, high inflation, fuel shortages, and limited institutional capacity in many areas. These challenges affected access, increased operational costs, and slowed delivery in several states. Despite these constraints, key lessons have emerged. Integrated, area-based programming under the Humanitarian–Development–Peace Nexus has proven effective in generating more sustainable outcomes by addressing immediate needs and underlying drivers of vulnerability simultaneously. Strong partnerships with national institutions, local organizations, and communities have enhanced ownership and responsiveness, while gender-responsive approaches have increased women’s participation across pillars. Looking forward, priorities include accelerating the digitalization of beneficiary data systems, institutionalizing quarterly beneficiary mapping, and strengthening GIS-supported analysis and visualization to improve decision-making. Continued investment in adaptive programming, local systems strengthening, and risk-informed planning will be essential to sustaining progress, expanding reach in underserved areas, and supporting Sudan’s transition toward recovery, resilience, and sustainable development.</a:t>
            </a:r>
          </a:p>
        </p:txBody>
      </p:sp>
      <p:sp>
        <p:nvSpPr>
          <p:cNvPr id="4" name="Slide Number Placeholder 3"/>
          <p:cNvSpPr>
            <a:spLocks noGrp="1"/>
          </p:cNvSpPr>
          <p:nvPr>
            <p:ph type="sldNum" sz="quarter" idx="5"/>
          </p:nvPr>
        </p:nvSpPr>
        <p:spPr/>
        <p:txBody>
          <a:bodyPr/>
          <a:lstStyle/>
          <a:p>
            <a:fld id="{2835AD20-0263-4534-ABE9-74F600441E8B}" type="slidenum">
              <a:t>13</a:t>
            </a:fld>
            <a:endParaRPr lang="en-US"/>
          </a:p>
        </p:txBody>
      </p:sp>
    </p:spTree>
    <p:extLst>
      <p:ext uri="{BB962C8B-B14F-4D97-AF65-F5344CB8AC3E}">
        <p14:creationId xmlns:p14="http://schemas.microsoft.com/office/powerpoint/2010/main" val="332651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69655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3747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Saturday, September 26,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012904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329908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Saturday, September 26,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40386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663943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273317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Saturday, September 26,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390702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78037785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73530140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8969304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Saturday, September 26,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2916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668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391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7771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9426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384962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47921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590822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2916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73194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Saturday, September 26,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2627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32027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24668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2491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45177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Saturday, September 26,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8814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Saturday, September 26,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385640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Saturday, September 26,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360448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72549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58037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31811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59295104"/>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7405912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174268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966156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591227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762574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437626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308584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799066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4192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Saturday, September 26,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79834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81477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Saturday, September 26,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02927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488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33951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794450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0825871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3901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2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2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DE52EB9-288C-A1A3-A942-38337FC50BE6}"/>
              </a:ext>
            </a:extLst>
          </p:cNvPr>
          <p:cNvSpPr txBox="1"/>
          <p:nvPr/>
        </p:nvSpPr>
        <p:spPr>
          <a:xfrm>
            <a:off x="5952930" y="251928"/>
            <a:ext cx="6008915" cy="363892"/>
          </a:xfrm>
          <a:prstGeom prst="rect">
            <a:avLst/>
          </a:prstGeom>
        </p:spPr>
        <p:txBody>
          <a:bodyPr vert="horz" lIns="91440" tIns="45720" rIns="91440" bIns="45720" rtlCol="0" anchor="b">
            <a:normAutofit fontScale="92500" lnSpcReduction="10000"/>
          </a:bodyPr>
          <a:lstStyle/>
          <a:p>
            <a:pPr algn="l">
              <a:lnSpc>
                <a:spcPct val="120000"/>
              </a:lnSpc>
              <a:spcBef>
                <a:spcPts val="1000"/>
              </a:spcBef>
              <a:defRPr b="1">
                <a:solidFill>
                  <a:srgbClr val="003C5A"/>
                </a:solidFill>
                <a:latin typeface="Arial"/>
              </a:defRPr>
            </a:pPr>
            <a:r>
              <a:rPr lang="en-US" b="1" dirty="0">
                <a:solidFill>
                  <a:srgbClr val="003C5A"/>
                </a:solidFill>
                <a:latin typeface="Arial"/>
              </a:rPr>
              <a:t>Overview of people reached and impact achieved in 2026</a:t>
            </a:r>
          </a:p>
        </p:txBody>
      </p:sp>
      <p:pic>
        <p:nvPicPr>
          <p:cNvPr id="2" name="Picture 1">
            <a:extLst>
              <a:ext uri="{FF2B5EF4-FFF2-40B4-BE49-F238E27FC236}">
                <a16:creationId xmlns:a16="http://schemas.microsoft.com/office/drawing/2014/main" id="{674A5581-51C5-BCAA-F83C-2B7C12C839A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225143" cy="6429246"/>
          </a:xfrm>
          <a:prstGeom prst="rect">
            <a:avLst/>
          </a:prstGeom>
          <a:noFill/>
          <a:ln>
            <a:noFill/>
          </a:ln>
        </p:spPr>
      </p:pic>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5279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EF7A8-71B8-A569-EC0B-A944A5E2E5C1}"/>
              </a:ext>
            </a:extLst>
          </p:cNvPr>
          <p:cNvSpPr>
            <a:spLocks noGrp="1"/>
          </p:cNvSpPr>
          <p:nvPr>
            <p:ph type="title"/>
          </p:nvPr>
        </p:nvSpPr>
        <p:spPr>
          <a:xfrm>
            <a:off x="731520" y="292608"/>
            <a:ext cx="10844784" cy="537816"/>
          </a:xfrm>
        </p:spPr>
        <p:txBody>
          <a:bodyPr anchor="b">
            <a:normAutofit/>
          </a:bodyPr>
          <a:lstStyle/>
          <a:p>
            <a:pPr algn="l">
              <a:defRPr b="1">
                <a:solidFill>
                  <a:srgbClr val="003C5A"/>
                </a:solidFill>
                <a:latin typeface="Arial"/>
              </a:defRPr>
            </a:pPr>
            <a:r>
              <a:rPr lang="en-US" dirty="0" b="1">
                <a:solidFill>
                  <a:srgbClr val="003C5A"/>
                </a:solidFill>
                <a:latin typeface="Arial"/>
              </a:rPr>
              <a:t>Context, Purpose, and Scope of the Progress Report</a:t>
            </a:r>
          </a:p>
        </p:txBody>
      </p:sp>
      <p:sp>
        <p:nvSpPr>
          <p:cNvPr id="4" name="Content Placeholder 3">
            <a:extLst>
              <a:ext uri="{FF2B5EF4-FFF2-40B4-BE49-F238E27FC236}">
                <a16:creationId xmlns:a16="http://schemas.microsoft.com/office/drawing/2014/main" id="{20648E94-D67C-7B40-F0EA-2EAA0C4747DE}"/>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618" y="1371600"/>
            <a:ext cx="5370382" cy="4021494"/>
          </a:xfrm>
        </p:spPr>
        <p:txBody>
          <a:bodyPr>
            <a:normAutofit fontScale="92500" lnSpcReduction="10000"/>
          </a:bodyPr>
          <a:lstStyle/>
          <a:p>
            <a:pPr fontAlgn="t">
              <a:buNone/>
              <a:defRPr>
                <a:solidFill>
                  <a:srgbClr val="2F3B4A"/>
                </a:solidFill>
                <a:latin typeface="Arial"/>
              </a:defRPr>
            </a:pPr>
            <a:r>
              <a:rPr lang="en-SD" b="1" dirty="0">
                <a:solidFill>
                  <a:srgbClr val="2F3B4A"/>
                </a:solidFill>
                <a:latin typeface="Arial"/>
              </a:rPr>
              <a:t>Challenging Context</a:t>
            </a:r>
          </a:p>
          <a:p>
            <a:pPr fontAlgn="t">
              <a:buNone/>
              <a:defRPr>
                <a:solidFill>
                  <a:srgbClr val="2F3B4A"/>
                </a:solidFill>
                <a:latin typeface="Arial"/>
              </a:defRPr>
            </a:pPr>
            <a:r>
              <a:rPr lang="en-SD" dirty="0">
                <a:solidFill>
                  <a:srgbClr val="2F3B4A"/>
                </a:solidFill>
                <a:latin typeface="Arial"/>
              </a:rPr>
              <a:t>Sudan continues to face conflict, displacement, food insecurity, and economic pressures, placing significant strain on communities and essential services.</a:t>
            </a:r>
          </a:p>
          <a:p>
            <a:pPr fontAlgn="t">
              <a:buNone/>
              <a:defRPr>
                <a:solidFill>
                  <a:srgbClr val="2F3B4A"/>
                </a:solidFill>
                <a:latin typeface="Arial"/>
              </a:defRPr>
            </a:pPr>
            <a:r>
              <a:rPr lang="en-SD" b="1" dirty="0">
                <a:solidFill>
                  <a:srgbClr val="2F3B4A"/>
                </a:solidFill>
                <a:latin typeface="Arial"/>
              </a:rPr>
              <a:t>Purpose</a:t>
            </a:r>
          </a:p>
          <a:p>
            <a:pPr fontAlgn="t">
              <a:buNone/>
              <a:defRPr>
                <a:solidFill>
                  <a:srgbClr val="2F3B4A"/>
                </a:solidFill>
                <a:latin typeface="Arial"/>
              </a:defRPr>
            </a:pPr>
            <a:r>
              <a:rPr lang="en-SD" dirty="0">
                <a:solidFill>
                  <a:srgbClr val="2F3B4A"/>
                </a:solidFill>
                <a:latin typeface="Arial"/>
              </a:rPr>
              <a:t>To present programme results and beneficiary reach against the 2026 </a:t>
            </a:r>
            <a:r>
              <a:rPr lang="en-US" dirty="0">
                <a:solidFill>
                  <a:srgbClr val="2F3B4A"/>
                </a:solidFill>
                <a:latin typeface="Arial"/>
              </a:rPr>
              <a:t> </a:t>
            </a:r>
            <a:r>
              <a:rPr lang="en-SD" dirty="0">
                <a:solidFill>
                  <a:srgbClr val="2F3B4A"/>
                </a:solidFill>
                <a:latin typeface="Arial"/>
              </a:rPr>
              <a:t>planned targets.</a:t>
            </a:r>
          </a:p>
          <a:p>
            <a:pPr fontAlgn="t">
              <a:buNone/>
              <a:defRPr>
                <a:solidFill>
                  <a:srgbClr val="2F3B4A"/>
                </a:solidFill>
                <a:latin typeface="Arial"/>
              </a:defRPr>
            </a:pPr>
            <a:r>
              <a:rPr lang="en-SD" b="1" dirty="0">
                <a:solidFill>
                  <a:srgbClr val="2F3B4A"/>
                </a:solidFill>
                <a:latin typeface="Arial"/>
              </a:rPr>
              <a:t>Scope</a:t>
            </a:r>
          </a:p>
          <a:p>
            <a:pPr fontAlgn="t">
              <a:buNone/>
              <a:defRPr>
                <a:solidFill>
                  <a:srgbClr val="2F3B4A"/>
                </a:solidFill>
                <a:latin typeface="Arial"/>
              </a:defRPr>
            </a:pPr>
            <a:r>
              <a:rPr lang="en-SD" dirty="0">
                <a:solidFill>
                  <a:srgbClr val="2F3B4A"/>
                </a:solidFill>
                <a:latin typeface="Arial"/>
              </a:rPr>
              <a:t>Covers progress across UNDP Sudan’s four programme pillars through key results, analysis, and visual summaries.</a:t>
            </a:r>
          </a:p>
          <a:p>
            <a:pPr fontAlgn="t">
              <a:buNone/>
              <a:defRPr>
                <a:solidFill>
                  <a:srgbClr val="2F3B4A"/>
                </a:solidFill>
                <a:latin typeface="Arial"/>
              </a:defRPr>
            </a:pPr>
            <a:r>
              <a:rPr lang="en-SD" b="1" dirty="0">
                <a:solidFill>
                  <a:srgbClr val="2F3B4A"/>
                </a:solidFill>
                <a:latin typeface="Arial"/>
              </a:rPr>
              <a:t>Strategic Focus</a:t>
            </a:r>
          </a:p>
          <a:p>
            <a:pPr fontAlgn="t">
              <a:buNone/>
              <a:defRPr>
                <a:solidFill>
                  <a:srgbClr val="2F3B4A"/>
                </a:solidFill>
                <a:latin typeface="Arial"/>
              </a:defRPr>
            </a:pPr>
            <a:r>
              <a:rPr lang="en-SD" dirty="0">
                <a:solidFill>
                  <a:srgbClr val="2F3B4A"/>
                </a:solidFill>
                <a:latin typeface="Arial"/>
              </a:rPr>
              <a:t>Supports evidence-based decision-making and prioritization of interventions for the remainder of 2026.</a:t>
            </a:r>
          </a:p>
        </p:txBody>
      </p:sp>
      <p:pic>
        <p:nvPicPr>
          <p:cNvPr id="10" name="Picture 9" descr="A map of the state of the united states&#10;&#10;AI-generated content may be incorrect.">
            <a:extLst>
              <a:ext uri="{FF2B5EF4-FFF2-40B4-BE49-F238E27FC236}">
                <a16:creationId xmlns:a16="http://schemas.microsoft.com/office/drawing/2014/main" id="{6B4B55AD-2D12-5CEE-D37E-C6E1D3BBAC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3876" y="1563333"/>
            <a:ext cx="5737471" cy="3829761"/>
          </a:xfrm>
          <a:prstGeom prst="rect">
            <a:avLst/>
          </a:prstGeom>
          <a:noFill/>
        </p:spPr>
      </p:pic>
      <p:sp>
        <p:nvSpPr>
          <p:cNvPr id="11" name="Rectangle 10"/>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88665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C44CD76-3033-E503-F253-840A5B2D64C3}"/>
              </a:ext>
            </a:extLst>
          </p:cNvPr>
          <p:cNvGraphicFramePr>
            <a:graphicFrameLocks noGrp="1"/>
          </p:cNvGraphicFramePr>
          <p:nvPr>
            <p:ph sz="quarter" idx="14"/>
          </p:nvPr>
        </p:nvGraphicFramePr>
        <p:xfrm>
          <a:off x="615696" y="1623527"/>
          <a:ext cx="10637022" cy="4301410"/>
        </p:xfrm>
        <a:graphic>
          <a:graphicData uri="http://schemas.openxmlformats.org/drawingml/2006/table">
            <a:tbl>
              <a:tblPr firstRow="1" firstCol="1" bandRow="1">
                <a:tableStyleId>{5C22544A-7EE6-4342-B048-85BDC9FD1C3A}</a:tableStyleId>
              </a:tblPr>
              <a:tblGrid>
                <a:gridCol w="3097888">
                  <a:extLst>
                    <a:ext uri="{9D8B030D-6E8A-4147-A177-3AD203B41FA5}">
                      <a16:colId xmlns:a16="http://schemas.microsoft.com/office/drawing/2014/main" val="2654290718"/>
                    </a:ext>
                  </a:extLst>
                </a:gridCol>
                <a:gridCol w="2743853">
                  <a:extLst>
                    <a:ext uri="{9D8B030D-6E8A-4147-A177-3AD203B41FA5}">
                      <a16:colId xmlns:a16="http://schemas.microsoft.com/office/drawing/2014/main" val="3546428522"/>
                    </a:ext>
                  </a:extLst>
                </a:gridCol>
                <a:gridCol w="1639136">
                  <a:extLst>
                    <a:ext uri="{9D8B030D-6E8A-4147-A177-3AD203B41FA5}">
                      <a16:colId xmlns:a16="http://schemas.microsoft.com/office/drawing/2014/main" val="1776521297"/>
                    </a:ext>
                  </a:extLst>
                </a:gridCol>
                <a:gridCol w="1513416">
                  <a:extLst>
                    <a:ext uri="{9D8B030D-6E8A-4147-A177-3AD203B41FA5}">
                      <a16:colId xmlns:a16="http://schemas.microsoft.com/office/drawing/2014/main" val="742350081"/>
                    </a:ext>
                  </a:extLst>
                </a:gridCol>
                <a:gridCol w="1642729">
                  <a:extLst>
                    <a:ext uri="{9D8B030D-6E8A-4147-A177-3AD203B41FA5}">
                      <a16:colId xmlns:a16="http://schemas.microsoft.com/office/drawing/2014/main" val="3181172120"/>
                    </a:ext>
                  </a:extLst>
                </a:gridCol>
              </a:tblGrid>
              <a:tr h="1159892">
                <a:tc>
                  <a:txBody>
                    <a:bodyPr/>
                    <a:lstStyle/>
                    <a:p>
                      <a:pPr algn="just">
                        <a:lnSpc>
                          <a:spcPct val="115000"/>
                        </a:lnSpc>
                        <a:buNone/>
                      </a:pPr>
                      <a:r>
                        <a:rPr lang="en-SD" sz="1800" kern="100" dirty="0">
                          <a:effectLst/>
                        </a:rPr>
                        <a:t>Pillar</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Beneficiaries Target</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Reached direct+ indirect</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 Achieved</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 of Women</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337772"/>
                  </a:ext>
                </a:extLst>
              </a:tr>
              <a:tr h="400480">
                <a:tc>
                  <a:txBody>
                    <a:bodyPr/>
                    <a:lstStyle/>
                    <a:p>
                      <a:pPr algn="just">
                        <a:lnSpc>
                          <a:spcPct val="115000"/>
                        </a:lnSpc>
                        <a:buNone/>
                      </a:pPr>
                      <a:r>
                        <a:rPr lang="en-US" sz="1800" kern="100">
                          <a:effectLst/>
                        </a:rPr>
                        <a:t>🩺 Health</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8,511,342</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5,509,874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64%</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61%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12084753"/>
                  </a:ext>
                </a:extLst>
              </a:tr>
              <a:tr h="780186">
                <a:tc>
                  <a:txBody>
                    <a:bodyPr/>
                    <a:lstStyle/>
                    <a:p>
                      <a:pPr algn="just">
                        <a:lnSpc>
                          <a:spcPct val="115000"/>
                        </a:lnSpc>
                        <a:buNone/>
                      </a:pPr>
                      <a:r>
                        <a:rPr lang="en-US" sz="1800" kern="100">
                          <a:effectLst/>
                        </a:rPr>
                        <a:t>💼 Livelihoods</a:t>
                      </a:r>
                      <a:r>
                        <a:rPr lang="en-SD" sz="1800" kern="100">
                          <a:effectLst/>
                        </a:rPr>
                        <a:t> and Economic Recovery</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1,610,404</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1,561,005</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97%</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36%</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53064161"/>
                  </a:ext>
                </a:extLst>
              </a:tr>
              <a:tr h="780186">
                <a:tc>
                  <a:txBody>
                    <a:bodyPr/>
                    <a:lstStyle/>
                    <a:p>
                      <a:pPr algn="just">
                        <a:lnSpc>
                          <a:spcPct val="115000"/>
                        </a:lnSpc>
                        <a:buNone/>
                      </a:pPr>
                      <a:r>
                        <a:rPr lang="en-US" sz="1800" kern="100">
                          <a:effectLst/>
                        </a:rPr>
                        <a:t>🕊   Peacebuilding</a:t>
                      </a:r>
                      <a:r>
                        <a:rPr lang="en-SD" sz="1800" kern="100">
                          <a:effectLst/>
                        </a:rPr>
                        <a:t> and Social Cohesion</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19,079</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15,943 </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84%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44%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70834381"/>
                  </a:ext>
                </a:extLst>
              </a:tr>
              <a:tr h="780186">
                <a:tc>
                  <a:txBody>
                    <a:bodyPr/>
                    <a:lstStyle/>
                    <a:p>
                      <a:pPr algn="just">
                        <a:lnSpc>
                          <a:spcPct val="115000"/>
                        </a:lnSpc>
                        <a:buNone/>
                      </a:pPr>
                      <a:r>
                        <a:rPr lang="en-US" sz="1800" kern="100">
                          <a:effectLst/>
                        </a:rPr>
                        <a:t>🌱 Climate Resilience</a:t>
                      </a:r>
                      <a:r>
                        <a:rPr lang="en-SD" sz="1800" kern="100">
                          <a:effectLst/>
                        </a:rPr>
                        <a:t> and Environment</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163,351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116,001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a:effectLst/>
                        </a:rPr>
                        <a:t>71%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SD" sz="1800" kern="100" dirty="0">
                          <a:effectLst/>
                        </a:rPr>
                        <a:t>49%</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9603554"/>
                  </a:ext>
                </a:extLst>
              </a:tr>
              <a:tr h="400480">
                <a:tc>
                  <a:txBody>
                    <a:bodyPr/>
                    <a:lstStyle/>
                    <a:p>
                      <a:pPr algn="just">
                        <a:lnSpc>
                          <a:spcPct val="115000"/>
                        </a:lnSpc>
                        <a:buNone/>
                      </a:pPr>
                      <a:r>
                        <a:rPr lang="en-US" sz="1800" kern="100">
                          <a:effectLst/>
                        </a:rPr>
                        <a:t>Total</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US" sz="1800" kern="100">
                          <a:effectLst/>
                        </a:rPr>
                        <a:t>10,304,176</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US" sz="1800" kern="100">
                          <a:effectLst/>
                        </a:rPr>
                        <a:t>7,202,823</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US" sz="1800" kern="100">
                          <a:effectLst/>
                        </a:rPr>
                        <a:t>79%</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just">
                        <a:lnSpc>
                          <a:spcPct val="115000"/>
                        </a:lnSpc>
                        <a:buNone/>
                      </a:pPr>
                      <a:r>
                        <a:rPr lang="en-US" sz="1800" kern="100" dirty="0">
                          <a:effectLst/>
                        </a:rPr>
                        <a:t>48%</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tc>
                <a:extLst>
                  <a:ext uri="{0D108BD9-81ED-4DB2-BD59-A6C34878D82A}">
                    <a16:rowId xmlns:a16="http://schemas.microsoft.com/office/drawing/2014/main" val="3780654163"/>
                  </a:ext>
                </a:extLst>
              </a:tr>
            </a:tbl>
          </a:graphicData>
        </a:graphic>
      </p:graphicFrame>
      <p:sp>
        <p:nvSpPr>
          <p:cNvPr id="7" name="TextBox 6">
            <a:extLst>
              <a:ext uri="{FF2B5EF4-FFF2-40B4-BE49-F238E27FC236}">
                <a16:creationId xmlns:a16="http://schemas.microsoft.com/office/drawing/2014/main" id="{51C0A0E2-044E-0659-698B-BA00BB0D167B}"/>
              </a:ext>
            </a:extLst>
          </p:cNvPr>
          <p:cNvSpPr txBox="1"/>
          <p:nvPr/>
        </p:nvSpPr>
        <p:spPr>
          <a:xfrm>
            <a:off x="802263" y="152396"/>
            <a:ext cx="6804517" cy="1302921"/>
          </a:xfrm>
          <a:prstGeom prst="rect">
            <a:avLst/>
          </a:prstGeom>
          <a:noFill/>
        </p:spPr>
        <p:txBody>
          <a:bodyPr wrap="square">
            <a:spAutoFit/>
          </a:bodyPr>
          <a:lstStyle/>
          <a:p>
            <a:pPr algn="l">
              <a:lnSpc>
                <a:spcPct val="100000"/>
              </a:lnSpc>
              <a:spcAft>
                <a:spcPts val="800"/>
              </a:spcAft>
              <a:buNone/>
              <a:defRPr b="1">
                <a:solidFill>
                  <a:srgbClr val="003C5A"/>
                </a:solidFill>
                <a:latin typeface="Arial"/>
              </a:defRPr>
            </a:pPr>
            <a:r>
              <a:rPr lang="en-SD" sz="1800" b="1" kern="100" dirty="0">
                <a:solidFill>
                  <a:srgbClr val="003C5A"/>
                </a:solidFill>
                <a:effectLst/>
                <a:latin typeface="Arial"/>
                <a:ea typeface="Yu Mincho" panose="02020400000000000000" pitchFamily="18" charset="-128"/>
                <a:cs typeface="Arial" panose="020B0604020202020204" pitchFamily="34" charset="0"/>
              </a:rPr>
              <a:t>Key Results Achieved and Strategic Contribution to Country Programme Outcomes</a:t>
            </a:r>
            <a:endParaRPr lang="en-SD" sz="1800" kern="100" dirty="0">
              <a:effectLst/>
              <a:latin typeface="+mn-lt"/>
              <a:ea typeface="Yu Mincho" panose="02020400000000000000" pitchFamily="18" charset="-128"/>
              <a:cs typeface="Arial" panose="020B0604020202020204" pitchFamily="34" charset="0"/>
            </a:endParaRPr>
          </a:p>
          <a:p>
            <a:pPr algn="l">
              <a:lnSpc>
                <a:spcPct val="100000"/>
              </a:lnSpc>
              <a:spcAft>
                <a:spcPts val="800"/>
              </a:spcAft>
              <a:buNone/>
              <a:defRPr b="1">
                <a:solidFill>
                  <a:srgbClr val="003C5A"/>
                </a:solidFill>
                <a:latin typeface="Arial"/>
              </a:defRPr>
            </a:pPr>
            <a:r>
              <a:rPr lang="en-SD" sz="1800" kern="100" dirty="0" b="1">
                <a:solidFill>
                  <a:srgbClr val="003C5A"/>
                </a:solidFill>
                <a:effectLst/>
                <a:latin typeface="Arial"/>
                <a:ea typeface="Yu Mincho" panose="02020400000000000000" pitchFamily="18" charset="-128"/>
                <a:cs typeface="Arial" panose="020B0604020202020204" pitchFamily="34" charset="0"/>
              </a:rPr>
              <a:t>Table 1: Progress in Beneficiary Reach Against Approved 2026 Integrated Work Plan (IWP) Targets (January-September 2026)</a:t>
            </a:r>
            <a:endParaRPr lang="en-SD" sz="2000" kern="100" dirty="0">
              <a:effectLst/>
              <a:latin typeface="Aptos" panose="020B0004020202020204" pitchFamily="34" charset="0"/>
              <a:ea typeface="Yu Mincho" panose="02020400000000000000" pitchFamily="18" charset="-128"/>
              <a:cs typeface="Arial" panose="020B0604020202020204" pitchFamily="34" charset="0"/>
            </a:endParaRPr>
          </a:p>
        </p:txBody>
      </p:sp>
      <p:sp>
        <p:nvSpPr>
          <p:cNvPr id="8" name="Rectangle 7"/>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23024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02431-CF13-8B21-ADD7-0E9EE722D186}"/>
              </a:ext>
            </a:extLst>
          </p:cNvPr>
          <p:cNvSpPr>
            <a:spLocks noGrp="1"/>
          </p:cNvSpPr>
          <p:nvPr>
            <p:ph type="title"/>
          </p:nvPr>
        </p:nvSpPr>
        <p:spPr>
          <a:xfrm>
            <a:off x="731519" y="312572"/>
            <a:ext cx="11379615" cy="676473"/>
          </a:xfrm>
        </p:spPr>
        <p:txBody>
          <a:bodyPr anchor="b">
            <a:normAutofit/>
          </a:bodyPr>
          <a:lstStyle/>
          <a:p>
            <a:pPr algn="l">
              <a:defRPr b="1">
                <a:solidFill>
                  <a:srgbClr val="003C5A"/>
                </a:solidFill>
                <a:latin typeface="Arial"/>
              </a:defRPr>
            </a:pPr>
            <a:r>
              <a:rPr lang="en-US" dirty="0" b="1">
                <a:solidFill>
                  <a:srgbClr val="003C5A"/>
                </a:solidFill>
                <a:latin typeface="Arial"/>
              </a:rPr>
              <a:t>Pillar 1 Results: Health and Essential Services</a:t>
            </a:r>
          </a:p>
        </p:txBody>
      </p:sp>
      <p:sp>
        <p:nvSpPr>
          <p:cNvPr id="4" name="Content Placeholder 3">
            <a:extLst>
              <a:ext uri="{FF2B5EF4-FFF2-40B4-BE49-F238E27FC236}">
                <a16:creationId xmlns:a16="http://schemas.microsoft.com/office/drawing/2014/main" id="{BC8FD5F0-634B-1D39-683D-750915BF2F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448926" cy="4608576"/>
          </a:xfrm>
        </p:spPr>
        <p:txBody>
          <a:bodyPr>
            <a:normAutofit fontScale="77500" lnSpcReduction="20000"/>
          </a:bodyPr>
          <a:lstStyle/>
          <a:p>
            <a:pPr>
              <a:defRPr>
                <a:solidFill>
                  <a:srgbClr val="2F3B4A"/>
                </a:solidFill>
                <a:latin typeface="Arial"/>
              </a:defRPr>
            </a:pPr>
            <a:r>
              <a:rPr lang="en-SD" b="1" dirty="0">
                <a:solidFill>
                  <a:srgbClr val="2F3B4A"/>
                </a:solidFill>
                <a:latin typeface="Arial"/>
              </a:rPr>
              <a:t>Key results achieved include:</a:t>
            </a:r>
            <a:r>
              <a:rPr lang="en-US" b="1" dirty="0">
                <a:solidFill>
                  <a:srgbClr val="2F3B4A"/>
                </a:solidFill>
                <a:latin typeface="Arial"/>
              </a:rPr>
              <a:t> </a:t>
            </a:r>
            <a:r>
              <a:rPr lang="en-SD" sz="1600" kern="100" dirty="0">
                <a:solidFill>
                  <a:srgbClr val="2F3B4A"/>
                </a:solidFill>
                <a:latin typeface="Arial"/>
              </a:rPr>
              <a:t>5,509,874</a:t>
            </a:r>
            <a:r>
              <a:rPr lang="en-US" sz="1600" kern="100" dirty="0">
                <a:solidFill>
                  <a:srgbClr val="2F3B4A"/>
                </a:solidFill>
                <a:latin typeface="Arial"/>
              </a:rPr>
              <a:t> 61% women</a:t>
            </a:r>
            <a:endParaRPr lang="en-SD" sz="1600" kern="100" dirty="0">
              <a:latin typeface="Aptos" panose="020B0004020202020204" pitchFamily="34" charset="0"/>
              <a:ea typeface="Aptos" panose="020B0004020202020204" pitchFamily="34" charset="0"/>
              <a:cs typeface="Arial" panose="020B0604020202020204" pitchFamily="34" charset="0"/>
            </a:endParaRPr>
          </a:p>
          <a:p>
            <a:pPr lvl="0">
              <a:defRPr>
                <a:solidFill>
                  <a:srgbClr val="2F3B4A"/>
                </a:solidFill>
                <a:latin typeface="Arial"/>
              </a:defRPr>
            </a:pPr>
            <a:r>
              <a:rPr lang="en-SD" b="1" dirty="0">
                <a:solidFill>
                  <a:srgbClr val="2F3B4A"/>
                </a:solidFill>
                <a:latin typeface="Arial"/>
              </a:rPr>
              <a:t>4,677,963 people</a:t>
            </a:r>
            <a:r>
              <a:rPr lang="en-SD" dirty="0">
                <a:solidFill>
                  <a:srgbClr val="2F3B4A"/>
                </a:solidFill>
                <a:latin typeface="Arial"/>
              </a:rPr>
              <a:t> gained access to improved healthcare services through investments in critical health infrastructure and systems, including oxygen supply systems and PSA oxygen plants, healthcare waste management incinerators, solarization of health facilities, and other essential health service delivery interventions.</a:t>
            </a:r>
            <a:endParaRPr lang="en-SD" sz="1600" dirty="0"/>
          </a:p>
          <a:p>
            <a:pPr lvl="0">
              <a:defRPr>
                <a:solidFill>
                  <a:srgbClr val="2F3B4A"/>
                </a:solidFill>
                <a:latin typeface="Arial"/>
              </a:defRPr>
            </a:pPr>
            <a:r>
              <a:rPr lang="en-SD" b="1" dirty="0">
                <a:solidFill>
                  <a:srgbClr val="2F3B4A"/>
                </a:solidFill>
                <a:latin typeface="Arial"/>
              </a:rPr>
              <a:t>598,586 people</a:t>
            </a:r>
            <a:r>
              <a:rPr lang="en-SD" dirty="0">
                <a:solidFill>
                  <a:srgbClr val="2F3B4A"/>
                </a:solidFill>
                <a:latin typeface="Arial"/>
              </a:rPr>
              <a:t> benefited from HIV, Tuberculosis (TB), and Primary Health Care (PHC) services, supporting continued access to life-saving and routine healthcare services.</a:t>
            </a:r>
            <a:endParaRPr lang="en-SD" sz="1600" dirty="0"/>
          </a:p>
          <a:p>
            <a:pPr lvl="0">
              <a:defRPr>
                <a:solidFill>
                  <a:srgbClr val="2F3B4A"/>
                </a:solidFill>
                <a:latin typeface="Arial"/>
              </a:defRPr>
            </a:pPr>
            <a:r>
              <a:rPr lang="en-SD" b="1" dirty="0">
                <a:solidFill>
                  <a:srgbClr val="2F3B4A"/>
                </a:solidFill>
                <a:latin typeface="Arial"/>
              </a:rPr>
              <a:t>45,000 people living with diabetes</a:t>
            </a:r>
            <a:r>
              <a:rPr lang="en-SD" dirty="0">
                <a:solidFill>
                  <a:srgbClr val="2F3B4A"/>
                </a:solidFill>
                <a:latin typeface="Arial"/>
              </a:rPr>
              <a:t> received life-saving insulin and related treatment support, helping to ensure continuity of care for individuals with chronic health conditions.</a:t>
            </a:r>
            <a:endParaRPr lang="en-SD" sz="1600" dirty="0"/>
          </a:p>
          <a:p>
            <a:pPr lvl="0">
              <a:defRPr>
                <a:solidFill>
                  <a:srgbClr val="2F3B4A"/>
                </a:solidFill>
                <a:latin typeface="Arial"/>
              </a:defRPr>
            </a:pPr>
            <a:r>
              <a:rPr lang="en-SD" b="1" dirty="0">
                <a:solidFill>
                  <a:srgbClr val="2F3B4A"/>
                </a:solidFill>
                <a:latin typeface="Arial"/>
              </a:rPr>
              <a:t>646 health personnel</a:t>
            </a:r>
            <a:r>
              <a:rPr lang="en-SD" dirty="0">
                <a:solidFill>
                  <a:srgbClr val="2F3B4A"/>
                </a:solidFill>
                <a:latin typeface="Arial"/>
              </a:rPr>
              <a:t> were trained during 2026 to strengthen the capacity of healthcare institutions and improve service quality. Training focused on: </a:t>
            </a:r>
            <a:endParaRPr lang="en-SD" sz="1600" dirty="0"/>
          </a:p>
          <a:p>
            <a:pPr lvl="1">
              <a:defRPr>
                <a:solidFill>
                  <a:srgbClr val="2F3B4A"/>
                </a:solidFill>
                <a:latin typeface="Arial"/>
              </a:defRPr>
            </a:pPr>
            <a:r>
              <a:rPr lang="en-SD" dirty="0">
                <a:solidFill>
                  <a:srgbClr val="2F3B4A"/>
                </a:solidFill>
                <a:latin typeface="Arial"/>
              </a:rPr>
              <a:t>Healthcare waste management.</a:t>
            </a:r>
          </a:p>
          <a:p>
            <a:pPr lvl="1">
              <a:defRPr>
                <a:solidFill>
                  <a:srgbClr val="2F3B4A"/>
                </a:solidFill>
                <a:latin typeface="Arial"/>
              </a:defRPr>
            </a:pPr>
            <a:r>
              <a:rPr lang="en-SD" dirty="0">
                <a:solidFill>
                  <a:srgbClr val="2F3B4A"/>
                </a:solidFill>
                <a:latin typeface="Arial"/>
              </a:rPr>
              <a:t>Incinerator operation and maintenance.</a:t>
            </a:r>
          </a:p>
          <a:p>
            <a:pPr lvl="1">
              <a:defRPr>
                <a:solidFill>
                  <a:srgbClr val="2F3B4A"/>
                </a:solidFill>
                <a:latin typeface="Arial"/>
              </a:defRPr>
            </a:pPr>
            <a:r>
              <a:rPr lang="en-SD" dirty="0">
                <a:solidFill>
                  <a:srgbClr val="2F3B4A"/>
                </a:solidFill>
                <a:latin typeface="Arial"/>
              </a:rPr>
              <a:t>Oxygen PSA plant operation and maintenance.</a:t>
            </a:r>
          </a:p>
          <a:p>
            <a:pPr lvl="1">
              <a:defRPr>
                <a:solidFill>
                  <a:srgbClr val="2F3B4A"/>
                </a:solidFill>
                <a:latin typeface="Arial"/>
              </a:defRPr>
            </a:pPr>
            <a:r>
              <a:rPr lang="en-SD" dirty="0">
                <a:solidFill>
                  <a:srgbClr val="2F3B4A"/>
                </a:solidFill>
                <a:latin typeface="Arial"/>
              </a:rPr>
              <a:t>Prevention, Diagnosis, care, and treatment of TB and HIV.</a:t>
            </a:r>
          </a:p>
          <a:p>
            <a:pPr lvl="1">
              <a:defRPr>
                <a:solidFill>
                  <a:srgbClr val="2F3B4A"/>
                </a:solidFill>
                <a:latin typeface="Arial"/>
              </a:defRPr>
            </a:pPr>
            <a:r>
              <a:rPr lang="en-SD" dirty="0">
                <a:solidFill>
                  <a:srgbClr val="2F3B4A"/>
                </a:solidFill>
                <a:latin typeface="Arial"/>
              </a:rPr>
              <a:t>Awareness raising, Human rights, and stigma reduction.</a:t>
            </a:r>
          </a:p>
          <a:p>
            <a:pPr>
              <a:defRPr>
                <a:solidFill>
                  <a:srgbClr val="2F3B4A"/>
                </a:solidFill>
                <a:latin typeface="Arial"/>
              </a:defRPr>
            </a:pPr>
            <a:r>
              <a:rPr lang="en-SD" dirty="0">
                <a:solidFill>
                  <a:srgbClr val="2F3B4A"/>
                </a:solidFill>
                <a:latin typeface="Arial"/>
              </a:rPr>
              <a:t>Collectively, these interventions strengthened access to essential healthcare services, enhanced the resilience of health systems, improved service quality, and built the capacity of health workers to respond effectively to the growing health needs of vulnerable populations across Sudan</a:t>
            </a:r>
            <a:endParaRPr lang="en-US" b="1" dirty="0"/>
          </a:p>
        </p:txBody>
      </p:sp>
      <p:pic>
        <p:nvPicPr>
          <p:cNvPr id="7" name="drawing">
            <a:extLst>
              <a:ext uri="{FF2B5EF4-FFF2-40B4-BE49-F238E27FC236}">
                <a16:creationId xmlns:a16="http://schemas.microsoft.com/office/drawing/2014/main" id="{4B17F119-13F2-5628-950E-5C7D637B3E2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54577" y="1856792"/>
            <a:ext cx="4756557" cy="3778898"/>
          </a:xfrm>
          <a:prstGeom prst="rect">
            <a:avLst/>
          </a:prstGeom>
        </p:spPr>
      </p:pic>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05138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D1379-FD07-B1B9-17CE-30D644FA3282}"/>
              </a:ext>
            </a:extLst>
          </p:cNvPr>
          <p:cNvSpPr>
            <a:spLocks noGrp="1"/>
          </p:cNvSpPr>
          <p:nvPr>
            <p:ph type="title"/>
          </p:nvPr>
        </p:nvSpPr>
        <p:spPr>
          <a:xfrm>
            <a:off x="731520" y="312572"/>
            <a:ext cx="11370284" cy="556108"/>
          </a:xfrm>
        </p:spPr>
        <p:txBody>
          <a:bodyPr anchor="b">
            <a:normAutofit/>
          </a:bodyPr>
          <a:lstStyle/>
          <a:p>
            <a:pPr algn="l">
              <a:defRPr b="1">
                <a:solidFill>
                  <a:srgbClr val="003C5A"/>
                </a:solidFill>
                <a:latin typeface="Arial"/>
              </a:defRPr>
            </a:pPr>
            <a:r>
              <a:rPr lang="en-US" dirty="0" b="1">
                <a:solidFill>
                  <a:srgbClr val="003C5A"/>
                </a:solidFill>
                <a:latin typeface="Arial"/>
              </a:rPr>
              <a:t>Pillar 2 Results: Resilience and Recovery</a:t>
            </a:r>
          </a:p>
        </p:txBody>
      </p:sp>
      <p:sp>
        <p:nvSpPr>
          <p:cNvPr id="4" name="Content Placeholder 3">
            <a:extLst>
              <a:ext uri="{FF2B5EF4-FFF2-40B4-BE49-F238E27FC236}">
                <a16:creationId xmlns:a16="http://schemas.microsoft.com/office/drawing/2014/main" id="{F8E4CFD2-C2A5-4D02-FBE1-A2BDA8F638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0588" y="951722"/>
            <a:ext cx="6438122" cy="5304699"/>
          </a:xfrm>
        </p:spPr>
        <p:txBody>
          <a:bodyPr>
            <a:noAutofit/>
          </a:bodyPr>
          <a:lstStyle/>
          <a:p>
            <a:pPr algn="l">
              <a:defRPr b="1">
                <a:solidFill>
                  <a:srgbClr val="003C5A"/>
                </a:solidFill>
                <a:latin typeface="Arial"/>
              </a:defRPr>
            </a:pPr>
            <a:r>
              <a:rPr lang="en-SD" sz="900" b="1" dirty="0">
                <a:solidFill>
                  <a:srgbClr val="003C5A"/>
                </a:solidFill>
                <a:latin typeface="Arial"/>
              </a:rPr>
              <a:t>1,561,005 individuals (36% women)</a:t>
            </a:r>
            <a:r>
              <a:rPr lang="en-SD" sz="900" dirty="0" b="1">
                <a:solidFill>
                  <a:srgbClr val="003C5A"/>
                </a:solidFill>
                <a:latin typeface="Arial"/>
              </a:rPr>
              <a:t> benefited from integrated livelihood interventions between January and September 2026, contributing to improved food security, sustainable income streams, and essential services powered through renewable energy. Out of which:</a:t>
            </a:r>
          </a:p>
          <a:p>
            <a:pPr lvl="0" algn="l">
              <a:defRPr b="1">
                <a:solidFill>
                  <a:srgbClr val="003C5A"/>
                </a:solidFill>
                <a:latin typeface="Arial"/>
              </a:defRPr>
            </a:pPr>
            <a:r>
              <a:rPr lang="en-SD" sz="900" dirty="0" b="1">
                <a:solidFill>
                  <a:srgbClr val="003C5A"/>
                </a:solidFill>
                <a:latin typeface="Arial"/>
              </a:rPr>
              <a:t>111,489 individuals received agricultural inputs, seeds, tools and extension services including agricultural associations that utilized heavy duty tractors to increase their production, benefiting 510,194 community members indirectly.</a:t>
            </a:r>
          </a:p>
          <a:p>
            <a:pPr lvl="0" algn="l">
              <a:defRPr b="1">
                <a:solidFill>
                  <a:srgbClr val="003C5A"/>
                </a:solidFill>
                <a:latin typeface="Arial"/>
              </a:defRPr>
            </a:pPr>
            <a:r>
              <a:rPr lang="en-SD" sz="900" dirty="0" b="1">
                <a:solidFill>
                  <a:srgbClr val="003C5A"/>
                </a:solidFill>
                <a:latin typeface="Arial"/>
              </a:rPr>
              <a:t>23,200 people gained access to clean, safe drinking water through established and rehabilitated solarized water yards, benefiting 39,200 community members indirectly. An additional 260,070 farmers gained access to improved water through solarized irrigation schemes and rehabilitated water canals reviving agricultural activity creating multiplier benefits for an extended 11,680 small-holder farmers.</a:t>
            </a:r>
          </a:p>
          <a:p>
            <a:pPr lvl="0" algn="l">
              <a:defRPr b="1">
                <a:solidFill>
                  <a:srgbClr val="003C5A"/>
                </a:solidFill>
                <a:latin typeface="Arial"/>
              </a:defRPr>
            </a:pPr>
            <a:r>
              <a:rPr lang="en-SD" sz="900" dirty="0" b="1">
                <a:solidFill>
                  <a:srgbClr val="003C5A"/>
                </a:solidFill>
                <a:latin typeface="Arial"/>
              </a:rPr>
              <a:t>18,440 people received capacity building spanning vocational training, cost recovery systems and community management through Community Management Committees (CMCs) and Water User Associations (</a:t>
            </a:r>
            <a:r>
              <a:rPr lang="en-SD" sz="900" dirty="0" err="1" b="1">
                <a:solidFill>
                  <a:srgbClr val="003C5A"/>
                </a:solidFill>
                <a:latin typeface="Arial"/>
              </a:rPr>
              <a:t>WUAs</a:t>
            </a:r>
            <a:r>
              <a:rPr lang="en-SD" sz="900" dirty="0" b="1">
                <a:solidFill>
                  <a:srgbClr val="003C5A"/>
                </a:solidFill>
                <a:latin typeface="Arial"/>
              </a:rPr>
              <a:t>) enabling self-sustained access to critical services reaching 177,450 extended households beyond project lifecycles.</a:t>
            </a:r>
          </a:p>
          <a:p>
            <a:pPr lvl="0" algn="l">
              <a:defRPr b="1">
                <a:solidFill>
                  <a:srgbClr val="003C5A"/>
                </a:solidFill>
                <a:latin typeface="Arial"/>
              </a:defRPr>
            </a:pPr>
            <a:r>
              <a:rPr lang="en-SD" sz="900" dirty="0" b="1">
                <a:solidFill>
                  <a:srgbClr val="003C5A"/>
                </a:solidFill>
                <a:latin typeface="Arial"/>
              </a:rPr>
              <a:t>21,995 people received immediate financial resources (cash for work) through temporary employment opportunities provided by cash-for-work schemes, enabling them to support an additional 64,370 community members indirectly through multiplier effects of cleaning campaigns, communal spending and cost-sharing for community infrastructure.</a:t>
            </a:r>
          </a:p>
          <a:p>
            <a:pPr lvl="0" algn="l">
              <a:defRPr b="1">
                <a:solidFill>
                  <a:srgbClr val="003C5A"/>
                </a:solidFill>
                <a:latin typeface="Arial"/>
              </a:defRPr>
            </a:pPr>
            <a:r>
              <a:rPr lang="en-SD" sz="900" dirty="0" b="1">
                <a:solidFill>
                  <a:srgbClr val="003C5A"/>
                </a:solidFill>
                <a:latin typeface="Arial"/>
              </a:rPr>
              <a:t>17,229 people received job opportunities through various micro-grants to establish small-scale businesses and create long-term sources of income through self-employment. 39% were women empowered through </a:t>
            </a:r>
            <a:r>
              <a:rPr lang="en-SD" sz="900" dirty="0" err="1" b="1">
                <a:solidFill>
                  <a:srgbClr val="003C5A"/>
                </a:solidFill>
                <a:latin typeface="Arial"/>
              </a:rPr>
              <a:t>VSLAs</a:t>
            </a:r>
            <a:r>
              <a:rPr lang="en-SD" sz="900" dirty="0" b="1">
                <a:solidFill>
                  <a:srgbClr val="003C5A"/>
                </a:solidFill>
                <a:latin typeface="Arial"/>
              </a:rPr>
              <a:t> and income-generating groups to launch small-businesses including women who received access to financial services. Altogether, these support an additional 123,788 community members through improved household income covering education, health services and dignified living conditions.</a:t>
            </a:r>
          </a:p>
          <a:p>
            <a:pPr lvl="0" algn="l">
              <a:defRPr b="1">
                <a:solidFill>
                  <a:srgbClr val="003C5A"/>
                </a:solidFill>
                <a:latin typeface="Arial"/>
              </a:defRPr>
            </a:pPr>
            <a:r>
              <a:rPr lang="en-SD" sz="900" dirty="0" b="1">
                <a:solidFill>
                  <a:srgbClr val="003C5A"/>
                </a:solidFill>
                <a:latin typeface="Arial"/>
              </a:rPr>
              <a:t>Other interventions geared towards improving community resilience have reached 74,700 people through social cohesion forums, shared infrastructure rehabilitation including health </a:t>
            </a:r>
            <a:r>
              <a:rPr lang="en-SD" sz="900" dirty="0" err="1" b="1">
                <a:solidFill>
                  <a:srgbClr val="003C5A"/>
                </a:solidFill>
                <a:latin typeface="Arial"/>
              </a:rPr>
              <a:t>centers</a:t>
            </a:r>
            <a:r>
              <a:rPr lang="en-SD" sz="900" dirty="0" b="1">
                <a:solidFill>
                  <a:srgbClr val="003C5A"/>
                </a:solidFill>
                <a:latin typeface="Arial"/>
              </a:rPr>
              <a:t>, distribution of solar kits and installation of solar streetlights, extending reach to 107,200 community members significantly reducing associated GBV risks</a:t>
            </a:r>
            <a:r>
              <a:rPr lang="en-SD" dirty="0" b="1">
                <a:solidFill>
                  <a:srgbClr val="003C5A"/>
                </a:solidFill>
                <a:latin typeface="Arial"/>
              </a:rPr>
              <a:t>.</a:t>
            </a:r>
          </a:p>
        </p:txBody>
      </p:sp>
      <p:pic>
        <p:nvPicPr>
          <p:cNvPr id="7" name="drawing">
            <a:extLst>
              <a:ext uri="{FF2B5EF4-FFF2-40B4-BE49-F238E27FC236}">
                <a16:creationId xmlns:a16="http://schemas.microsoft.com/office/drawing/2014/main" id="{6C809A4A-8A90-FA25-8C37-213D73881D8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512767" y="1129005"/>
            <a:ext cx="5682805" cy="5127416"/>
          </a:xfrm>
          <a:prstGeom prst="rect">
            <a:avLst/>
          </a:prstGeom>
        </p:spPr>
      </p:pic>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4413996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1F7B-05A7-0AE3-977D-AACA34F1F2D8}"/>
              </a:ext>
            </a:extLst>
          </p:cNvPr>
          <p:cNvSpPr>
            <a:spLocks noGrp="1"/>
          </p:cNvSpPr>
          <p:nvPr>
            <p:ph type="title"/>
          </p:nvPr>
        </p:nvSpPr>
        <p:spPr>
          <a:xfrm>
            <a:off x="731520" y="312572"/>
            <a:ext cx="11370284" cy="556108"/>
          </a:xfrm>
        </p:spPr>
        <p:txBody>
          <a:bodyPr anchor="b">
            <a:normAutofit/>
          </a:bodyPr>
          <a:lstStyle/>
          <a:p>
            <a:pPr algn="l">
              <a:defRPr b="1">
                <a:solidFill>
                  <a:srgbClr val="003C5A"/>
                </a:solidFill>
                <a:latin typeface="Arial"/>
              </a:defRPr>
            </a:pPr>
            <a:r>
              <a:rPr lang="en-US" dirty="0" b="1">
                <a:solidFill>
                  <a:srgbClr val="003C5A"/>
                </a:solidFill>
                <a:latin typeface="Arial"/>
              </a:rPr>
              <a:t>Pillar 3: Peacebuilding &amp; inclusive Governance</a:t>
            </a:r>
          </a:p>
        </p:txBody>
      </p:sp>
      <p:sp>
        <p:nvSpPr>
          <p:cNvPr id="4" name="Content Placeholder 3">
            <a:extLst>
              <a:ext uri="{FF2B5EF4-FFF2-40B4-BE49-F238E27FC236}">
                <a16:creationId xmlns:a16="http://schemas.microsoft.com/office/drawing/2014/main" id="{631271B3-DA2D-A098-A81D-182EAF646E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06148"/>
            <a:ext cx="6593011" cy="4683172"/>
          </a:xfrm>
        </p:spPr>
        <p:txBody>
          <a:bodyPr>
            <a:normAutofit lnSpcReduction="10000"/>
          </a:bodyPr>
          <a:lstStyle/>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Peacebuilding and Inclusive Governance</a:t>
            </a:r>
          </a:p>
          <a:p>
            <a:pPr>
              <a:defRPr>
                <a:solidFill>
                  <a:srgbClr val="2F3B4A"/>
                </a:solidFill>
                <a:latin typeface="Arial"/>
              </a:defRPr>
            </a:pPr>
            <a:r>
              <a:rPr lang="en-SD" b="1" dirty="0">
                <a:solidFill>
                  <a:srgbClr val="2F3B4A"/>
                </a:solidFill>
                <a:latin typeface="Arial"/>
              </a:rPr>
              <a:t>In total 15,943 people </a:t>
            </a:r>
            <a:r>
              <a:rPr lang="en-US" b="1" dirty="0">
                <a:solidFill>
                  <a:srgbClr val="2F3B4A"/>
                </a:solidFill>
                <a:latin typeface="Arial"/>
              </a:rPr>
              <a:t>(873 direct and 14,534 indirect/</a:t>
            </a:r>
            <a:r>
              <a:rPr lang="en-SD" b="1" dirty="0">
                <a:solidFill>
                  <a:srgbClr val="2F3B4A"/>
                </a:solidFill>
                <a:latin typeface="Arial"/>
              </a:rPr>
              <a:t>(44%women),</a:t>
            </a:r>
            <a:r>
              <a:rPr lang="en-SD" dirty="0">
                <a:solidFill>
                  <a:srgbClr val="2F3B4A"/>
                </a:solidFill>
                <a:latin typeface="Arial"/>
              </a:rPr>
              <a:t> were reached through interventions focused on </a:t>
            </a:r>
            <a:r>
              <a:rPr lang="en-SD" b="1" dirty="0">
                <a:solidFill>
                  <a:srgbClr val="2F3B4A"/>
                </a:solidFill>
                <a:latin typeface="Arial"/>
              </a:rPr>
              <a:t>community protection, mediation, peacebuilding, and social cohesion</a:t>
            </a:r>
            <a:r>
              <a:rPr lang="en-SD" dirty="0">
                <a:solidFill>
                  <a:srgbClr val="2F3B4A"/>
                </a:solidFill>
                <a:latin typeface="Arial"/>
              </a:rPr>
              <a:t> between January and September 2026.</a:t>
            </a:r>
          </a:p>
          <a:p>
            <a:pPr lvl="0">
              <a:defRPr>
                <a:solidFill>
                  <a:srgbClr val="2F3B4A"/>
                </a:solidFill>
                <a:latin typeface="Arial"/>
              </a:defRPr>
            </a:pPr>
            <a:r>
              <a:rPr lang="en-US" dirty="0">
                <a:solidFill>
                  <a:srgbClr val="2F3B4A"/>
                </a:solidFill>
                <a:latin typeface="Arial"/>
              </a:rPr>
              <a:t>UNDP supports a nationwide network of Academic Peace </a:t>
            </a:r>
            <a:r>
              <a:rPr lang="en-US" dirty="0" err="1">
                <a:solidFill>
                  <a:srgbClr val="2F3B4A"/>
                </a:solidFill>
                <a:latin typeface="Arial"/>
              </a:rPr>
              <a:t>Centres</a:t>
            </a:r>
            <a:r>
              <a:rPr lang="en-US" dirty="0">
                <a:solidFill>
                  <a:srgbClr val="2F3B4A"/>
                </a:solidFill>
                <a:latin typeface="Arial"/>
              </a:rPr>
              <a:t>, providing an impartial platform for conflict analysis, dialogue, locally led peacebuilding initiatives, and the preservation of professional relationships across conflict lines. As part of this effort, UNDP brought together </a:t>
            </a:r>
            <a:r>
              <a:rPr lang="en-US" b="1" dirty="0">
                <a:solidFill>
                  <a:srgbClr val="2F3B4A"/>
                </a:solidFill>
                <a:latin typeface="Arial"/>
              </a:rPr>
              <a:t>60</a:t>
            </a:r>
            <a:r>
              <a:rPr lang="en-US" dirty="0">
                <a:solidFill>
                  <a:srgbClr val="2F3B4A"/>
                </a:solidFill>
                <a:latin typeface="Arial"/>
              </a:rPr>
              <a:t> participants representing </a:t>
            </a:r>
            <a:r>
              <a:rPr lang="en-US" b="1" dirty="0">
                <a:solidFill>
                  <a:srgbClr val="2F3B4A"/>
                </a:solidFill>
                <a:latin typeface="Arial"/>
              </a:rPr>
              <a:t>22 Academic Peace </a:t>
            </a:r>
            <a:r>
              <a:rPr lang="en-US" b="1" dirty="0" err="1">
                <a:solidFill>
                  <a:srgbClr val="2F3B4A"/>
                </a:solidFill>
                <a:latin typeface="Arial"/>
              </a:rPr>
              <a:t>Centres</a:t>
            </a:r>
            <a:r>
              <a:rPr lang="en-US" dirty="0">
                <a:solidFill>
                  <a:srgbClr val="2F3B4A"/>
                </a:solidFill>
                <a:latin typeface="Arial"/>
              </a:rPr>
              <a:t> from all states across the country, strengthening collaboration, knowledge exchange, and coordinated peacebuilding efforts at the national level.</a:t>
            </a:r>
            <a:endParaRPr lang="en-SD" dirty="0"/>
          </a:p>
          <a:p>
            <a:pPr lvl="0">
              <a:defRPr>
                <a:solidFill>
                  <a:srgbClr val="2F3B4A"/>
                </a:solidFill>
                <a:latin typeface="Arial"/>
              </a:defRPr>
            </a:pPr>
            <a:r>
              <a:rPr lang="en-SD" dirty="0">
                <a:solidFill>
                  <a:srgbClr val="2F3B4A"/>
                </a:solidFill>
                <a:latin typeface="Arial"/>
              </a:rPr>
              <a:t>Support was provided through the reactivation and strengthening of community-based protection and peacebuilding mechanisms, enabling local actors to play a greater role in conflict prevention and resolution.</a:t>
            </a:r>
          </a:p>
          <a:p>
            <a:pPr lvl="0">
              <a:defRPr>
                <a:solidFill>
                  <a:srgbClr val="2F3B4A"/>
                </a:solidFill>
                <a:latin typeface="Arial"/>
              </a:defRPr>
            </a:pPr>
            <a:r>
              <a:rPr lang="en-US" dirty="0">
                <a:solidFill>
                  <a:srgbClr val="2F3B4A"/>
                </a:solidFill>
                <a:latin typeface="Arial"/>
              </a:rPr>
              <a:t>Community members, including women, youth, displaced populations, and other vulnerable groups, participated in initiatives that promoted inclusive dialogue, peaceful coexistence, and community engagement.</a:t>
            </a:r>
            <a:endParaRPr lang="en-SD" dirty="0"/>
          </a:p>
          <a:p>
            <a:pPr marL="0" lvl="0" indent="0">
              <a:spcBef>
                <a:spcPts val="2500"/>
              </a:spcBef>
              <a:buFont typeface="Arial" panose="020B0604020202020204" pitchFamily="34" charset="0"/>
              <a:buNone/>
              <a:defRPr>
                <a:solidFill>
                  <a:srgbClr val="2F3B4A"/>
                </a:solidFill>
                <a:latin typeface="Arial"/>
              </a:defRPr>
            </a:pPr>
            <a:endParaRPr lang="en-US" b="1" dirty="0"/>
          </a:p>
        </p:txBody>
      </p:sp>
      <p:pic>
        <p:nvPicPr>
          <p:cNvPr id="7" name="drawing">
            <a:extLst>
              <a:ext uri="{FF2B5EF4-FFF2-40B4-BE49-F238E27FC236}">
                <a16:creationId xmlns:a16="http://schemas.microsoft.com/office/drawing/2014/main" id="{1F987596-2858-D463-D0D4-9971B49FB27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05561" y="1306148"/>
            <a:ext cx="4796243" cy="4683172"/>
          </a:xfrm>
          <a:prstGeom prst="rect">
            <a:avLst/>
          </a:prstGeom>
        </p:spPr>
      </p:pic>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460791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F92A-702B-43DF-76D2-DD7197DA27CD}"/>
              </a:ext>
            </a:extLst>
          </p:cNvPr>
          <p:cNvSpPr>
            <a:spLocks noGrp="1"/>
          </p:cNvSpPr>
          <p:nvPr>
            <p:ph type="title"/>
          </p:nvPr>
        </p:nvSpPr>
        <p:spPr>
          <a:xfrm>
            <a:off x="731520" y="312572"/>
            <a:ext cx="11460480" cy="556108"/>
          </a:xfrm>
        </p:spPr>
        <p:txBody>
          <a:bodyPr/>
          <a:lstStyle/>
          <a:p>
            <a:pPr algn="l">
              <a:defRPr b="1">
                <a:solidFill>
                  <a:srgbClr val="003C5A"/>
                </a:solidFill>
                <a:latin typeface="Arial"/>
              </a:defRPr>
            </a:pPr>
            <a:r>
              <a:rPr lang="en-US" dirty="0" b="1">
                <a:solidFill>
                  <a:srgbClr val="003C5A"/>
                </a:solidFill>
                <a:latin typeface="Arial"/>
              </a:rPr>
              <a:t>Pillar 4 Results: Environment, Energy Climate Change</a:t>
            </a:r>
            <a:endParaRPr lang="en-SD" dirty="0"/>
          </a:p>
        </p:txBody>
      </p:sp>
      <p:sp>
        <p:nvSpPr>
          <p:cNvPr id="3" name="Content Placeholder 2">
            <a:extLst>
              <a:ext uri="{FF2B5EF4-FFF2-40B4-BE49-F238E27FC236}">
                <a16:creationId xmlns:a16="http://schemas.microsoft.com/office/drawing/2014/main" id="{370F4559-E3D9-3044-FA43-410E0D734C7B}"/>
              </a:ext>
            </a:extLst>
          </p:cNvPr>
          <p:cNvSpPr>
            <a:spLocks noGrp="1"/>
          </p:cNvSpPr>
          <p:nvPr>
            <p:ph sz="quarter" idx="14"/>
          </p:nvPr>
        </p:nvSpPr>
        <p:spPr>
          <a:xfrm>
            <a:off x="731520" y="1380744"/>
            <a:ext cx="6723639" cy="4608576"/>
          </a:xfrm>
        </p:spPr>
        <p:txBody>
          <a:bodyPr/>
          <a:lstStyle/>
          <a:p>
            <a:pPr>
              <a:defRPr>
                <a:solidFill>
                  <a:srgbClr val="2F3B4A"/>
                </a:solidFill>
                <a:latin typeface="Arial"/>
              </a:defRPr>
            </a:pPr>
            <a:r>
              <a:rPr lang="en-SD" b="1" dirty="0">
                <a:solidFill>
                  <a:srgbClr val="2F3B4A"/>
                </a:solidFill>
                <a:latin typeface="Arial"/>
              </a:rPr>
              <a:t>Water, Clean Energy and Climate Resilience</a:t>
            </a:r>
            <a:endParaRPr lang="en-SD" dirty="0"/>
          </a:p>
          <a:p>
            <a:pPr>
              <a:defRPr>
                <a:solidFill>
                  <a:srgbClr val="2F3B4A"/>
                </a:solidFill>
                <a:latin typeface="Arial"/>
              </a:defRPr>
            </a:pPr>
            <a:r>
              <a:rPr lang="en-SD" b="1" dirty="0">
                <a:solidFill>
                  <a:srgbClr val="2F3B4A"/>
                </a:solidFill>
                <a:latin typeface="Arial"/>
              </a:rPr>
              <a:t>A total of 116,001 people (49% women)</a:t>
            </a:r>
            <a:r>
              <a:rPr lang="en-SD" dirty="0">
                <a:solidFill>
                  <a:srgbClr val="2F3B4A"/>
                </a:solidFill>
                <a:latin typeface="Arial"/>
              </a:rPr>
              <a:t> benefited from interventions in water, clean energy, and climate resilience. This included </a:t>
            </a:r>
            <a:r>
              <a:rPr lang="en-SD" b="1" dirty="0">
                <a:solidFill>
                  <a:srgbClr val="2F3B4A"/>
                </a:solidFill>
                <a:latin typeface="Arial"/>
              </a:rPr>
              <a:t>47,380 people gaining access to electricity</a:t>
            </a:r>
            <a:r>
              <a:rPr lang="en-SD" dirty="0">
                <a:solidFill>
                  <a:srgbClr val="2F3B4A"/>
                </a:solidFill>
                <a:latin typeface="Arial"/>
              </a:rPr>
              <a:t> through the installation of new solar energy infrastructure, including solar streetlights and solar 3-in-1 kits. In addition, communities benefited from improved access to safe water through the establishment and rehabilitation of solar-powered water systems and water yards. Furthermore, </a:t>
            </a:r>
            <a:r>
              <a:rPr lang="en-SD" b="1" dirty="0">
                <a:solidFill>
                  <a:srgbClr val="2F3B4A"/>
                </a:solidFill>
                <a:latin typeface="Arial"/>
              </a:rPr>
              <a:t>12,980 farmers</a:t>
            </a:r>
            <a:r>
              <a:rPr lang="en-SD" dirty="0">
                <a:solidFill>
                  <a:srgbClr val="2F3B4A"/>
                </a:solidFill>
                <a:latin typeface="Arial"/>
              </a:rPr>
              <a:t> received solar-powered irrigation systems, contributing to enhanced agricultural productivity and supporting increased food production for an estimated </a:t>
            </a:r>
            <a:r>
              <a:rPr lang="en-SD" b="1" dirty="0">
                <a:solidFill>
                  <a:srgbClr val="2F3B4A"/>
                </a:solidFill>
                <a:latin typeface="Arial"/>
              </a:rPr>
              <a:t>20,980 people</a:t>
            </a:r>
            <a:r>
              <a:rPr lang="en-SD" dirty="0">
                <a:solidFill>
                  <a:srgbClr val="2F3B4A"/>
                </a:solidFill>
                <a:latin typeface="Arial"/>
              </a:rPr>
              <a:t>.</a:t>
            </a:r>
          </a:p>
          <a:p>
            <a:pPr>
              <a:defRPr>
                <a:solidFill>
                  <a:srgbClr val="2F3B4A"/>
                </a:solidFill>
                <a:latin typeface="Arial"/>
              </a:defRPr>
            </a:pPr>
            <a:endParaRPr lang="en-SD" dirty="0"/>
          </a:p>
        </p:txBody>
      </p:sp>
      <p:pic>
        <p:nvPicPr>
          <p:cNvPr id="5" name="drawing">
            <a:extLst>
              <a:ext uri="{FF2B5EF4-FFF2-40B4-BE49-F238E27FC236}">
                <a16:creationId xmlns:a16="http://schemas.microsoft.com/office/drawing/2014/main" id="{E4FB5CA8-98E6-8803-3DB1-42DC6F56F0F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89521" y="1380742"/>
            <a:ext cx="4602480" cy="4608577"/>
          </a:xfrm>
          <a:prstGeom prst="rect">
            <a:avLst/>
          </a:prstGeom>
        </p:spPr>
      </p:pic>
      <p:sp>
        <p:nvSpPr>
          <p:cNvPr id="6" name="Rectangle 5"/>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1217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67AE65A-8277-AD8F-6744-43D0720C8FD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State-Level Performance Variation</a:t>
            </a:r>
          </a:p>
          <a:p>
            <a:pPr marL="0" lvl="1" indent="0">
              <a:buFont typeface="Arial" panose="020B0604020202020204" pitchFamily="34" charset="0"/>
              <a:buNone/>
              <a:defRPr>
                <a:solidFill>
                  <a:srgbClr val="2F3B4A"/>
                </a:solidFill>
                <a:latin typeface="Arial"/>
              </a:defRPr>
            </a:pPr>
            <a:r>
              <a:rPr lang="en-US" dirty="0">
                <a:solidFill>
                  <a:srgbClr val="2F3B4A"/>
                </a:solidFill>
                <a:latin typeface="Arial"/>
              </a:rPr>
              <a:t>Sudan's states exhibit differing </a:t>
            </a:r>
            <a:r>
              <a:rPr lang="en-US" dirty="0" err="1">
                <a:solidFill>
                  <a:srgbClr val="2F3B4A"/>
                </a:solidFill>
                <a:latin typeface="Arial"/>
              </a:rPr>
              <a:t>programme</a:t>
            </a:r>
            <a:r>
              <a:rPr lang="en-US" dirty="0">
                <a:solidFill>
                  <a:srgbClr val="2F3B4A"/>
                </a:solidFill>
                <a:latin typeface="Arial"/>
              </a:rPr>
              <a:t> reach due to access, security, partner presence, and capacity factors.</a:t>
            </a:r>
          </a:p>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High-Performing States</a:t>
            </a:r>
          </a:p>
          <a:p>
            <a:pPr marL="0" lvl="1" indent="0">
              <a:buFont typeface="Arial" panose="020B0604020202020204" pitchFamily="34" charset="0"/>
              <a:buNone/>
              <a:defRPr>
                <a:solidFill>
                  <a:srgbClr val="2F3B4A"/>
                </a:solidFill>
                <a:latin typeface="Arial"/>
              </a:defRPr>
            </a:pPr>
            <a:r>
              <a:rPr lang="en-US" dirty="0">
                <a:solidFill>
                  <a:srgbClr val="2F3B4A"/>
                </a:solidFill>
                <a:latin typeface="Arial"/>
              </a:rPr>
              <a:t>Northern, Red Sea, Kassala, Aj Jazirah, </a:t>
            </a:r>
            <a:r>
              <a:rPr lang="en-US" dirty="0" err="1">
                <a:solidFill>
                  <a:srgbClr val="2F3B4A"/>
                </a:solidFill>
                <a:latin typeface="Arial"/>
              </a:rPr>
              <a:t>Gedaref</a:t>
            </a:r>
            <a:r>
              <a:rPr lang="en-US" dirty="0">
                <a:solidFill>
                  <a:srgbClr val="2F3B4A"/>
                </a:solidFill>
                <a:latin typeface="Arial"/>
              </a:rPr>
              <a:t>, and North Kordofan states met or exceeded beneficiary targets with stable environments.</a:t>
            </a:r>
          </a:p>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Low-Performing States</a:t>
            </a:r>
          </a:p>
          <a:p>
            <a:pPr marL="0" lvl="1" indent="0">
              <a:buFont typeface="Arial" panose="020B0604020202020204" pitchFamily="34" charset="0"/>
              <a:buNone/>
              <a:defRPr>
                <a:solidFill>
                  <a:srgbClr val="2F3B4A"/>
                </a:solidFill>
                <a:latin typeface="Arial"/>
              </a:defRPr>
            </a:pPr>
            <a:r>
              <a:rPr lang="en-US" dirty="0">
                <a:solidFill>
                  <a:srgbClr val="2F3B4A"/>
                </a:solidFill>
                <a:latin typeface="Arial"/>
              </a:rPr>
              <a:t>South Kordofan, Blue Nile, </a:t>
            </a:r>
            <a:r>
              <a:rPr lang="en-US" dirty="0" err="1">
                <a:solidFill>
                  <a:srgbClr val="2F3B4A"/>
                </a:solidFill>
                <a:latin typeface="Arial"/>
              </a:rPr>
              <a:t>Sennar</a:t>
            </a:r>
            <a:r>
              <a:rPr lang="en-US" dirty="0">
                <a:solidFill>
                  <a:srgbClr val="2F3B4A"/>
                </a:solidFill>
                <a:latin typeface="Arial"/>
              </a:rPr>
              <a:t>, and White Nile faced access and security challenges leading to lower reach.</a:t>
            </a:r>
          </a:p>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Multi-Pillar Presence and Gaps</a:t>
            </a:r>
          </a:p>
          <a:p>
            <a:pPr marL="0" lvl="1" indent="0">
              <a:buFont typeface="Arial" panose="020B0604020202020204" pitchFamily="34" charset="0"/>
              <a:buNone/>
              <a:defRPr>
                <a:solidFill>
                  <a:srgbClr val="2F3B4A"/>
                </a:solidFill>
                <a:latin typeface="Arial"/>
              </a:defRPr>
            </a:pPr>
            <a:r>
              <a:rPr lang="en-US" dirty="0">
                <a:solidFill>
                  <a:srgbClr val="2F3B4A"/>
                </a:solidFill>
                <a:latin typeface="Arial"/>
              </a:rPr>
              <a:t>Red Sea, Kassala, and </a:t>
            </a:r>
            <a:r>
              <a:rPr lang="en-US" dirty="0" err="1">
                <a:solidFill>
                  <a:srgbClr val="2F3B4A"/>
                </a:solidFill>
                <a:latin typeface="Arial"/>
              </a:rPr>
              <a:t>Gedaref</a:t>
            </a:r>
            <a:r>
              <a:rPr lang="en-US" dirty="0">
                <a:solidFill>
                  <a:srgbClr val="2F3B4A"/>
                </a:solidFill>
                <a:latin typeface="Arial"/>
              </a:rPr>
              <a:t> have strong multi-pillar coverage; West Kordofan shows limited program presence.</a:t>
            </a:r>
          </a:p>
        </p:txBody>
      </p:sp>
      <p:pic>
        <p:nvPicPr>
          <p:cNvPr id="5" name="Content Placeholder 4" descr="Map of Botswana on blue digital background.&#10;All source data is in the public domain: &#10;https://www.naturalearthdata.com/downloads/10m-cultural-vectors/">
            <a:extLst>
              <a:ext uri="{FF2B5EF4-FFF2-40B4-BE49-F238E27FC236}">
                <a16:creationId xmlns:a16="http://schemas.microsoft.com/office/drawing/2014/main" id="{A4297A8A-7189-428E-AEB2-95155848F5A2}"/>
              </a:ext>
            </a:extLst>
          </p:cNvPr>
          <p:cNvPicPr>
            <a:picLocks noGrp="1" noChangeAspect="1"/>
          </p:cNvPicPr>
          <p:nvPr>
            <p:ph type="pic" sz="quarter" idx="15"/>
          </p:nvPr>
        </p:nvPicPr>
        <p:blipFill>
          <a:blip r:embed="rId3"/>
          <a:srcRect l="35015" r="31630" b="-1"/>
          <a:stretch>
            <a:fillRect/>
          </a:stretch>
        </p:blipFill>
        <p:spPr>
          <a:xfrm>
            <a:off x="8491126" y="603504"/>
            <a:ext cx="3085177" cy="5202936"/>
          </a:xfrm>
        </p:spPr>
      </p:pic>
      <p:sp>
        <p:nvSpPr>
          <p:cNvPr id="6" name="Title 5">
            <a:extLst>
              <a:ext uri="{FF2B5EF4-FFF2-40B4-BE49-F238E27FC236}">
                <a16:creationId xmlns:a16="http://schemas.microsoft.com/office/drawing/2014/main" id="{A4755B98-BD79-2668-E6B3-7331A5036314}"/>
              </a:ext>
            </a:extLst>
          </p:cNvPr>
          <p:cNvSpPr>
            <a:spLocks noGrp="1"/>
          </p:cNvSpPr>
          <p:nvPr>
            <p:ph type="title"/>
          </p:nvPr>
        </p:nvSpPr>
        <p:spPr/>
        <p:txBody>
          <a:bodyPr/>
          <a:lstStyle/>
          <a:p>
            <a:pPr algn="l">
              <a:defRPr b="1">
                <a:solidFill>
                  <a:srgbClr val="003C5A"/>
                </a:solidFill>
                <a:latin typeface="Arial"/>
              </a:defRPr>
            </a:pPr>
            <a:r>
              <a:rPr lang="en-US" b="1">
                <a:solidFill>
                  <a:srgbClr val="003C5A"/>
                </a:solidFill>
                <a:latin typeface="Arial"/>
              </a:rPr>
              <a:t>Mohamed Omer </a:t>
            </a:r>
            <a:endParaRPr lang="en-SD"/>
          </a:p>
        </p:txBody>
      </p:sp>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21145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3A963-1CC0-1A17-D0C1-9E8BA19D92BF}"/>
              </a:ext>
            </a:extLst>
          </p:cNvPr>
          <p:cNvSpPr>
            <a:spLocks noGrp="1"/>
          </p:cNvSpPr>
          <p:nvPr>
            <p:ph type="title"/>
          </p:nvPr>
        </p:nvSpPr>
        <p:spPr/>
        <p:txBody>
          <a:bodyPr/>
          <a:lstStyle/>
          <a:p>
            <a:pPr algn="l">
              <a:defRPr b="1">
                <a:solidFill>
                  <a:srgbClr val="003C5A"/>
                </a:solidFill>
                <a:latin typeface="Arial"/>
              </a:defRPr>
            </a:pPr>
            <a:r>
              <a:rPr lang="en-US" dirty="0" b="1">
                <a:solidFill>
                  <a:srgbClr val="003C5A"/>
                </a:solidFill>
                <a:latin typeface="Arial"/>
              </a:rPr>
              <a:t>MAP 2: MO</a:t>
            </a:r>
            <a:endParaRPr lang="en-SD" dirty="0"/>
          </a:p>
        </p:txBody>
      </p:sp>
      <p:sp>
        <p:nvSpPr>
          <p:cNvPr id="3" name="Content Placeholder 2">
            <a:extLst>
              <a:ext uri="{FF2B5EF4-FFF2-40B4-BE49-F238E27FC236}">
                <a16:creationId xmlns:a16="http://schemas.microsoft.com/office/drawing/2014/main" id="{9A54E55E-B76E-FFC7-A1E5-5CE363F9925E}"/>
              </a:ext>
            </a:extLst>
          </p:cNvPr>
          <p:cNvSpPr>
            <a:spLocks noGrp="1"/>
          </p:cNvSpPr>
          <p:nvPr>
            <p:ph sz="quarter" idx="14"/>
          </p:nvPr>
        </p:nvSpPr>
        <p:spPr/>
        <p:txBody>
          <a:bodyPr>
            <a:normAutofit/>
          </a:bodyPr>
          <a:lstStyle/>
          <a:p>
            <a:br>
              <a:rPr lang="en-SD" dirty="0"/>
            </a:br>
            <a:pPr>
              <a:defRPr>
                <a:solidFill>
                  <a:srgbClr val="2F3B4A"/>
                </a:solidFill>
                <a:latin typeface="Arial"/>
              </a:defRPr>
            </a:pPr>
            <a:r>
              <a:rPr lang="en-SD" dirty="0">
                <a:solidFill>
                  <a:srgbClr val="2F3B4A"/>
                </a:solidFill>
                <a:latin typeface="Arial"/>
              </a:rPr>
              <a:t>importance of moving beyond fragmented responses toward a more integrated approach connecting stabilization, governance, resilience, economic transformation and partnerships within a coherent development offer.</a:t>
            </a:r>
            <a:br>
              <a:rPr lang="en-SD" dirty="0"/>
            </a:br>
            <a:br>
              <a:rPr lang="en-SD" dirty="0"/>
            </a:br>
            <a:r>
              <a:rPr lang="en-SD" dirty="0">
                <a:solidFill>
                  <a:srgbClr val="2F3B4A"/>
                </a:solidFill>
                <a:latin typeface="Arial"/>
              </a:rPr>
              <a:t>accelerating delivery, strengthening strategic partnerships and positioning the Country Office to support national priorities at greater scale.</a:t>
            </a:r>
            <a:br>
              <a:rPr lang="en-SD" dirty="0"/>
            </a:br>
            <a:br>
              <a:rPr lang="en-SD" dirty="0"/>
            </a:br>
            <a:r>
              <a:rPr lang="en-SD" dirty="0">
                <a:solidFill>
                  <a:srgbClr val="2F3B4A"/>
                </a:solidFill>
                <a:latin typeface="Arial"/>
              </a:rPr>
              <a:t>At a time of heightened complexity, development remains an essential investment in stability, opportunity and the resilience of communities. </a:t>
            </a:r>
            <a:endParaRPr lang="en-US" dirty="0"/>
          </a:p>
          <a:p>
            <a:pPr>
              <a:defRPr>
                <a:solidFill>
                  <a:srgbClr val="2F3B4A"/>
                </a:solidFill>
                <a:latin typeface="Arial"/>
              </a:defRPr>
            </a:pPr>
            <a:r>
              <a:rPr lang="en-US" dirty="0">
                <a:solidFill>
                  <a:srgbClr val="2F3B4A"/>
                </a:solidFill>
                <a:latin typeface="Arial"/>
              </a:rPr>
              <a:t>Human story </a:t>
            </a:r>
          </a:p>
          <a:p>
            <a:pPr>
              <a:defRPr>
                <a:solidFill>
                  <a:srgbClr val="2F3B4A"/>
                </a:solidFill>
                <a:latin typeface="Arial"/>
              </a:defRPr>
            </a:pPr>
            <a:r>
              <a:rPr lang="en-US" dirty="0">
                <a:solidFill>
                  <a:srgbClr val="2F3B4A"/>
                </a:solidFill>
                <a:latin typeface="Arial"/>
              </a:rPr>
              <a:t>Community feedback </a:t>
            </a:r>
            <a:r>
              <a:rPr lang="en-SD">
                <a:solidFill>
                  <a:srgbClr val="2F3B4A"/>
                </a:solidFill>
                <a:latin typeface="Arial"/>
              </a:rPr>
              <a:t>Value preposition value proposition</a:t>
            </a:r>
          </a:p>
          <a:p>
            <a:pPr>
              <a:defRPr>
                <a:solidFill>
                  <a:srgbClr val="2F3B4A"/>
                </a:solidFill>
                <a:latin typeface="Arial"/>
              </a:defRPr>
            </a:pPr>
            <a:endParaRPr lang="en-SD" dirty="0"/>
          </a:p>
        </p:txBody>
      </p:sp>
      <p:sp>
        <p:nvSpPr>
          <p:cNvPr id="4" name="Picture Placeholder 3">
            <a:extLst>
              <a:ext uri="{FF2B5EF4-FFF2-40B4-BE49-F238E27FC236}">
                <a16:creationId xmlns:a16="http://schemas.microsoft.com/office/drawing/2014/main" id="{DEC3AE24-D29E-1FC3-F62A-FE0607EB0D99}"/>
              </a:ext>
            </a:extLst>
          </p:cNvPr>
          <p:cNvSpPr>
            <a:spLocks noGrp="1"/>
          </p:cNvSpPr>
          <p:nvPr>
            <p:ph type="pic" sz="quarter" idx="15"/>
          </p:nvPr>
        </p:nvSpPr>
        <p:spPr/>
        <p:txBody>
          <a:bodyPr/>
          <a:lstStyle/>
          <a:p>
            <a:endParaRPr lang="en-SD"/>
          </a:p>
        </p:txBody>
      </p:sp>
      <p:sp>
        <p:nvSpPr>
          <p:cNvPr id="5" name="Rectangle 4"/>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19543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F470-9FD4-4E10-130F-4E572F821B84}"/>
              </a:ext>
            </a:extLst>
          </p:cNvPr>
          <p:cNvSpPr>
            <a:spLocks noGrp="1"/>
          </p:cNvSpPr>
          <p:nvPr>
            <p:ph type="title"/>
          </p:nvPr>
        </p:nvSpPr>
        <p:spPr/>
        <p:txBody>
          <a:bodyPr/>
          <a:lstStyle/>
          <a:p>
            <a:pPr algn="l">
              <a:defRPr b="1">
                <a:solidFill>
                  <a:srgbClr val="003C5A"/>
                </a:solidFill>
                <a:latin typeface="Arial"/>
              </a:defRPr>
            </a:pPr>
            <a:r>
              <a:rPr lang="en-US" dirty="0" b="1">
                <a:solidFill>
                  <a:srgbClr val="003C5A"/>
                </a:solidFill>
                <a:latin typeface="Arial"/>
              </a:rPr>
              <a:t>MAP 3: MO</a:t>
            </a:r>
            <a:endParaRPr lang="en-SD" dirty="0"/>
          </a:p>
        </p:txBody>
      </p:sp>
      <p:sp>
        <p:nvSpPr>
          <p:cNvPr id="3" name="Content Placeholder 2">
            <a:extLst>
              <a:ext uri="{FF2B5EF4-FFF2-40B4-BE49-F238E27FC236}">
                <a16:creationId xmlns:a16="http://schemas.microsoft.com/office/drawing/2014/main" id="{DA533B08-C91B-021E-E0FC-860B8D8BECD9}"/>
              </a:ext>
            </a:extLst>
          </p:cNvPr>
          <p:cNvSpPr>
            <a:spLocks noGrp="1"/>
          </p:cNvSpPr>
          <p:nvPr>
            <p:ph sz="quarter" idx="14"/>
          </p:nvPr>
        </p:nvSpPr>
        <p:spPr/>
        <p:txBody>
          <a:bodyPr/>
          <a:lstStyle/>
          <a:p>
            <a:endParaRPr lang="en-SD"/>
          </a:p>
        </p:txBody>
      </p:sp>
      <p:sp>
        <p:nvSpPr>
          <p:cNvPr id="4" name="Picture Placeholder 3">
            <a:extLst>
              <a:ext uri="{FF2B5EF4-FFF2-40B4-BE49-F238E27FC236}">
                <a16:creationId xmlns:a16="http://schemas.microsoft.com/office/drawing/2014/main" id="{15392F87-F538-9C39-7373-02C6B0BC1292}"/>
              </a:ext>
            </a:extLst>
          </p:cNvPr>
          <p:cNvSpPr>
            <a:spLocks noGrp="1"/>
          </p:cNvSpPr>
          <p:nvPr>
            <p:ph type="pic" sz="quarter" idx="15"/>
          </p:nvPr>
        </p:nvSpPr>
        <p:spPr/>
        <p:txBody>
          <a:bodyPr/>
          <a:lstStyle/>
          <a:p>
            <a:endParaRPr lang="en-SD"/>
          </a:p>
        </p:txBody>
      </p:sp>
      <p:sp>
        <p:nvSpPr>
          <p:cNvPr id="5" name="Rectangle 4"/>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073642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19FE-C13F-D06B-0D1D-020B3B3645B2}"/>
              </a:ext>
            </a:extLst>
          </p:cNvPr>
          <p:cNvSpPr>
            <a:spLocks noGrp="1"/>
          </p:cNvSpPr>
          <p:nvPr>
            <p:ph type="title"/>
          </p:nvPr>
        </p:nvSpPr>
        <p:spPr/>
        <p:txBody>
          <a:bodyPr/>
          <a:lstStyle/>
          <a:p>
            <a:pPr algn="l">
              <a:defRPr b="1">
                <a:solidFill>
                  <a:srgbClr val="003C5A"/>
                </a:solidFill>
                <a:latin typeface="Arial"/>
              </a:defRPr>
            </a:pPr>
            <a:r>
              <a:rPr lang="en-US" dirty="0" b="1">
                <a:solidFill>
                  <a:srgbClr val="003C5A"/>
                </a:solidFill>
                <a:latin typeface="Arial"/>
              </a:rPr>
              <a:t>MAP 4: MO</a:t>
            </a:r>
            <a:endParaRPr lang="en-SD" dirty="0"/>
          </a:p>
        </p:txBody>
      </p:sp>
      <p:sp>
        <p:nvSpPr>
          <p:cNvPr id="3" name="Content Placeholder 2">
            <a:extLst>
              <a:ext uri="{FF2B5EF4-FFF2-40B4-BE49-F238E27FC236}">
                <a16:creationId xmlns:a16="http://schemas.microsoft.com/office/drawing/2014/main" id="{4208732D-9AB3-4312-262E-9960AD032F6A}"/>
              </a:ext>
            </a:extLst>
          </p:cNvPr>
          <p:cNvSpPr>
            <a:spLocks noGrp="1"/>
          </p:cNvSpPr>
          <p:nvPr>
            <p:ph sz="quarter" idx="14"/>
          </p:nvPr>
        </p:nvSpPr>
        <p:spPr/>
        <p:txBody>
          <a:bodyPr/>
          <a:lstStyle/>
          <a:p>
            <a:endParaRPr lang="en-SD"/>
          </a:p>
        </p:txBody>
      </p:sp>
      <p:sp>
        <p:nvSpPr>
          <p:cNvPr id="4" name="Picture Placeholder 3">
            <a:extLst>
              <a:ext uri="{FF2B5EF4-FFF2-40B4-BE49-F238E27FC236}">
                <a16:creationId xmlns:a16="http://schemas.microsoft.com/office/drawing/2014/main" id="{6B61146C-1F5C-67CA-186F-1A4A2704D774}"/>
              </a:ext>
            </a:extLst>
          </p:cNvPr>
          <p:cNvSpPr>
            <a:spLocks noGrp="1"/>
          </p:cNvSpPr>
          <p:nvPr>
            <p:ph type="pic" sz="quarter" idx="15"/>
          </p:nvPr>
        </p:nvSpPr>
        <p:spPr/>
        <p:txBody>
          <a:bodyPr/>
          <a:lstStyle/>
          <a:p>
            <a:endParaRPr lang="en-SD"/>
          </a:p>
        </p:txBody>
      </p:sp>
      <p:sp>
        <p:nvSpPr>
          <p:cNvPr id="5" name="Rectangle 4"/>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908456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8545-369C-D180-21BC-4A27FB25B944}"/>
              </a:ext>
            </a:extLst>
          </p:cNvPr>
          <p:cNvSpPr>
            <a:spLocks noGrp="1"/>
          </p:cNvSpPr>
          <p:nvPr>
            <p:ph type="title"/>
          </p:nvPr>
        </p:nvSpPr>
        <p:spPr/>
        <p:txBody>
          <a:bodyPr/>
          <a:lstStyle/>
          <a:p>
            <a:pPr algn="l">
              <a:defRPr b="1">
                <a:solidFill>
                  <a:srgbClr val="003C5A"/>
                </a:solidFill>
                <a:latin typeface="Arial"/>
              </a:defRPr>
            </a:pPr>
            <a:r>
              <a:rPr lang="en-US" dirty="0" b="1">
                <a:solidFill>
                  <a:srgbClr val="003C5A"/>
                </a:solidFill>
                <a:latin typeface="Arial"/>
              </a:rPr>
              <a:t>MAP 5: MO</a:t>
            </a:r>
            <a:endParaRPr lang="en-SD" dirty="0"/>
          </a:p>
        </p:txBody>
      </p:sp>
      <p:sp>
        <p:nvSpPr>
          <p:cNvPr id="3" name="Content Placeholder 2">
            <a:extLst>
              <a:ext uri="{FF2B5EF4-FFF2-40B4-BE49-F238E27FC236}">
                <a16:creationId xmlns:a16="http://schemas.microsoft.com/office/drawing/2014/main" id="{9FE63A7B-BD9E-D748-BE52-4E620332213D}"/>
              </a:ext>
            </a:extLst>
          </p:cNvPr>
          <p:cNvSpPr>
            <a:spLocks noGrp="1"/>
          </p:cNvSpPr>
          <p:nvPr>
            <p:ph sz="quarter" idx="14"/>
          </p:nvPr>
        </p:nvSpPr>
        <p:spPr/>
        <p:txBody>
          <a:bodyPr/>
          <a:lstStyle/>
          <a:p>
            <a:endParaRPr lang="en-SD"/>
          </a:p>
        </p:txBody>
      </p:sp>
      <p:sp>
        <p:nvSpPr>
          <p:cNvPr id="4" name="Picture Placeholder 3">
            <a:extLst>
              <a:ext uri="{FF2B5EF4-FFF2-40B4-BE49-F238E27FC236}">
                <a16:creationId xmlns:a16="http://schemas.microsoft.com/office/drawing/2014/main" id="{4968E6E5-402D-A727-AE9F-F6820CF7052E}"/>
              </a:ext>
            </a:extLst>
          </p:cNvPr>
          <p:cNvSpPr>
            <a:spLocks noGrp="1"/>
          </p:cNvSpPr>
          <p:nvPr>
            <p:ph type="pic" sz="quarter" idx="15"/>
          </p:nvPr>
        </p:nvSpPr>
        <p:spPr/>
        <p:txBody>
          <a:bodyPr/>
          <a:lstStyle/>
          <a:p>
            <a:endParaRPr lang="en-SD" dirty="0"/>
          </a:p>
        </p:txBody>
      </p:sp>
      <p:sp>
        <p:nvSpPr>
          <p:cNvPr id="5" name="Rectangle 4"/>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90896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0FC2-AC83-CEA4-AA61-9728F197BA03}"/>
              </a:ext>
            </a:extLst>
          </p:cNvPr>
          <p:cNvSpPr>
            <a:spLocks noGrp="1"/>
          </p:cNvSpPr>
          <p:nvPr>
            <p:ph type="title"/>
          </p:nvPr>
        </p:nvSpPr>
        <p:spPr>
          <a:xfrm>
            <a:off x="731520" y="312572"/>
            <a:ext cx="6858000" cy="923544"/>
          </a:xfrm>
        </p:spPr>
        <p:txBody>
          <a:bodyPr anchor="b">
            <a:normAutofit/>
          </a:bodyPr>
          <a:lstStyle/>
          <a:p>
            <a:pPr algn="l">
              <a:defRPr b="1">
                <a:solidFill>
                  <a:srgbClr val="003C5A"/>
                </a:solidFill>
                <a:latin typeface="Arial"/>
              </a:defRPr>
            </a:pPr>
            <a:r>
              <a:rPr lang="en-US" dirty="0" b="1">
                <a:solidFill>
                  <a:srgbClr val="003C5A"/>
                </a:solidFill>
                <a:latin typeface="Arial"/>
              </a:rPr>
              <a:t>Key Challenges, Lessons Learned, and Way Forward -NH</a:t>
            </a:r>
          </a:p>
        </p:txBody>
      </p:sp>
      <p:sp>
        <p:nvSpPr>
          <p:cNvPr id="4" name="Content Placeholder 3">
            <a:extLst>
              <a:ext uri="{FF2B5EF4-FFF2-40B4-BE49-F238E27FC236}">
                <a16:creationId xmlns:a16="http://schemas.microsoft.com/office/drawing/2014/main" id="{1F2EA692-333F-5D1E-AB45-1E99E5C4F5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Lessons Learned</a:t>
            </a:r>
          </a:p>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Future Priorities</a:t>
            </a:r>
          </a:p>
          <a:p>
            <a:pPr marL="0" lvl="1" indent="0">
              <a:buFont typeface="Arial" panose="020B0604020202020204" pitchFamily="34" charset="0"/>
              <a:buNone/>
              <a:defRPr>
                <a:solidFill>
                  <a:srgbClr val="2F3B4A"/>
                </a:solidFill>
                <a:latin typeface="Arial"/>
              </a:defRPr>
            </a:pPr>
            <a:r>
              <a:rPr lang="en-US" dirty="0">
                <a:solidFill>
                  <a:srgbClr val="2F3B4A"/>
                </a:solidFill>
                <a:latin typeface="Arial"/>
              </a:rPr>
              <a:t>Digitalizing data, quarterly beneficiary mapping, and GIS analysis will enhance decision-making and program effectiveness.</a:t>
            </a:r>
          </a:p>
          <a:p>
            <a:pPr marL="0" lvl="0" indent="0">
              <a:spcBef>
                <a:spcPts val="2500"/>
              </a:spcBef>
              <a:buFont typeface="Arial" panose="020B0604020202020204" pitchFamily="34" charset="0"/>
              <a:buNone/>
              <a:defRPr>
                <a:solidFill>
                  <a:srgbClr val="2F3B4A"/>
                </a:solidFill>
                <a:latin typeface="Arial"/>
              </a:defRPr>
            </a:pPr>
            <a:r>
              <a:rPr lang="en-US" b="1" dirty="0">
                <a:solidFill>
                  <a:srgbClr val="2F3B4A"/>
                </a:solidFill>
                <a:latin typeface="Arial"/>
              </a:rPr>
              <a:t>Key Recommendation: Sustaining Progress/SIMS</a:t>
            </a:r>
          </a:p>
        </p:txBody>
      </p:sp>
      <p:pic>
        <p:nvPicPr>
          <p:cNvPr id="5" name="Content Placeholder 4" descr="[3d &amp; graphical design&amp; art elements of work created by the contributor]">
            <a:extLst>
              <a:ext uri="{FF2B5EF4-FFF2-40B4-BE49-F238E27FC236}">
                <a16:creationId xmlns:a16="http://schemas.microsoft.com/office/drawing/2014/main" id="{FEBD5B78-D2D3-4184-AA60-AEE276DA02A2}"/>
              </a:ext>
            </a:extLst>
          </p:cNvPr>
          <p:cNvPicPr>
            <a:picLocks noGrp="1" noChangeAspect="1"/>
          </p:cNvPicPr>
          <p:nvPr>
            <p:ph type="pic" sz="quarter" idx="15"/>
          </p:nvPr>
        </p:nvPicPr>
        <p:blipFill>
          <a:blip r:embed="rId3"/>
          <a:srcRect l="28426" r="31994" b="2"/>
          <a:stretch>
            <a:fillRect/>
          </a:stretch>
        </p:blipFill>
        <p:spPr>
          <a:xfrm>
            <a:off x="8491126" y="603504"/>
            <a:ext cx="3085177" cy="5202936"/>
          </a:xfrm>
        </p:spPr>
      </p:pic>
      <p:sp>
        <p:nvSpPr>
          <p:cNvPr id="10" name="Rectangle 9"/>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12726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35F1-E339-EC64-CE51-1C7969657D3F}"/>
              </a:ext>
            </a:extLst>
          </p:cNvPr>
          <p:cNvSpPr>
            <a:spLocks noGrp="1"/>
          </p:cNvSpPr>
          <p:nvPr>
            <p:ph type="title"/>
          </p:nvPr>
        </p:nvSpPr>
        <p:spPr/>
        <p:txBody>
          <a:bodyPr/>
          <a:lstStyle/>
          <a:p>
            <a:endParaRPr lang="en-SD"/>
          </a:p>
        </p:txBody>
      </p:sp>
      <p:sp>
        <p:nvSpPr>
          <p:cNvPr id="3" name="Content Placeholder 2">
            <a:extLst>
              <a:ext uri="{FF2B5EF4-FFF2-40B4-BE49-F238E27FC236}">
                <a16:creationId xmlns:a16="http://schemas.microsoft.com/office/drawing/2014/main" id="{3EBDE1FF-C80F-4CD6-10CA-2B454AC3DE66}"/>
              </a:ext>
            </a:extLst>
          </p:cNvPr>
          <p:cNvSpPr>
            <a:spLocks noGrp="1"/>
          </p:cNvSpPr>
          <p:nvPr>
            <p:ph sz="quarter" idx="14"/>
          </p:nvPr>
        </p:nvSpPr>
        <p:spPr/>
        <p:txBody>
          <a:bodyPr/>
          <a:lstStyle/>
          <a:p>
            <a:pPr>
              <a:defRPr>
                <a:solidFill>
                  <a:srgbClr val="2F3B4A"/>
                </a:solidFill>
                <a:latin typeface="Arial"/>
              </a:defRPr>
            </a:pPr>
            <a:r>
              <a:rPr lang="en-US" dirty="0">
                <a:solidFill>
                  <a:srgbClr val="2F3B4A"/>
                </a:solidFill>
                <a:latin typeface="Arial"/>
              </a:rPr>
              <a:t>Thank you</a:t>
            </a:r>
            <a:endParaRPr lang="en-SD" dirty="0"/>
          </a:p>
        </p:txBody>
      </p:sp>
      <p:sp>
        <p:nvSpPr>
          <p:cNvPr id="4" name="Picture Placeholder 3">
            <a:extLst>
              <a:ext uri="{FF2B5EF4-FFF2-40B4-BE49-F238E27FC236}">
                <a16:creationId xmlns:a16="http://schemas.microsoft.com/office/drawing/2014/main" id="{AEC150A1-B1A1-1120-06F0-A9CD3486D230}"/>
              </a:ext>
            </a:extLst>
          </p:cNvPr>
          <p:cNvSpPr>
            <a:spLocks noGrp="1"/>
          </p:cNvSpPr>
          <p:nvPr>
            <p:ph type="pic" sz="quarter" idx="15"/>
          </p:nvPr>
        </p:nvSpPr>
        <p:spPr/>
        <p:txBody>
          <a:bodyPr/>
          <a:lstStyle/>
          <a:p>
            <a:endParaRPr lang="en-SD"/>
          </a:p>
        </p:txBody>
      </p:sp>
      <p:sp>
        <p:nvSpPr>
          <p:cNvPr id="5" name="Rectangle 4"/>
          <p:cNvSpPr/>
          <p:nvPr/>
        </p:nvSpPr>
        <p:spPr>
          <a:xfrm>
            <a:off x="0" y="0"/>
            <a:ext cx="12192000" cy="73152"/>
          </a:xfrm>
          <a:prstGeom prst="rect">
            <a:avLst/>
          </a:prstGeom>
          <a:solidFill>
            <a:srgbClr val="006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557911616"/>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006EB5"/>
      </a:accent1>
      <a:accent2>
        <a:srgbClr val="003C5A"/>
      </a:accent2>
      <a:accent3>
        <a:srgbClr val="5DD4F0"/>
      </a:accent3>
      <a:accent4>
        <a:srgbClr val="F4A261"/>
      </a:accent4>
      <a:accent5>
        <a:srgbClr val="D1495B"/>
      </a:accent5>
      <a:accent6>
        <a:srgbClr val="F5B5A5"/>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6EB5"/>
      </a:accent1>
      <a:accent2>
        <a:srgbClr val="F4A261"/>
      </a:accent2>
      <a:accent3>
        <a:srgbClr val="687580"/>
      </a:accent3>
      <a:accent4>
        <a:srgbClr val="F2C14E"/>
      </a:accent4>
      <a:accent5>
        <a:srgbClr val="5DD4F0"/>
      </a:accent5>
      <a:accent6>
        <a:srgbClr val="6AA67F"/>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92d9f05-d449-4457-acdb-7d30940c7cbe}" enabled="1" method="Standard" siteId="{720b637a-655a-40cf-816a-f22f40755c2c}" contentBits="0" removed="0"/>
</clbl:labelList>
</file>

<file path=docProps/app.xml><?xml version="1.0" encoding="utf-8"?>
<Properties xmlns="http://schemas.openxmlformats.org/officeDocument/2006/extended-properties" xmlns:vt="http://schemas.openxmlformats.org/officeDocument/2006/docPropsVTypes">
  <TotalTime>233</TotalTime>
  <Words>2601</Words>
  <Application>Microsoft Office PowerPoint</Application>
  <PresentationFormat>Widescreen</PresentationFormat>
  <Paragraphs>107</Paragraphs>
  <Slides>14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Avenir Next LT Pro</vt:lpstr>
      <vt:lpstr>Avenir Next LT Pro Light</vt:lpstr>
      <vt:lpstr>Calibri</vt:lpstr>
      <vt:lpstr>Neue Haas Grotesk Text Pro</vt:lpstr>
      <vt:lpstr>GradientRise</vt:lpstr>
      <vt:lpstr>PowerPoint Presentation</vt:lpstr>
      <vt:lpstr>Context, Purpose, and Scope of the Progress Report</vt:lpstr>
      <vt:lpstr>PowerPoint Presentation</vt:lpstr>
      <vt:lpstr>Pillar 1 Results: Health and Essential Services</vt:lpstr>
      <vt:lpstr>Pillar 2 Results: Resilience and Recovery</vt:lpstr>
      <vt:lpstr>Pillar 3: Peacebuilding &amp; inclusive Governance</vt:lpstr>
      <vt:lpstr>Pillar 4 Results: Environment, Energy Climate Change</vt:lpstr>
      <vt:lpstr>Mohamed Omer </vt:lpstr>
      <vt:lpstr>MAP 2: MO</vt:lpstr>
      <vt:lpstr>MAP 3: MO</vt:lpstr>
      <vt:lpstr>MAP 4: MO</vt:lpstr>
      <vt:lpstr>MAP 5: MO</vt:lpstr>
      <vt:lpstr>Key Challenges, Lessons Learned, and Way Forward -NH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nadia.hamid@undp.org</dc:creator>
  <cp:lastModifiedBy>Mohamed Ali</cp:lastModifiedBy>
  <cp:revision>5</cp:revision>
  <dcterms:modified xsi:type="dcterms:W3CDTF">2026-09-26T15:28:53Z</dcterms:modified>
</cp:coreProperties>
</file>