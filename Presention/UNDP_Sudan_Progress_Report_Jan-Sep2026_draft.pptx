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1" r:id="rId2"/>
    <p:sldId id="2563" r:id="rId3"/>
    <p:sldId id="2577" r:id="rId4"/>
    <p:sldId id="2566" r:id="rId5"/>
    <p:sldId id="2567" r:id="rId6"/>
    <p:sldId id="2568" r:id="rId7"/>
    <p:sldId id="2570" r:id="rId8"/>
    <p:sldId id="2565" r:id="rId9"/>
    <p:sldId id="2571" r:id="rId10"/>
    <p:sldId id="2578" r:id="rId11"/>
    <p:sldId id="2579" r:id="rId12"/>
    <p:sldId id="2580" r:id="rId13"/>
    <p:sldId id="25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dan CO Progress Report on Beneficiaries Reached (Jan–May 2026)" id="{96E86CD3-9AF4-4D31-931F-23ECBE446D83}">
          <p14:sldIdLst>
            <p14:sldId id="2561"/>
            <p14:sldId id="2563"/>
            <p14:sldId id="2577"/>
            <p14:sldId id="2566"/>
            <p14:sldId id="2567"/>
            <p14:sldId id="2568"/>
          </p14:sldIdLst>
        </p14:section>
        <p14:section name="Programme Progress and Beneficiary Reach Overview" id="{9BC5E9E0-7444-4179-8617-73C35B25DE44}">
          <p14:sldIdLst>
            <p14:sldId id="2570"/>
            <p14:sldId id="2565"/>
            <p14:sldId id="2571"/>
            <p14:sldId id="2578"/>
            <p14:sldId id="2579"/>
            <p14:sldId id="2580"/>
            <p14:sldId id="25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E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CDC3E8-F6FE-4EF9-BAD0-943278427021}" v="6" dt="2026-09-24T12:13:14.5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5254" autoAdjust="0"/>
  </p:normalViewPr>
  <p:slideViewPr>
    <p:cSldViewPr snapToGrid="0">
      <p:cViewPr>
        <p:scale>
          <a:sx n="125" d="100"/>
          <a:sy n="125" d="100"/>
        </p:scale>
        <p:origin x="1614" y="69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dia Hamid" userId="1a8b3e6d-c43a-471e-848e-6d991e9503ff" providerId="ADAL" clId="{E2351F14-96F9-4EC1-92E8-1100AE292190}"/>
    <pc:docChg chg="undo custSel addSld delSld modSld modSection">
      <pc:chgData name="Nadia Hamid" userId="1a8b3e6d-c43a-471e-848e-6d991e9503ff" providerId="ADAL" clId="{E2351F14-96F9-4EC1-92E8-1100AE292190}" dt="2026-09-24T12:35:43.230" v="31" actId="20577"/>
      <pc:docMkLst>
        <pc:docMk/>
      </pc:docMkLst>
      <pc:sldChg chg="modSp add del mod addAnim delAnim">
        <pc:chgData name="Nadia Hamid" userId="1a8b3e6d-c43a-471e-848e-6d991e9503ff" providerId="ADAL" clId="{E2351F14-96F9-4EC1-92E8-1100AE292190}" dt="2026-09-24T12:13:14.523" v="15" actId="20577"/>
        <pc:sldMkLst>
          <pc:docMk/>
          <pc:sldMk cId="2188665991" sldId="2563"/>
        </pc:sldMkLst>
        <pc:spChg chg="mod">
          <ac:chgData name="Nadia Hamid" userId="1a8b3e6d-c43a-471e-848e-6d991e9503ff" providerId="ADAL" clId="{E2351F14-96F9-4EC1-92E8-1100AE292190}" dt="2026-09-24T12:13:14.523" v="15" actId="20577"/>
          <ac:spMkLst>
            <pc:docMk/>
            <pc:sldMk cId="2188665991" sldId="2563"/>
            <ac:spMk id="4" creationId="{20648E94-D67C-7B40-F0EA-2EAA0C4747DE}"/>
          </ac:spMkLst>
        </pc:spChg>
      </pc:sldChg>
      <pc:sldChg chg="addSp delSp modSp mod">
        <pc:chgData name="Nadia Hamid" userId="1a8b3e6d-c43a-471e-848e-6d991e9503ff" providerId="ADAL" clId="{E2351F14-96F9-4EC1-92E8-1100AE292190}" dt="2026-09-24T12:35:43.230" v="31" actId="20577"/>
        <pc:sldMkLst>
          <pc:docMk/>
          <pc:sldMk cId="921145203" sldId="2565"/>
        </pc:sldMkLst>
        <pc:spChg chg="del mod">
          <ac:chgData name="Nadia Hamid" userId="1a8b3e6d-c43a-471e-848e-6d991e9503ff" providerId="ADAL" clId="{E2351F14-96F9-4EC1-92E8-1100AE292190}" dt="2026-09-24T12:35:36.945" v="18" actId="478"/>
          <ac:spMkLst>
            <pc:docMk/>
            <pc:sldMk cId="921145203" sldId="2565"/>
            <ac:spMk id="2" creationId="{DB61AF09-DFEE-AF66-3C27-CB98FA341013}"/>
          </ac:spMkLst>
        </pc:spChg>
        <pc:spChg chg="add mod">
          <ac:chgData name="Nadia Hamid" userId="1a8b3e6d-c43a-471e-848e-6d991e9503ff" providerId="ADAL" clId="{E2351F14-96F9-4EC1-92E8-1100AE292190}" dt="2026-09-24T12:35:43.230" v="31" actId="20577"/>
          <ac:spMkLst>
            <pc:docMk/>
            <pc:sldMk cId="921145203" sldId="2565"/>
            <ac:spMk id="6" creationId="{A4755B98-BD79-2668-E6B3-7331A5036314}"/>
          </ac:spMkLst>
        </pc:spChg>
      </pc:sldChg>
      <pc:sldChg chg="add del">
        <pc:chgData name="Nadia Hamid" userId="1a8b3e6d-c43a-471e-848e-6d991e9503ff" providerId="ADAL" clId="{E2351F14-96F9-4EC1-92E8-1100AE292190}" dt="2026-09-24T12:10:05.217" v="5"/>
        <pc:sldMkLst>
          <pc:docMk/>
          <pc:sldMk cId="1505138883" sldId="2566"/>
        </pc:sldMkLst>
      </pc:sldChg>
      <pc:sldChg chg="modSp add del mod">
        <pc:chgData name="Nadia Hamid" userId="1a8b3e6d-c43a-471e-848e-6d991e9503ff" providerId="ADAL" clId="{E2351F14-96F9-4EC1-92E8-1100AE292190}" dt="2026-09-24T12:33:59.431" v="16" actId="14100"/>
        <pc:sldMkLst>
          <pc:docMk/>
          <pc:sldMk cId="3441399619" sldId="2567"/>
        </pc:sldMkLst>
        <pc:picChg chg="mod">
          <ac:chgData name="Nadia Hamid" userId="1a8b3e6d-c43a-471e-848e-6d991e9503ff" providerId="ADAL" clId="{E2351F14-96F9-4EC1-92E8-1100AE292190}" dt="2026-09-24T12:33:59.431" v="16" actId="14100"/>
          <ac:picMkLst>
            <pc:docMk/>
            <pc:sldMk cId="3441399619" sldId="2567"/>
            <ac:picMk id="7" creationId="{6C809A4A-8A90-FA25-8C37-213D73881D8F}"/>
          </ac:picMkLst>
        </pc:picChg>
      </pc:sldChg>
      <pc:sldChg chg="modSp add del mod">
        <pc:chgData name="Nadia Hamid" userId="1a8b3e6d-c43a-471e-848e-6d991e9503ff" providerId="ADAL" clId="{E2351F14-96F9-4EC1-92E8-1100AE292190}" dt="2026-09-24T12:10:41.552" v="8" actId="27636"/>
        <pc:sldMkLst>
          <pc:docMk/>
          <pc:sldMk cId="1460791687" sldId="2568"/>
        </pc:sldMkLst>
        <pc:spChg chg="mod">
          <ac:chgData name="Nadia Hamid" userId="1a8b3e6d-c43a-471e-848e-6d991e9503ff" providerId="ADAL" clId="{E2351F14-96F9-4EC1-92E8-1100AE292190}" dt="2026-09-24T12:10:41.552" v="8" actId="27636"/>
          <ac:spMkLst>
            <pc:docMk/>
            <pc:sldMk cId="1460791687" sldId="2568"/>
            <ac:spMk id="4" creationId="{631271B3-DA2D-A098-A81D-182EAF646E78}"/>
          </ac:spMkLst>
        </pc:spChg>
      </pc:sldChg>
      <pc:sldChg chg="modSp mod">
        <pc:chgData name="Nadia Hamid" userId="1a8b3e6d-c43a-471e-848e-6d991e9503ff" providerId="ADAL" clId="{E2351F14-96F9-4EC1-92E8-1100AE292190}" dt="2026-09-24T12:11:22.141" v="11" actId="6549"/>
        <pc:sldMkLst>
          <pc:docMk/>
          <pc:sldMk cId="1612172798" sldId="2570"/>
        </pc:sldMkLst>
        <pc:spChg chg="mod">
          <ac:chgData name="Nadia Hamid" userId="1a8b3e6d-c43a-471e-848e-6d991e9503ff" providerId="ADAL" clId="{E2351F14-96F9-4EC1-92E8-1100AE292190}" dt="2026-09-24T12:11:22.141" v="11" actId="6549"/>
          <ac:spMkLst>
            <pc:docMk/>
            <pc:sldMk cId="1612172798" sldId="2570"/>
            <ac:spMk id="3" creationId="{370F4559-E3D9-3044-FA43-410E0D734C7B}"/>
          </ac:spMkLst>
        </pc:spChg>
      </pc:sldChg>
      <pc:sldChg chg="del">
        <pc:chgData name="Nadia Hamid" userId="1a8b3e6d-c43a-471e-848e-6d991e9503ff" providerId="ADAL" clId="{E2351F14-96F9-4EC1-92E8-1100AE292190}" dt="2026-09-24T12:09:57.787" v="1" actId="47"/>
        <pc:sldMkLst>
          <pc:docMk/>
          <pc:sldMk cId="749508677" sldId="2575"/>
        </pc:sldMkLst>
      </pc:sldChg>
      <pc:sldChg chg="add">
        <pc:chgData name="Nadia Hamid" userId="1a8b3e6d-c43a-471e-848e-6d991e9503ff" providerId="ADAL" clId="{E2351F14-96F9-4EC1-92E8-1100AE292190}" dt="2026-09-24T12:10:05.217" v="5"/>
        <pc:sldMkLst>
          <pc:docMk/>
          <pc:sldMk cId="823024960" sldId="25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666460-6FA1-4587-BF8E-998790C3EBC0}" type="datetimeFigureOut">
              <a:t>2026-09-26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BE7235-D3CA-41F4-A425-D97BC358B2FE}" type="slidenum">
              <a:t>‹#›</a:t>
            </a:fld>
            <a:endParaRPr lang="en-US"/>
          </a:p>
        </p:txBody>
      </p:sp>
    </p:spTree>
    <p:extLst>
      <p:ext uri="{BB962C8B-B14F-4D97-AF65-F5344CB8AC3E}">
        <p14:creationId xmlns:p14="http://schemas.microsoft.com/office/powerpoint/2010/main" val="244423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AI-generated content may be incorrect.
---
</a:t>
            </a:r>
          </a:p>
        </p:txBody>
      </p:sp>
      <p:sp>
        <p:nvSpPr>
          <p:cNvPr id="4" name="Slide Number Placeholder 3"/>
          <p:cNvSpPr>
            <a:spLocks noGrp="1"/>
          </p:cNvSpPr>
          <p:nvPr>
            <p:ph type="sldNum" sz="quarter" idx="5"/>
          </p:nvPr>
        </p:nvSpPr>
        <p:spPr/>
        <p:txBody>
          <a:bodyPr/>
          <a:lstStyle/>
          <a:p>
            <a:fld id="{2835AD20-0263-4534-ABE9-74F600441E8B}" type="slidenum">
              <a:t>1</a:t>
            </a:fld>
            <a:endParaRPr lang="en-US"/>
          </a:p>
        </p:txBody>
      </p:sp>
    </p:spTree>
    <p:extLst>
      <p:ext uri="{BB962C8B-B14F-4D97-AF65-F5344CB8AC3E}">
        <p14:creationId xmlns:p14="http://schemas.microsoft.com/office/powerpoint/2010/main" val="36288324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summarizes key findings from the Sudan Country Office Progress Report on beneficiaries reached between January and May 2026. The reporting period took place against an exceptionally challenging backdrop marked by protracted conflict, large-scale displacement, and severe socioeconomic stress. Sudan continues to host more than 8.8 million internally displaced persons, placing extraordinary pressure on essential services, livelihoods, and local coping mechanisms. At the same time, food insecurity remains acute, with famine risk identified in multiple areas of Darfur and Kordofan under worst-case scenarios. Despite these constraints, there are early signs of economic recovery in relatively stable areas, with estimated growth of around 3 percent in 2025, although this recovery remains uneven and fragile due to inflation levels approaching 50 percent and rising costs of fuel and imported goods. The purpose of this presentation is to distill the most relevant programmatic results from the full report into a concise, decision-oriented format suitable for programme and pillar-level discussions. It focuses on who was reached, where interventions were delivered, and how progress aligns with planned targets under the Country Programme Document (CPD) 2026–2028. The scope covers all four programme pillars—Health and Essential Services; Resilience and Recovery; Peacebuilding and Inclusive Governance; and Environment, Energy and Climate Change—using both narrative analysis and visual summaries drawn directly from the report. Particular attention is given to geographic coverage, beneficiary composition by gender and age, and variations in performance across states. By providing a clear overview of achievements and gaps, this slide sets the foundation for informed discussion on strategic adjustments, resource allocation, and prioritization for the remainder of 2026. The presentation is intended to complement, not replace, the full report, offering a shared evidence base to support programme planning, coordination, and accountability across pillars.</a:t>
            </a:r>
          </a:p>
        </p:txBody>
      </p:sp>
      <p:sp>
        <p:nvSpPr>
          <p:cNvPr id="4" name="Slide Number Placeholder 3"/>
          <p:cNvSpPr>
            <a:spLocks noGrp="1"/>
          </p:cNvSpPr>
          <p:nvPr>
            <p:ph type="sldNum" sz="quarter" idx="5"/>
          </p:nvPr>
        </p:nvSpPr>
        <p:spPr/>
        <p:txBody>
          <a:bodyPr/>
          <a:lstStyle/>
          <a:p>
            <a:fld id="{2835AD20-0263-4534-ABE9-74F600441E8B}" type="slidenum">
              <a:t>2</a:t>
            </a:fld>
            <a:endParaRPr lang="en-US"/>
          </a:p>
        </p:txBody>
      </p:sp>
    </p:spTree>
    <p:extLst>
      <p:ext uri="{BB962C8B-B14F-4D97-AF65-F5344CB8AC3E}">
        <p14:creationId xmlns:p14="http://schemas.microsoft.com/office/powerpoint/2010/main" val="3959943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Under Pillar 1, UNDP-supported health and essential service interventions reached more than 6.1 million people between January and May 2026, with women accounting for approximately 46 percent of beneficiaries. Key results include over 4.1 million people accessing healthcare services through mobile and facility-based primary healthcare, 1.5 million people benefiting from improved access to functional health facilities, and nearly 400,000 individuals receiving HIV, tuberculosis, and related services. Targeted support was also provided to people living with chronic conditions, including 45,000 individuals receiving life-saving insulin and related diabetes care. Beyond service delivery, investments focused on strengthening system resilience through upgrading 50 primary healthcare facilities and building the capacity of 1,500 health workers. Strategic initiatives, such as preparations for the installation of an MRI unit in Kassala State, demonstrate a commitment to expanding access to advanced diagnostic services for an estimated 1.5 million people. Health interventions were closely integrated with water, food security, and climate-resilient activities, recognizing the interdependence of essential services in fragile contexts. This integrated approach has contributed to improved continuity, quality, and sustainability of health services in conflict-affected and hard-to-reach areas, while laying the groundwork for longer-term system recovery.</a:t>
            </a:r>
          </a:p>
        </p:txBody>
      </p:sp>
      <p:sp>
        <p:nvSpPr>
          <p:cNvPr id="4" name="Slide Number Placeholder 3"/>
          <p:cNvSpPr>
            <a:spLocks noGrp="1"/>
          </p:cNvSpPr>
          <p:nvPr>
            <p:ph type="sldNum" sz="quarter" idx="5"/>
          </p:nvPr>
        </p:nvSpPr>
        <p:spPr/>
        <p:txBody>
          <a:bodyPr/>
          <a:lstStyle/>
          <a:p>
            <a:fld id="{2835AD20-0263-4534-ABE9-74F600441E8B}" type="slidenum">
              <a:t>4</a:t>
            </a:fld>
            <a:endParaRPr lang="en-US"/>
          </a:p>
        </p:txBody>
      </p:sp>
    </p:spTree>
    <p:extLst>
      <p:ext uri="{BB962C8B-B14F-4D97-AF65-F5344CB8AC3E}">
        <p14:creationId xmlns:p14="http://schemas.microsoft.com/office/powerpoint/2010/main" val="2633803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Resilience and Recovery interventions reached approximately 1.52 million people during the reporting period, with women representing 36 percent of direct beneficiaries. Activities focused on restoring livelihoods, strengthening food security, improving water access, and expanding economic opportunities for vulnerable populations. Over 105,000 individuals received agricultural inputs and extension services, indirectly benefiting hundreds of thousands of community members. Solarized water yards and irrigation schemes improved access to safe water for more than 240,000 people and enhanced agricultural productivity for farmers. Cash-for-work programmes and micro-grants provided short-term income support and longer-term self-employment opportunities, particularly for women and youth, while vocational training and capacity-building initiatives strengthened employability and community management systems. These interventions collectively contributed to rebuilding productive capacities, stimulating local economies, and enhancing resilience to economic and climate-related shocks. The scale and diversity of results under this pillar underscore the importance of integrated livelihood and recovery programming in addressing both immediate needs and structural vulnerabilities in crisis-affected contexts.</a:t>
            </a:r>
          </a:p>
        </p:txBody>
      </p:sp>
      <p:sp>
        <p:nvSpPr>
          <p:cNvPr id="4" name="Slide Number Placeholder 3"/>
          <p:cNvSpPr>
            <a:spLocks noGrp="1"/>
          </p:cNvSpPr>
          <p:nvPr>
            <p:ph type="sldNum" sz="quarter" idx="5"/>
          </p:nvPr>
        </p:nvSpPr>
        <p:spPr/>
        <p:txBody>
          <a:bodyPr/>
          <a:lstStyle/>
          <a:p>
            <a:fld id="{2835AD20-0263-4534-ABE9-74F600441E8B}" type="slidenum">
              <a:t>5</a:t>
            </a:fld>
            <a:endParaRPr lang="en-US"/>
          </a:p>
        </p:txBody>
      </p:sp>
    </p:spTree>
    <p:extLst>
      <p:ext uri="{BB962C8B-B14F-4D97-AF65-F5344CB8AC3E}">
        <p14:creationId xmlns:p14="http://schemas.microsoft.com/office/powerpoint/2010/main" val="15553602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Peacebuilding and inclusive governance interventions reached nearly 4,918 people between January and May 2026, with women accounting for about 45 percent of participants. These initiatives focused on community protection, mediation, dialogue, and social cohesion, supporting locally led mechanisms to prevent and resolve conflict and strengthen inclusive institutions. Activities included strengthening academic peace centres, reactivating community-based protection structures, and promoting the participation of women and youth in peace processes. Under Pillar 4, environment, energy, and climate change interventions expanded access to clean energy and climate-resilient services. More than 47,000 people were connected to electricity through solar infrastructure, over 239,000 gained access to safe water via solar-powered systems, and nearly 13,000 farmers benefited from solar irrigation, supporting food production for tens of thousands more. Together, these pillars contribute to safer, more resilient communities while advancing sustainable natural resource management and climate action aligned with national and global commitments.</a:t>
            </a:r>
          </a:p>
        </p:txBody>
      </p:sp>
      <p:sp>
        <p:nvSpPr>
          <p:cNvPr id="4" name="Slide Number Placeholder 3"/>
          <p:cNvSpPr>
            <a:spLocks noGrp="1"/>
          </p:cNvSpPr>
          <p:nvPr>
            <p:ph type="sldNum" sz="quarter" idx="5"/>
          </p:nvPr>
        </p:nvSpPr>
        <p:spPr/>
        <p:txBody>
          <a:bodyPr/>
          <a:lstStyle/>
          <a:p>
            <a:fld id="{2835AD20-0263-4534-ABE9-74F600441E8B}" type="slidenum">
              <a:t>6</a:t>
            </a:fld>
            <a:endParaRPr lang="en-US"/>
          </a:p>
        </p:txBody>
      </p:sp>
    </p:spTree>
    <p:extLst>
      <p:ext uri="{BB962C8B-B14F-4D97-AF65-F5344CB8AC3E}">
        <p14:creationId xmlns:p14="http://schemas.microsoft.com/office/powerpoint/2010/main" val="2158263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Geographic analysis of beneficiary data reveals significant variation in programme reach and performance across Sudan’s states, shaped by differences in access, security conditions, partner presence, and operational capacity. States such as Northern, Red Sea, Kassala, Aj Jazirah, Gedaref, and North Kordofan have largely met or exceeded their planned beneficiary targets, reflecting relatively stable operating environments and strong multi-pillar engagement. In contrast, South Kordofan, Blue Nile, Sennar, and White Nile recorded lower reach compared to targets, highlighting persistent access constraints, insecurity, and logistical challenges that have slowed implementation. Darfur states show mixed performance, with moderate progress overall but notable disparities between locations, underscoring the need for more nuanced, area-based planning. Mapping of pillar presence also indicates that Red Sea, Kassala, and Gedaref benefit from the strongest multi-pillar overlap, while some areas—such as West Kordofan—currently show limited or no programme presence. These spatial patterns are critical for understanding not only where beneficiaries are being reached, but also where service gaps remain. The maps included in the report provide a visual synthesis of these trends, enabling clearer identification of opportunities for scale-up, rebalancing, or targeted support. Strengthening the clarity of map legends and keys, as noted in feedback, will further enhance their usefulness for programme decision-making and coordination.</a:t>
            </a:r>
          </a:p>
        </p:txBody>
      </p:sp>
      <p:sp>
        <p:nvSpPr>
          <p:cNvPr id="4" name="Slide Number Placeholder 3"/>
          <p:cNvSpPr>
            <a:spLocks noGrp="1"/>
          </p:cNvSpPr>
          <p:nvPr>
            <p:ph type="sldNum" sz="quarter" idx="5"/>
          </p:nvPr>
        </p:nvSpPr>
        <p:spPr/>
        <p:txBody>
          <a:bodyPr/>
          <a:lstStyle/>
          <a:p>
            <a:fld id="{2835AD20-0263-4534-ABE9-74F600441E8B}" type="slidenum">
              <a:t>8</a:t>
            </a:fld>
            <a:endParaRPr lang="en-US"/>
          </a:p>
        </p:txBody>
      </p:sp>
    </p:spTree>
    <p:extLst>
      <p:ext uri="{BB962C8B-B14F-4D97-AF65-F5344CB8AC3E}">
        <p14:creationId xmlns:p14="http://schemas.microsoft.com/office/powerpoint/2010/main" val="175899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Implementation during the first half of 2026 was constrained by continued conflict and insecurity, large-scale displacement, high inflation, fuel shortages, and limited institutional capacity in many areas. These challenges affected access, increased operational costs, and slowed delivery in several states. Despite these constraints, key lessons have emerged. Integrated, area-based programming under the Humanitarian–Development–Peace Nexus has proven effective in generating more sustainable outcomes by addressing immediate needs and underlying drivers of vulnerability simultaneously. Strong partnerships with national institutions, local organizations, and communities have enhanced ownership and responsiveness, while gender-responsive approaches have increased women’s participation across pillars. Looking forward, priorities include accelerating the digitalization of beneficiary data systems, institutionalizing quarterly beneficiary mapping, and strengthening GIS-supported analysis and visualization to improve decision-making. Continued investment in adaptive programming, local systems strengthening, and risk-informed planning will be essential to sustaining progress, expanding reach in underserved areas, and supporting Sudan’s transition toward recovery, resilience, and sustainable development.</a:t>
            </a:r>
          </a:p>
        </p:txBody>
      </p:sp>
      <p:sp>
        <p:nvSpPr>
          <p:cNvPr id="4" name="Slide Number Placeholder 3"/>
          <p:cNvSpPr>
            <a:spLocks noGrp="1"/>
          </p:cNvSpPr>
          <p:nvPr>
            <p:ph type="sldNum" sz="quarter" idx="5"/>
          </p:nvPr>
        </p:nvSpPr>
        <p:spPr/>
        <p:txBody>
          <a:bodyPr/>
          <a:lstStyle/>
          <a:p>
            <a:fld id="{2835AD20-0263-4534-ABE9-74F600441E8B}" type="slidenum">
              <a:t>13</a:t>
            </a:fld>
            <a:endParaRPr lang="en-US"/>
          </a:p>
        </p:txBody>
      </p:sp>
    </p:spTree>
    <p:extLst>
      <p:ext uri="{BB962C8B-B14F-4D97-AF65-F5344CB8AC3E}">
        <p14:creationId xmlns:p14="http://schemas.microsoft.com/office/powerpoint/2010/main" val="33265100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A13483-A24C-97DB-1FAB-B1EE383D6793}"/>
              </a:ext>
              <a:ext uri="{C183D7F6-B498-43B3-948B-1728B52AA6E4}">
                <adec:decorative xmlns:adec="http://schemas.microsoft.com/office/drawing/2017/decorative" val="1"/>
              </a:ext>
            </a:extLst>
          </p:cNvPr>
          <p:cNvSpPr/>
          <p:nvPr/>
        </p:nvSpPr>
        <p:spPr>
          <a:xfrm>
            <a:off x="5067300" y="-429"/>
            <a:ext cx="7142987" cy="6858429"/>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30CBF15A-228E-7325-6D7D-982EA5375DC4}"/>
              </a:ext>
              <a:ext uri="{C183D7F6-B498-43B3-948B-1728B52AA6E4}">
                <adec:decorative xmlns:adec="http://schemas.microsoft.com/office/drawing/2017/decorative" val="1"/>
              </a:ext>
            </a:extLst>
          </p:cNvPr>
          <p:cNvSpPr/>
          <p:nvPr/>
        </p:nvSpPr>
        <p:spPr>
          <a:xfrm>
            <a:off x="5067301" y="0"/>
            <a:ext cx="7158340"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EBBC545E-CFDF-A40B-046E-AEC9E529B81C}"/>
              </a:ext>
              <a:ext uri="{C183D7F6-B498-43B3-948B-1728B52AA6E4}">
                <adec:decorative xmlns:adec="http://schemas.microsoft.com/office/drawing/2017/decorative" val="1"/>
              </a:ext>
            </a:extLst>
          </p:cNvPr>
          <p:cNvSpPr/>
          <p:nvPr/>
        </p:nvSpPr>
        <p:spPr>
          <a:xfrm rot="10800000">
            <a:off x="5067300" y="4571999"/>
            <a:ext cx="7140054"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B90503D3-D62B-0038-E24C-05C4B676AF66}"/>
              </a:ext>
              <a:ext uri="{C183D7F6-B498-43B3-948B-1728B52AA6E4}">
                <adec:decorative xmlns:adec="http://schemas.microsoft.com/office/drawing/2017/decorative" val="1"/>
              </a:ext>
            </a:extLst>
          </p:cNvPr>
          <p:cNvSpPr/>
          <p:nvPr/>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87568" y="1270535"/>
            <a:ext cx="5513832" cy="288950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687568" y="4974336"/>
            <a:ext cx="5715000" cy="1481328"/>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0" y="0"/>
            <a:ext cx="5067300" cy="6858000"/>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687566" y="6455664"/>
            <a:ext cx="2902571"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08425" y="6455664"/>
            <a:ext cx="2986167" cy="365760"/>
          </a:xfrm>
        </p:spPr>
        <p:txBody>
          <a:bodyPr/>
          <a:lstStyle>
            <a:lvl1pPr>
              <a:defRPr>
                <a:solidFill>
                  <a:schemeClr val="tx1"/>
                </a:solidFill>
              </a:defRPr>
            </a:lvl1pPr>
          </a:lstStyle>
          <a:p>
            <a:fld id="{8AF2F4EA-388B-424B-AC17-965C10DAF675}"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9696555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985248" cy="96012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1563624"/>
            <a:ext cx="9985248"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E7ACF9F-8FDB-4ADC-A9FD-4B179047B36A}"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03747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2EF993-7F0D-4ECF-FD85-4AAFAAAF91C6}"/>
              </a:ext>
              <a:ext uri="{C183D7F6-B498-43B3-948B-1728B52AA6E4}">
                <adec:decorative xmlns:adec="http://schemas.microsoft.com/office/drawing/2017/decorative" val="1"/>
              </a:ext>
            </a:extLst>
          </p:cNvPr>
          <p:cNvSpPr/>
          <p:nvPr/>
        </p:nvSpPr>
        <p:spPr>
          <a:xfrm rot="10800000" flipH="1">
            <a:off x="0" y="4571999"/>
            <a:ext cx="12192003"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C6D141E1-516D-D7D9-7CAC-EBABCB077CDD}"/>
              </a:ext>
              <a:ext uri="{C183D7F6-B498-43B3-948B-1728B52AA6E4}">
                <adec:decorative xmlns:adec="http://schemas.microsoft.com/office/drawing/2017/decorative" val="1"/>
              </a:ext>
            </a:extLst>
          </p:cNvPr>
          <p:cNvSpPr/>
          <p:nvPr/>
        </p:nvSpPr>
        <p:spPr>
          <a:xfrm rot="10800000" flipH="1">
            <a:off x="4038600" y="4571779"/>
            <a:ext cx="8151938"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Freeform: Shape 10">
            <a:extLst>
              <a:ext uri="{FF2B5EF4-FFF2-40B4-BE49-F238E27FC236}">
                <a16:creationId xmlns:a16="http://schemas.microsoft.com/office/drawing/2014/main" id="{D973ECF1-2707-D092-89EA-AC6D4B79E56F}"/>
              </a:ext>
              <a:ext uri="{C183D7F6-B498-43B3-948B-1728B52AA6E4}">
                <adec:decorative xmlns:adec="http://schemas.microsoft.com/office/drawing/2017/decorative" val="1"/>
              </a:ext>
            </a:extLst>
          </p:cNvPr>
          <p:cNvSpPr/>
          <p:nvPr/>
        </p:nvSpPr>
        <p:spPr>
          <a:xfrm rot="14834054">
            <a:off x="3015414" y="2996601"/>
            <a:ext cx="2352194" cy="3826944"/>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F09FDFDA-46A6-DCC7-FA34-612FC4BF8109}"/>
              </a:ext>
              <a:ext uri="{C183D7F6-B498-43B3-948B-1728B52AA6E4}">
                <adec:decorative xmlns:adec="http://schemas.microsoft.com/office/drawing/2017/decorative" val="1"/>
              </a:ext>
            </a:extLst>
          </p:cNvPr>
          <p:cNvSpPr/>
          <p:nvPr/>
        </p:nvSpPr>
        <p:spPr>
          <a:xfrm flipH="1">
            <a:off x="3047998" y="4571999"/>
            <a:ext cx="91439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4791456"/>
            <a:ext cx="10570464" cy="1170432"/>
          </a:xfrm>
        </p:spPr>
        <p:txBody>
          <a:bodyPr vert="horz" lIns="91440" tIns="45720" rIns="91440" bIns="45720" rtlCol="0" anchor="b">
            <a:normAutofit/>
          </a:bodyPr>
          <a:lstStyle>
            <a:lvl1pPr>
              <a:defRPr lang="en-US" sz="4000"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6025896"/>
            <a:ext cx="10579608" cy="429768"/>
          </a:xfrm>
        </p:spPr>
        <p:txBody>
          <a:bodyPr vert="horz" lIns="91440" tIns="45720" rIns="91440" bIns="45720" rtlCol="0">
            <a:normAutofit/>
          </a:bodyPr>
          <a:lstStyle>
            <a:lvl1pPr marL="0" indent="0">
              <a:buNone/>
              <a:defRPr lang="en-US" sz="1600" cap="all" spc="400" baseline="0">
                <a:solidFill>
                  <a:schemeClr val="tx1"/>
                </a:solidFill>
                <a:latin typeface="+mj-lt"/>
              </a:defRPr>
            </a:lvl1pPr>
          </a:lstStyle>
          <a:p>
            <a:pPr lvl="0"/>
            <a:r>
              <a:rPr lang="en-US"/>
              <a:t>Click to edit Master subtitle style</a:t>
            </a:r>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hasCustomPrompt="1"/>
          </p:nvPr>
        </p:nvSpPr>
        <p:spPr>
          <a:xfrm>
            <a:off x="0" y="0"/>
            <a:ext cx="12192000" cy="4572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a:xfrm>
            <a:off x="731520" y="6455664"/>
            <a:ext cx="3557016" cy="365760"/>
          </a:xfrm>
        </p:spPr>
        <p:txBody>
          <a:bodyPr/>
          <a:lstStyle>
            <a:lvl1pPr>
              <a:defRPr>
                <a:solidFill>
                  <a:schemeClr val="tx1"/>
                </a:solidFill>
                <a:effectLst/>
              </a:defRPr>
            </a:lvl1pPr>
          </a:lstStyle>
          <a:p>
            <a:r>
              <a:rPr lang="en-US"/>
              <a:t>Sample Footer Text</a:t>
            </a:r>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tx1"/>
                </a:solidFill>
              </a:defRPr>
            </a:lvl1pPr>
          </a:lstStyle>
          <a:p>
            <a:fld id="{3D4AF38C-0923-462D-8E8F-DFB1FB3CD655}" type="datetime2">
              <a:rPr lang="en-US" smtClean="0"/>
              <a:t>Saturday, September 26, 2026</a:t>
            </a:fld>
            <a:endParaRPr lang="en-US"/>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0129044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D2DD7BB-25B8-B7A3-8E13-EDE8E1090689}"/>
              </a:ext>
              <a:ext uri="{C183D7F6-B498-43B3-948B-1728B52AA6E4}">
                <adec:decorative xmlns:adec="http://schemas.microsoft.com/office/drawing/2017/decorative" val="1"/>
              </a:ext>
            </a:extLst>
          </p:cNvPr>
          <p:cNvSpPr/>
          <p:nvPr/>
        </p:nvSpPr>
        <p:spPr>
          <a:xfrm rot="10800000" flipH="1">
            <a:off x="0" y="0"/>
            <a:ext cx="6096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FB6C05D2-D53F-950D-185E-08B200EEFEB9}"/>
              </a:ext>
              <a:ext uri="{C183D7F6-B498-43B3-948B-1728B52AA6E4}">
                <adec:decorative xmlns:adec="http://schemas.microsoft.com/office/drawing/2017/decorative" val="1"/>
              </a:ext>
            </a:extLst>
          </p:cNvPr>
          <p:cNvSpPr/>
          <p:nvPr/>
        </p:nvSpPr>
        <p:spPr>
          <a:xfrm rot="10800000" flipH="1">
            <a:off x="-18287" y="4582455"/>
            <a:ext cx="6114286"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BC0AF5C2-3AA9-7510-308E-9D21678F7EFC}"/>
              </a:ext>
              <a:ext uri="{C183D7F6-B498-43B3-948B-1728B52AA6E4}">
                <adec:decorative xmlns:adec="http://schemas.microsoft.com/office/drawing/2017/decorative" val="1"/>
              </a:ext>
            </a:extLst>
          </p:cNvPr>
          <p:cNvSpPr/>
          <p:nvPr/>
        </p:nvSpPr>
        <p:spPr>
          <a:xfrm rot="5400000" flipH="1">
            <a:off x="-148955" y="532365"/>
            <a:ext cx="6878924" cy="5814190"/>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Oval 10">
            <a:extLst>
              <a:ext uri="{FF2B5EF4-FFF2-40B4-BE49-F238E27FC236}">
                <a16:creationId xmlns:a16="http://schemas.microsoft.com/office/drawing/2014/main" id="{13D13448-08C3-4231-6CCA-F17E4C608199}"/>
              </a:ext>
              <a:ext uri="{C183D7F6-B498-43B3-948B-1728B52AA6E4}">
                <adec:decorative xmlns:adec="http://schemas.microsoft.com/office/drawing/2017/decorative" val="1"/>
              </a:ext>
            </a:extLst>
          </p:cNvPr>
          <p:cNvSpPr/>
          <p:nvPr/>
        </p:nvSpPr>
        <p:spPr>
          <a:xfrm rot="10800000">
            <a:off x="949046" y="1319084"/>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941832"/>
            <a:ext cx="4626864" cy="320954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4626864" cy="1453896"/>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31520" y="6455664"/>
            <a:ext cx="4096512" cy="365760"/>
          </a:xfrm>
        </p:spPr>
        <p:txBody>
          <a:bodyPr/>
          <a:lstStyle>
            <a:lvl1pPr algn="l">
              <a:defRPr>
                <a:solidFill>
                  <a:schemeClr val="tx1"/>
                </a:solidFill>
              </a:defRPr>
            </a:lvl1pPr>
          </a:lstStyle>
          <a:p>
            <a:fld id="{5531B838-A2A1-4E5F-8CE5-ED5C785421C8}"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80974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6092952" y="0"/>
            <a:ext cx="6099048"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3299084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3CE0C29-D9B0-E434-079F-9F0C40DF20EC}"/>
              </a:ext>
              <a:ext uri="{C183D7F6-B498-43B3-948B-1728B52AA6E4}">
                <adec:decorative xmlns:adec="http://schemas.microsoft.com/office/drawing/2017/decorative" val="1"/>
              </a:ext>
            </a:extLst>
          </p:cNvPr>
          <p:cNvSpPr/>
          <p:nvPr/>
        </p:nvSpPr>
        <p:spPr>
          <a:xfrm rot="5400000" flipH="1">
            <a:off x="-1399562" y="1399556"/>
            <a:ext cx="6875820" cy="4076703"/>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F9F604E-FEFA-3809-8244-5B72EE7BB044}"/>
              </a:ext>
              <a:ext uri="{C183D7F6-B498-43B3-948B-1728B52AA6E4}">
                <adec:decorative xmlns:adec="http://schemas.microsoft.com/office/drawing/2017/decorative" val="1"/>
              </a:ext>
            </a:extLst>
          </p:cNvPr>
          <p:cNvSpPr/>
          <p:nvPr/>
        </p:nvSpPr>
        <p:spPr>
          <a:xfrm rot="16200000">
            <a:off x="890124" y="3681875"/>
            <a:ext cx="2296453" cy="4076701"/>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8E261-930C-6A44-A568-9DD2A88D3526}"/>
              </a:ext>
              <a:ext uri="{C183D7F6-B498-43B3-948B-1728B52AA6E4}">
                <adec:decorative xmlns:adec="http://schemas.microsoft.com/office/drawing/2017/decorative" val="1"/>
              </a:ext>
            </a:extLst>
          </p:cNvPr>
          <p:cNvSpPr/>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850392"/>
            <a:ext cx="2935224" cy="3035808"/>
          </a:xfrm>
        </p:spPr>
        <p:txBody>
          <a:bodyPr vert="horz" lIns="91440" tIns="45720" rIns="91440" bIns="45720" rtlCol="0" anchor="t">
            <a:normAutofit/>
          </a:bodyPr>
          <a:lstStyle>
            <a:lvl1pPr>
              <a:defRPr lang="en-US"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01768"/>
            <a:ext cx="2926080" cy="1490472"/>
          </a:xfrm>
        </p:spPr>
        <p:txBody>
          <a:bodyPr vert="horz" lIns="91440" tIns="45720" rIns="91440" bIns="45720" rtlCol="0" anchor="ctr">
            <a:normAutofit/>
          </a:bodyPr>
          <a:lstStyle>
            <a:lvl1pPr marL="0" indent="0">
              <a:buNone/>
              <a:defRPr lang="en-US" sz="1600" cap="all" spc="400" baseline="0" dirty="0">
                <a:solidFill>
                  <a:schemeClr val="tx1"/>
                </a:solidFill>
                <a:latin typeface="+mj-lt"/>
              </a:defRPr>
            </a:lvl1pPr>
          </a:lstStyle>
          <a:p>
            <a:pPr lvl="0"/>
            <a:r>
              <a:rPr lang="en-US"/>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3200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612648" y="6455664"/>
            <a:ext cx="3227832" cy="365760"/>
          </a:xfrm>
        </p:spPr>
        <p:txBody>
          <a:bodyPr/>
          <a:lstStyle>
            <a:lvl1pPr algn="l">
              <a:defRPr>
                <a:solidFill>
                  <a:schemeClr val="tx1"/>
                </a:solidFill>
              </a:defRPr>
            </a:lvl1pPr>
          </a:lstStyle>
          <a:p>
            <a:fld id="{B369E90C-83BE-474F-8867-84D9D4BA9A64}" type="datetime2">
              <a:rPr lang="en-US" smtClean="0"/>
              <a:t>Saturday, September 26, 2026</a:t>
            </a:fld>
            <a:endParaRPr lang="en-US"/>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hasCustomPrompt="1"/>
          </p:nvPr>
        </p:nvSpPr>
        <p:spPr>
          <a:xfrm>
            <a:off x="4076700" y="0"/>
            <a:ext cx="8115300" cy="6868452"/>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403867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 uri="{C183D7F6-B498-43B3-948B-1728B52AA6E4}">
                <adec:decorative xmlns:adec="http://schemas.microsoft.com/office/drawing/2017/decorative" val="1"/>
              </a:ext>
            </a:extLst>
          </p:cNvPr>
          <p:cNvSpPr/>
          <p:nvPr/>
        </p:nvSpPr>
        <p:spPr>
          <a:xfrm flipH="1" flipV="1">
            <a:off x="-14449" y="0"/>
            <a:ext cx="1222473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1D8467A-A1B6-E7E6-CAD4-E63E0FE2CCCB}"/>
              </a:ext>
              <a:ext uri="{C183D7F6-B498-43B3-948B-1728B52AA6E4}">
                <adec:decorative xmlns:adec="http://schemas.microsoft.com/office/drawing/2017/decorative" val="1"/>
              </a:ext>
            </a:extLst>
          </p:cNvPr>
          <p:cNvSpPr/>
          <p:nvPr/>
        </p:nvSpPr>
        <p:spPr>
          <a:xfrm flipV="1">
            <a:off x="-7227" y="-5046"/>
            <a:ext cx="12217513" cy="686556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2A9C06E7-BC9C-2F5F-5DD1-D04EB713C63D}"/>
              </a:ext>
              <a:ext uri="{C183D7F6-B498-43B3-948B-1728B52AA6E4}">
                <adec:decorative xmlns:adec="http://schemas.microsoft.com/office/drawing/2017/decorative" val="1"/>
              </a:ext>
            </a:extLst>
          </p:cNvPr>
          <p:cNvSpPr/>
          <p:nvPr/>
        </p:nvSpPr>
        <p:spPr>
          <a:xfrm rot="10800000" flipH="1" flipV="1">
            <a:off x="-25514" y="-5045"/>
            <a:ext cx="12217514" cy="6865568"/>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985261F8-8CD8-F2E0-C386-BE6A16D95BFC}"/>
              </a:ext>
              <a:ext uri="{C183D7F6-B498-43B3-948B-1728B52AA6E4}">
                <adec:decorative xmlns:adec="http://schemas.microsoft.com/office/drawing/2017/decorative" val="1"/>
              </a:ext>
            </a:extLst>
          </p:cNvPr>
          <p:cNvSpPr/>
          <p:nvPr/>
        </p:nvSpPr>
        <p:spPr>
          <a:xfrm rot="16200000" flipH="1" flipV="1">
            <a:off x="3802775" y="-3817222"/>
            <a:ext cx="4571999" cy="12206450"/>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D3D4A82C-6849-A88D-6D57-833E9A7481B9}"/>
              </a:ext>
              <a:ext uri="{C183D7F6-B498-43B3-948B-1728B52AA6E4}">
                <adec:decorative xmlns:adec="http://schemas.microsoft.com/office/drawing/2017/decorative" val="1"/>
              </a:ext>
            </a:extLst>
          </p:cNvPr>
          <p:cNvSpPr/>
          <p:nvPr/>
        </p:nvSpPr>
        <p:spPr>
          <a:xfrm rot="13168948" flipH="1" flipV="1">
            <a:off x="1027160" y="609473"/>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55CA38-7F60-D664-4EC0-C54B60C02BCF}"/>
              </a:ext>
              <a:ext uri="{C183D7F6-B498-43B3-948B-1728B52AA6E4}">
                <adec:decorative xmlns:adec="http://schemas.microsoft.com/office/drawing/2017/decorative" val="1"/>
              </a:ext>
            </a:extLst>
          </p:cNvPr>
          <p:cNvSpPr/>
          <p:nvPr/>
        </p:nvSpPr>
        <p:spPr>
          <a:xfrm rot="5400000" flipV="1">
            <a:off x="-1913484" y="1896512"/>
            <a:ext cx="6860522" cy="3062447"/>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557016" y="987552"/>
            <a:ext cx="7644384" cy="2944368"/>
          </a:xfrm>
        </p:spPr>
        <p:txBody>
          <a:bodyPr vert="horz" lIns="91440" tIns="45720" rIns="91440" bIns="45720" rtlCol="0" anchor="b">
            <a:normAutofit/>
          </a:bodyPr>
          <a:lstStyle>
            <a:lvl1pPr>
              <a:defRPr lang="en-US" sz="5400"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38728" y="5294376"/>
            <a:ext cx="7644384" cy="1078992"/>
          </a:xfrm>
        </p:spPr>
        <p:txBody>
          <a:bodyPr vert="horz" lIns="91440" tIns="45720" rIns="91440" bIns="45720" rtlCol="0" anchor="ctr">
            <a:normAutofit/>
          </a:bodyPr>
          <a:lstStyle>
            <a:lvl1pPr marL="0" indent="0">
              <a:buNone/>
              <a:defRPr lang="en-US" cap="all" spc="400" baseline="0">
                <a:solidFill>
                  <a:schemeClr val="tx1"/>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B5CA67-94ED-4C14-9B73-CCE5A85B4E93}"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5663943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itle 2">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C38FEA-146D-53B3-36B0-5CBD8040636E}"/>
              </a:ext>
              <a:ext uri="{C183D7F6-B498-43B3-948B-1728B52AA6E4}">
                <adec:decorative xmlns:adec="http://schemas.microsoft.com/office/drawing/2017/decorative" val="1"/>
              </a:ext>
            </a:extLst>
          </p:cNvPr>
          <p:cNvSpPr/>
          <p:nvPr/>
        </p:nvSpPr>
        <p:spPr>
          <a:xfrm flipH="1">
            <a:off x="9143995"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684D35E-A520-CA7A-97CB-6D815AB4CC5D}"/>
              </a:ext>
              <a:ext uri="{C183D7F6-B498-43B3-948B-1728B52AA6E4}">
                <adec:decorative xmlns:adec="http://schemas.microsoft.com/office/drawing/2017/decorative" val="1"/>
              </a:ext>
            </a:extLst>
          </p:cNvPr>
          <p:cNvSpPr/>
          <p:nvPr/>
        </p:nvSpPr>
        <p:spPr>
          <a:xfrm flipH="1">
            <a:off x="9143990"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5E890B-58C1-DD36-E90B-FFF0BE0CB5CB}"/>
              </a:ext>
              <a:ext uri="{C183D7F6-B498-43B3-948B-1728B52AA6E4}">
                <adec:decorative xmlns:adec="http://schemas.microsoft.com/office/drawing/2017/decorative" val="1"/>
              </a:ext>
            </a:extLst>
          </p:cNvPr>
          <p:cNvSpPr/>
          <p:nvPr/>
        </p:nvSpPr>
        <p:spPr>
          <a:xfrm rot="5400000" flipH="1">
            <a:off x="7253161"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BCD52CC-E8F2-3220-AE19-8A482DD1F236}"/>
              </a:ext>
              <a:ext uri="{C183D7F6-B498-43B3-948B-1728B52AA6E4}">
                <adec:decorative xmlns:adec="http://schemas.microsoft.com/office/drawing/2017/decorative" val="1"/>
              </a:ext>
            </a:extLst>
          </p:cNvPr>
          <p:cNvSpPr/>
          <p:nvPr/>
        </p:nvSpPr>
        <p:spPr>
          <a:xfrm rot="12508972">
            <a:off x="7949750"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7004304" cy="3557016"/>
          </a:xfrm>
        </p:spPr>
        <p:txBody>
          <a:bodyPr vert="horz" lIns="91440" tIns="45720" rIns="91440" bIns="45720" rtlCol="0" anchor="t">
            <a:normAutofit/>
          </a:bodyPr>
          <a:lstStyle>
            <a:lvl1pPr>
              <a:defRPr lang="en-US" sz="4800" cap="all" spc="550" baseline="0"/>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a:latin typeface="+mj-lt"/>
              </a:defRPr>
            </a:lvl1pPr>
          </a:lstStyle>
          <a:p>
            <a:pPr lvl="0"/>
            <a:r>
              <a:rPr lang="en-US"/>
              <a:t>Click to edit Master subtitle style</a:t>
            </a:r>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954909" y="6455664"/>
            <a:ext cx="3472868" cy="365760"/>
          </a:xfrm>
        </p:spPr>
        <p:txBody>
          <a:bodyPr/>
          <a:lstStyle>
            <a:lvl1pPr>
              <a:defRPr>
                <a:solidFill>
                  <a:schemeClr val="tx1"/>
                </a:solidFill>
              </a:defRPr>
            </a:lvl1pPr>
          </a:lstStyle>
          <a:p>
            <a:fld id="{7723C116-3055-4F7F-9A49-EB260F9EF6F6}" type="datetime2">
              <a:rPr lang="en-US" smtClean="0"/>
              <a:t>Saturday, September 26, 2026</a:t>
            </a:fld>
            <a:endParaRPr lang="en-US"/>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8409489"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72733179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le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4E2F783-0ED7-1F0B-219A-198549E350DD}"/>
              </a:ext>
              <a:ext uri="{C183D7F6-B498-43B3-948B-1728B52AA6E4}">
                <adec:decorative xmlns:adec="http://schemas.microsoft.com/office/drawing/2017/decorative" val="1"/>
              </a:ext>
            </a:extLst>
          </p:cNvPr>
          <p:cNvSpPr/>
          <p:nvPr/>
        </p:nvSpPr>
        <p:spPr>
          <a:xfrm>
            <a:off x="-6" y="-25866"/>
            <a:ext cx="12192005"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F09062-D41B-0E2E-C1C0-F27562ED9597}"/>
              </a:ext>
              <a:ext uri="{C183D7F6-B498-43B3-948B-1728B52AA6E4}">
                <adec:decorative xmlns:adec="http://schemas.microsoft.com/office/drawing/2017/decorative" val="1"/>
              </a:ext>
            </a:extLst>
          </p:cNvPr>
          <p:cNvSpPr/>
          <p:nvPr/>
        </p:nvSpPr>
        <p:spPr>
          <a:xfrm rot="16200000">
            <a:off x="3805950" y="-3822495"/>
            <a:ext cx="4580101" cy="12191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6D366-64E2-13D3-2734-861E811E1F1A}"/>
              </a:ext>
              <a:ext uri="{C183D7F6-B498-43B3-948B-1728B52AA6E4}">
                <adec:decorative xmlns:adec="http://schemas.microsoft.com/office/drawing/2017/decorative" val="1"/>
              </a:ext>
            </a:extLst>
          </p:cNvPr>
          <p:cNvSpPr/>
          <p:nvPr/>
        </p:nvSpPr>
        <p:spPr>
          <a:xfrm rot="10800000">
            <a:off x="8150806" y="-25872"/>
            <a:ext cx="4041192"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E5B9BA8-AE27-B639-DB51-7E498FA9422B}"/>
              </a:ext>
              <a:ext uri="{C183D7F6-B498-43B3-948B-1728B52AA6E4}">
                <adec:decorative xmlns:adec="http://schemas.microsoft.com/office/drawing/2017/decorative" val="1"/>
              </a:ext>
            </a:extLst>
          </p:cNvPr>
          <p:cNvSpPr/>
          <p:nvPr/>
        </p:nvSpPr>
        <p:spPr>
          <a:xfrm rot="12508972">
            <a:off x="5485611" y="-1118641"/>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85216"/>
            <a:ext cx="6858000" cy="3200400"/>
          </a:xfrm>
        </p:spPr>
        <p:txBody>
          <a:bodyPr vert="horz" lIns="91440" tIns="45720" rIns="91440" bIns="45720" rtlCol="0" anchor="b">
            <a:normAutofit/>
          </a:bodyPr>
          <a:lstStyle>
            <a:lvl1pPr>
              <a:defRPr lang="en-US" sz="4800" cap="all" spc="550" baseline="0">
                <a:solidFill>
                  <a:schemeClr val="bg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dirty="0">
                <a:latin typeface="+mj-lt"/>
              </a:defRPr>
            </a:lvl1pPr>
          </a:lstStyle>
          <a:p>
            <a:pPr lvl="0"/>
            <a:r>
              <a:rPr lang="en-US"/>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A6A5EF91-D53E-428D-B2CB-7C1F753E44DB}" type="datetime2">
              <a:rPr lang="en-US" smtClean="0"/>
              <a:t>Saturday, September 26, 2026</a:t>
            </a:fld>
            <a:endParaRPr lang="en-US"/>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390702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 uri="{C183D7F6-B498-43B3-948B-1728B52AA6E4}">
                <adec:decorative xmlns:adec="http://schemas.microsoft.com/office/drawing/2017/decorative" val="1"/>
              </a:ext>
            </a:extLst>
          </p:cNvPr>
          <p:cNvSpPr/>
          <p:nvPr/>
        </p:nvSpPr>
        <p:spPr>
          <a:xfrm flipH="1">
            <a:off x="-7229" y="-2522"/>
            <a:ext cx="1221751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6DA992C5-451E-EC0E-D54A-B0AA21D57F04}"/>
              </a:ext>
              <a:ext uri="{C183D7F6-B498-43B3-948B-1728B52AA6E4}">
                <adec:decorative xmlns:adec="http://schemas.microsoft.com/office/drawing/2017/decorative" val="1"/>
              </a:ext>
            </a:extLst>
          </p:cNvPr>
          <p:cNvSpPr/>
          <p:nvPr/>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5A4914C5-E872-F937-694B-9226A87D21A6}"/>
              </a:ext>
              <a:ext uri="{C183D7F6-B498-43B3-948B-1728B52AA6E4}">
                <adec:decorative xmlns:adec="http://schemas.microsoft.com/office/drawing/2017/decorative" val="1"/>
              </a:ext>
            </a:extLst>
          </p:cNvPr>
          <p:cNvSpPr/>
          <p:nvPr/>
        </p:nvSpPr>
        <p:spPr>
          <a:xfrm rot="10800000" flipH="1">
            <a:off x="7226" y="-5045"/>
            <a:ext cx="12203060"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B2BF5D5-EB9E-9501-6A32-C2BB4C8ED6A7}"/>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Oval 11">
            <a:extLst>
              <a:ext uri="{FF2B5EF4-FFF2-40B4-BE49-F238E27FC236}">
                <a16:creationId xmlns:a16="http://schemas.microsoft.com/office/drawing/2014/main" id="{90768E01-CF59-AC8E-6819-61512B528C04}"/>
              </a:ext>
              <a:ext uri="{C183D7F6-B498-43B3-948B-1728B52AA6E4}">
                <adec:decorative xmlns:adec="http://schemas.microsoft.com/office/drawing/2017/decorative" val="1"/>
              </a:ext>
            </a:extLst>
          </p:cNvPr>
          <p:cNvSpPr/>
          <p:nvPr/>
        </p:nvSpPr>
        <p:spPr>
          <a:xfrm rot="8431052" flipH="1">
            <a:off x="1403739" y="524809"/>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865A1-AC73-67A9-BC14-E75D3F26BDE9}"/>
              </a:ext>
              <a:ext uri="{C183D7F6-B498-43B3-948B-1728B52AA6E4}">
                <adec:decorative xmlns:adec="http://schemas.microsoft.com/office/drawing/2017/decorative" val="1"/>
              </a:ext>
            </a:extLst>
          </p:cNvPr>
          <p:cNvSpPr/>
          <p:nvPr/>
        </p:nvSpPr>
        <p:spPr>
          <a:xfrm rot="16200000">
            <a:off x="-1913484" y="1896512"/>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 uri="{C183D7F6-B498-43B3-948B-1728B52AA6E4}">
                <adec:decorative xmlns:adec="http://schemas.microsoft.com/office/drawing/2017/decorative" val="0"/>
              </a:ext>
            </a:extLst>
          </p:cNvPr>
          <p:cNvSpPr>
            <a:spLocks noGrp="1"/>
          </p:cNvSpPr>
          <p:nvPr>
            <p:ph type="title"/>
          </p:nvPr>
        </p:nvSpPr>
        <p:spPr>
          <a:xfrm>
            <a:off x="3657600" y="2807208"/>
            <a:ext cx="7772400" cy="3346704"/>
          </a:xfrm>
        </p:spPr>
        <p:txBody>
          <a:bodyPr anchor="t">
            <a:normAutofit/>
          </a:bodyPr>
          <a:lstStyle>
            <a:lvl1pPr>
              <a:lnSpc>
                <a:spcPct val="110000"/>
              </a:lnSpc>
              <a:defRPr sz="5400" cap="all" spc="700" baseline="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B4EA7F42-44CA-4E2D-BE54-54E50F1A95AA}"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378037785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 uri="{C183D7F6-B498-43B3-948B-1728B52AA6E4}">
                <adec:decorative xmlns:adec="http://schemas.microsoft.com/office/drawing/2017/decorative" val="1"/>
              </a:ext>
            </a:extLst>
          </p:cNvPr>
          <p:cNvSpPr/>
          <p:nvPr/>
        </p:nvSpPr>
        <p:spPr>
          <a:xfrm flipH="1">
            <a:off x="0" y="0"/>
            <a:ext cx="12188952"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14D9F56-D5FE-5416-E898-561CCD18E63E}"/>
              </a:ext>
              <a:ext uri="{C183D7F6-B498-43B3-948B-1728B52AA6E4}">
                <adec:decorative xmlns:adec="http://schemas.microsoft.com/office/drawing/2017/decorative" val="1"/>
              </a:ext>
            </a:extLst>
          </p:cNvPr>
          <p:cNvSpPr/>
          <p:nvPr/>
        </p:nvSpPr>
        <p:spPr>
          <a:xfrm>
            <a:off x="-7226" y="2522"/>
            <a:ext cx="1221029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Rectangle 14">
            <a:extLst>
              <a:ext uri="{FF2B5EF4-FFF2-40B4-BE49-F238E27FC236}">
                <a16:creationId xmlns:a16="http://schemas.microsoft.com/office/drawing/2014/main" id="{DCE312D2-549E-F681-7F68-B8AAD2F7696A}"/>
              </a:ext>
              <a:ext uri="{C183D7F6-B498-43B3-948B-1728B52AA6E4}">
                <adec:decorative xmlns:adec="http://schemas.microsoft.com/office/drawing/2017/decorative" val="1"/>
              </a:ext>
            </a:extLst>
          </p:cNvPr>
          <p:cNvSpPr/>
          <p:nvPr/>
        </p:nvSpPr>
        <p:spPr>
          <a:xfrm rot="10800000" flipH="1">
            <a:off x="383414" y="0"/>
            <a:ext cx="11826874"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CC4FFFC-E214-3024-4ED7-32DAAA7A66E0}"/>
              </a:ext>
              <a:ext uri="{C183D7F6-B498-43B3-948B-1728B52AA6E4}">
                <adec:decorative xmlns:adec="http://schemas.microsoft.com/office/drawing/2017/decorative" val="1"/>
              </a:ext>
            </a:extLst>
          </p:cNvPr>
          <p:cNvSpPr/>
          <p:nvPr/>
        </p:nvSpPr>
        <p:spPr>
          <a:xfrm rot="5400000" flipH="1">
            <a:off x="4945773" y="-4953002"/>
            <a:ext cx="2286000" cy="12192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963C23C4-6670-C4D3-CA25-EAF7EB91AC78}"/>
              </a:ext>
              <a:ext uri="{C183D7F6-B498-43B3-948B-1728B52AA6E4}">
                <adec:decorative xmlns:adec="http://schemas.microsoft.com/office/drawing/2017/decorative" val="1"/>
              </a:ext>
            </a:extLst>
          </p:cNvPr>
          <p:cNvSpPr/>
          <p:nvPr/>
        </p:nvSpPr>
        <p:spPr>
          <a:xfrm rot="10800000">
            <a:off x="3048" y="-5047"/>
            <a:ext cx="12188952"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Oval 17">
            <a:extLst>
              <a:ext uri="{FF2B5EF4-FFF2-40B4-BE49-F238E27FC236}">
                <a16:creationId xmlns:a16="http://schemas.microsoft.com/office/drawing/2014/main" id="{FAF9AED1-BD83-3598-C1F0-DC7ED0150981}"/>
              </a:ext>
              <a:ext uri="{C183D7F6-B498-43B3-948B-1728B52AA6E4}">
                <adec:decorative xmlns:adec="http://schemas.microsoft.com/office/drawing/2017/decorative" val="1"/>
              </a:ext>
            </a:extLst>
          </p:cNvPr>
          <p:cNvSpPr/>
          <p:nvPr/>
        </p:nvSpPr>
        <p:spPr>
          <a:xfrm rot="20481594" flipH="1">
            <a:off x="6172247" y="626278"/>
            <a:ext cx="5005754"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20" y="2596896"/>
            <a:ext cx="8933688" cy="3566160"/>
          </a:xfrm>
        </p:spPr>
        <p:txBody>
          <a:bodyPr anchor="b">
            <a:normAutofit/>
          </a:bodyPr>
          <a:lstStyle>
            <a:lvl1pPr>
              <a:lnSpc>
                <a:spcPct val="110000"/>
              </a:lnSpc>
              <a:defRPr sz="6000" cap="all" spc="700" baseline="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A5F6D2C8-34B4-4D49-8BA1-BACB1E5E91D7}"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1735301400"/>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735CD2-2790-A02E-C1A3-EB251A110779}"/>
              </a:ext>
              <a:ext uri="{C183D7F6-B498-43B3-948B-1728B52AA6E4}">
                <adec:decorative xmlns:adec="http://schemas.microsoft.com/office/drawing/2017/decorative" val="1"/>
              </a:ext>
            </a:extLst>
          </p:cNvPr>
          <p:cNvSpPr/>
          <p:nvPr/>
        </p:nvSpPr>
        <p:spPr>
          <a:xfrm flipH="1">
            <a:off x="-2" y="0"/>
            <a:ext cx="6096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7BCFA5-D41F-08E8-0C59-3B6D1AE8FC85}"/>
              </a:ext>
              <a:ext uri="{C183D7F6-B498-43B3-948B-1728B52AA6E4}">
                <adec:decorative xmlns:adec="http://schemas.microsoft.com/office/drawing/2017/decorative" val="1"/>
              </a:ext>
            </a:extLst>
          </p:cNvPr>
          <p:cNvSpPr/>
          <p:nvPr/>
        </p:nvSpPr>
        <p:spPr>
          <a:xfrm flipH="1">
            <a:off x="0" y="17416"/>
            <a:ext cx="5067300"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E833A7D-2BA4-F824-376C-8607C290E93B}"/>
              </a:ext>
              <a:ext uri="{C183D7F6-B498-43B3-948B-1728B52AA6E4}">
                <adec:decorative xmlns:adec="http://schemas.microsoft.com/office/drawing/2017/decorative" val="1"/>
              </a:ext>
            </a:extLst>
          </p:cNvPr>
          <p:cNvSpPr/>
          <p:nvPr/>
        </p:nvSpPr>
        <p:spPr>
          <a:xfrm rot="5400000" flipH="1">
            <a:off x="-20998" y="723590"/>
            <a:ext cx="6595192" cy="5638799"/>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FC381E-3DA3-22D7-F3CB-6FF3B17D6865}"/>
              </a:ext>
              <a:ext uri="{C183D7F6-B498-43B3-948B-1728B52AA6E4}">
                <adec:decorative xmlns:adec="http://schemas.microsoft.com/office/drawing/2017/decorative" val="1"/>
              </a:ext>
            </a:extLst>
          </p:cNvPr>
          <p:cNvSpPr/>
          <p:nvPr/>
        </p:nvSpPr>
        <p:spPr>
          <a:xfrm rot="12508972">
            <a:off x="652110" y="716188"/>
            <a:ext cx="5005754"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22960" y="2029968"/>
            <a:ext cx="4398264" cy="2825496"/>
          </a:xfrm>
        </p:spPr>
        <p:txBody>
          <a:bodyPr anchor="ctr">
            <a:normAutofit/>
          </a:bodyPr>
          <a:lstStyle>
            <a:lvl1pPr algn="ctr">
              <a:lnSpc>
                <a:spcPct val="110000"/>
              </a:lnSpc>
              <a:defRPr sz="4000" cap="all" spc="700" baseline="0">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004304" y="584688"/>
            <a:ext cx="4517136" cy="5688623"/>
          </a:xfrm>
        </p:spPr>
        <p:txBody>
          <a:bodyPr vert="horz" lIns="91440" tIns="45720" rIns="91440" bIns="45720" rtlCol="0" anchor="ctr">
            <a:normAutofit/>
          </a:bodyPr>
          <a:lstStyle>
            <a:lvl1pPr marL="342900" indent="-342900">
              <a:buFont typeface="+mj-lt"/>
              <a:buAutoNum type="arabicPeriod"/>
              <a:defRPr lang="en-US" sz="1800"/>
            </a:lvl1pPr>
            <a:lvl2pPr marL="571500" indent="-342900">
              <a:buFont typeface="+mj-lt"/>
              <a:buAutoNum type="arabicPeriod"/>
              <a:defRPr sz="16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07FA98E2-6F7F-4A51-8E1F-EB59A50F0269}" type="datetime2">
              <a:rPr lang="en-US" smtClean="0"/>
              <a:t>Saturday, September 26, 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88969304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3"/>
            <a:ext cx="12191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742"/>
            <a:ext cx="6281929"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86600" y="1014984"/>
            <a:ext cx="4489704" cy="1463040"/>
          </a:xfrm>
        </p:spPr>
        <p:txBody>
          <a:bodyPr anchor="t">
            <a:normAutofit/>
          </a:bodyPr>
          <a:lstStyle>
            <a:lvl1pPr>
              <a:defRPr sz="4000" cap="all" spc="700" baseline="0"/>
            </a:lvl1pPr>
          </a:lstStyle>
          <a:p>
            <a:r>
              <a:rPr lang="en-US"/>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6281928" cy="6411311"/>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086600" y="2633472"/>
            <a:ext cx="4498848" cy="2980944"/>
          </a:xfrm>
        </p:spPr>
        <p:txBody>
          <a:bodyPr anchor="b">
            <a:normAutofit/>
          </a:bodyPr>
          <a:lstStyle>
            <a:lvl1pPr marL="342900" indent="-342900">
              <a:buFont typeface="+mj-lt"/>
              <a:buAutoNum type="arabicPeriod"/>
              <a:defRPr sz="1800"/>
            </a:lvl1pPr>
            <a:lvl2pPr marL="571500" indent="-342900">
              <a:buFont typeface="+mj-lt"/>
              <a:buAutoNum type="arabicPeriod"/>
              <a:defRPr sz="1600"/>
            </a:lvl2pPr>
            <a:lvl3pPr marL="685800" indent="-2286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137160" y="6455664"/>
            <a:ext cx="3557016" cy="365760"/>
          </a:xfrm>
        </p:spPr>
        <p:txBody>
          <a:bodyPr/>
          <a:lstStyle>
            <a:lvl1pPr>
              <a:defRPr>
                <a:solidFill>
                  <a:schemeClr val="bg1"/>
                </a:solidFill>
              </a:defRPr>
            </a:lvl1pPr>
          </a:lstStyle>
          <a:p>
            <a:r>
              <a:rPr lang="en-US"/>
              <a:t>Sample Footer Text</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150BB71E-4F8F-41C0-A92F-F3C4EFE8AC7B}" type="datetime2">
              <a:rPr lang="en-US" smtClean="0"/>
              <a:t>Saturday, September 26, 2026</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2291631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2103120"/>
            <a:ext cx="4325112" cy="2454796"/>
          </a:xfrm>
        </p:spPr>
        <p:txBody>
          <a:bodyPr anchor="t">
            <a:normAutofit/>
          </a:bodyPr>
          <a:lstStyle>
            <a:lvl1pPr>
              <a:defRPr sz="44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103120"/>
            <a:ext cx="4325112"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8963436-5FD3-4DBA-BA14-7BB2834C5EC5}"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906685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813048" cy="29992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11371" y="1600200"/>
            <a:ext cx="4892656"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2DB3D6C-C357-4A18-98FF-C5DAE1A10B46}"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039137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611880" cy="29992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065776" y="1600200"/>
            <a:ext cx="6135624"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6848E0B-8A0C-48E4-ADBA-2AC6A8CE7CBF}"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977719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065776" y="704088"/>
            <a:ext cx="6394704"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CBDCCA7-F1A7-4374-A53E-DDBF6669B4DA}"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994265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88626" y="704088"/>
            <a:ext cx="713232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7A4E53C8-4441-4494-9A33-9A60A8C010FF}"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2384962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8606AF-234E-F01C-E350-3E326E5ABE30}"/>
              </a:ext>
              <a:ext uri="{C183D7F6-B498-43B3-948B-1728B52AA6E4}">
                <adec:decorative xmlns:adec="http://schemas.microsoft.com/office/drawing/2017/decorative" val="1"/>
              </a:ext>
            </a:extLst>
          </p:cNvPr>
          <p:cNvSpPr/>
          <p:nvPr/>
        </p:nvSpPr>
        <p:spPr>
          <a:xfrm>
            <a:off x="-11209" y="0"/>
            <a:ext cx="12203208"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FE6AE3A-A1C7-E9CA-615A-87942C8FD35D}"/>
              </a:ext>
              <a:ext uri="{C183D7F6-B498-43B3-948B-1728B52AA6E4}">
                <adec:decorative xmlns:adec="http://schemas.microsoft.com/office/drawing/2017/decorative" val="1"/>
              </a:ext>
            </a:extLst>
          </p:cNvPr>
          <p:cNvSpPr/>
          <p:nvPr/>
        </p:nvSpPr>
        <p:spPr>
          <a:xfrm>
            <a:off x="-11210" y="4199"/>
            <a:ext cx="8126510"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082EBC-AF50-5C78-B731-0C4380660AF5}"/>
              </a:ext>
              <a:ext uri="{C183D7F6-B498-43B3-948B-1728B52AA6E4}">
                <adec:decorative xmlns:adec="http://schemas.microsoft.com/office/drawing/2017/decorative" val="1"/>
              </a:ext>
            </a:extLst>
          </p:cNvPr>
          <p:cNvSpPr/>
          <p:nvPr/>
        </p:nvSpPr>
        <p:spPr>
          <a:xfrm>
            <a:off x="5466" y="-6046"/>
            <a:ext cx="12197741"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875520" cy="1033272"/>
          </a:xfrm>
        </p:spPr>
        <p:txBody>
          <a:bodyPr anchor="ct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2203703"/>
            <a:ext cx="9875520" cy="406762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C27853E-A83C-4AE4-BB8D-D1C2F70D8524}"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5479210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358C6A-FFB7-7F91-94AA-423822AA8C38}"/>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7B507E-31E7-16F8-CF5C-A1250BA873D8}"/>
              </a:ext>
              <a:ext uri="{C183D7F6-B498-43B3-948B-1728B52AA6E4}">
                <adec:decorative xmlns:adec="http://schemas.microsoft.com/office/drawing/2017/decorative" val="1"/>
              </a:ext>
            </a:extLst>
          </p:cNvPr>
          <p:cNvSpPr/>
          <p:nvPr/>
        </p:nvSpPr>
        <p:spPr>
          <a:xfrm flipH="1">
            <a:off x="8022440" y="6406116"/>
            <a:ext cx="4169557"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6400800" cy="119786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56232"/>
            <a:ext cx="640080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hasCustomPrompt="1"/>
          </p:nvPr>
        </p:nvSpPr>
        <p:spPr>
          <a:xfrm>
            <a:off x="8022440" y="603504"/>
            <a:ext cx="3553863" cy="520293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2BDBDAA-674F-41A5-9B7A-63B7C6B4BF31}" type="datetime2">
              <a:rPr lang="en-US" smtClean="0"/>
              <a:t>Saturday, September 26,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5590822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C72D07-FB95-F16C-6535-C8AEB3ACAFA0}"/>
              </a:ext>
              <a:ext uri="{C183D7F6-B498-43B3-948B-1728B52AA6E4}">
                <adec:decorative xmlns:adec="http://schemas.microsoft.com/office/drawing/2017/decorative" val="1"/>
              </a:ext>
            </a:extLst>
          </p:cNvPr>
          <p:cNvSpPr/>
          <p:nvPr/>
        </p:nvSpPr>
        <p:spPr>
          <a:xfrm rot="10800000" flipH="1">
            <a:off x="0" y="6408316"/>
            <a:ext cx="12192000" cy="449684"/>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AA119A-27E9-C86D-0929-AC7B5A35BD16}"/>
              </a:ext>
              <a:ext uri="{C183D7F6-B498-43B3-948B-1728B52AA6E4}">
                <adec:decorative xmlns:adec="http://schemas.microsoft.com/office/drawing/2017/decorative" val="1"/>
              </a:ext>
            </a:extLst>
          </p:cNvPr>
          <p:cNvSpPr/>
          <p:nvPr/>
        </p:nvSpPr>
        <p:spPr>
          <a:xfrm flipH="1">
            <a:off x="3807553" y="6408316"/>
            <a:ext cx="8384444"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4" y="310896"/>
            <a:ext cx="6858000" cy="92354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hasCustomPrompt="1"/>
          </p:nvPr>
        </p:nvSpPr>
        <p:spPr>
          <a:xfrm>
            <a:off x="603503" y="603504"/>
            <a:ext cx="3192563" cy="520293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4"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15508136-2BE5-4DEB-BFFF-CA82AE75DA81}" type="datetime2">
              <a:rPr lang="en-US" smtClean="0"/>
              <a:t>Saturday, September 26,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729165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CDB1A6A-A82E-C28C-BC71-E59067A1D47F}"/>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B683A0-4783-F398-8347-7EAF3DEE633C}"/>
              </a:ext>
              <a:ext uri="{C183D7F6-B498-43B3-948B-1728B52AA6E4}">
                <adec:decorative xmlns:adec="http://schemas.microsoft.com/office/drawing/2017/decorative" val="1"/>
              </a:ext>
            </a:extLst>
          </p:cNvPr>
          <p:cNvSpPr/>
          <p:nvPr/>
        </p:nvSpPr>
        <p:spPr>
          <a:xfrm flipH="1">
            <a:off x="8491125" y="6406116"/>
            <a:ext cx="370087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12572"/>
            <a:ext cx="6858000" cy="92354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8491126" y="603504"/>
            <a:ext cx="3085177" cy="520293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8CA907A-57F4-4BE4-B9CF-66B2A48FC3D2}" type="datetime2">
              <a:rPr lang="en-US" smtClean="0"/>
              <a:t>Saturday, September 26,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731945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5247320" y="6400799"/>
            <a:ext cx="694467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3912" y="475488"/>
            <a:ext cx="5440680" cy="1197864"/>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0" y="-1"/>
            <a:ext cx="5247320" cy="6400369"/>
          </a:xfrm>
          <a:blipFill>
            <a:blip r:embed="rId2">
              <a:alphaModFix amt="70000"/>
            </a:blip>
            <a:stretch>
              <a:fillRect/>
            </a:stretch>
          </a:blipFill>
        </p:spPr>
        <p:txBody>
          <a:bodyPr/>
          <a:lstStyle>
            <a:lvl1pPr marL="0" indent="0">
              <a:buNone/>
              <a:defRPr/>
            </a:lvl1pPr>
          </a:lstStyle>
          <a:p>
            <a:r>
              <a:rPr lang="en-US"/>
              <a:t> </a:t>
            </a:r>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153912"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F8C0C47F-6992-403B-A8BD-DAD08522434F}" type="datetime2">
              <a:rPr lang="en-US" smtClean="0"/>
              <a:t>Saturday, September 26, 2026</a:t>
            </a:fld>
            <a:endParaRPr lang="en-US"/>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626274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6922008" y="6400799"/>
            <a:ext cx="5269988"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5440680" cy="1197864"/>
          </a:xfrm>
        </p:spPr>
        <p:txBody>
          <a:bodyPr anchor="b"/>
          <a:lstStyle/>
          <a:p>
            <a:r>
              <a:rPr lang="en-US"/>
              <a:t>Click to edit Master title style</a:t>
            </a:r>
          </a:p>
        </p:txBody>
      </p:sp>
      <p:sp>
        <p:nvSpPr>
          <p:cNvPr id="4" name="Footer Placeholder 3">
            <a:extLst>
              <a:ext uri="{FF2B5EF4-FFF2-40B4-BE49-F238E27FC236}">
                <a16:creationId xmlns:a16="http://schemas.microsoft.com/office/drawing/2014/main" id="{F6328336-AE7A-4C2D-0270-493DC7303B6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31520"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6922008" y="-1"/>
            <a:ext cx="5269992" cy="6400369"/>
          </a:xfrm>
          <a:blipFill>
            <a:blip r:embed="rId2">
              <a:alphaModFix amt="70000"/>
            </a:blip>
            <a:stretch>
              <a:fillRect/>
            </a:stretch>
          </a:blipFill>
        </p:spPr>
        <p:txBody>
          <a:bodyPr/>
          <a:lstStyle>
            <a:lvl1pPr marL="0" indent="0">
              <a:buNone/>
              <a:defRPr/>
            </a:lvl1pPr>
          </a:lstStyle>
          <a:p>
            <a:r>
              <a:rPr lang="en-US"/>
              <a:t> </a:t>
            </a:r>
          </a:p>
        </p:txBody>
      </p:sp>
      <p:sp>
        <p:nvSpPr>
          <p:cNvPr id="3" name="Date Placeholder 2">
            <a:extLst>
              <a:ext uri="{FF2B5EF4-FFF2-40B4-BE49-F238E27FC236}">
                <a16:creationId xmlns:a16="http://schemas.microsoft.com/office/drawing/2014/main" id="{ACE75CBF-C3DD-595A-4D09-0BDBE3A20100}"/>
              </a:ext>
            </a:extLst>
          </p:cNvPr>
          <p:cNvSpPr>
            <a:spLocks noGrp="1"/>
          </p:cNvSpPr>
          <p:nvPr>
            <p:ph type="dt" sz="half" idx="16"/>
          </p:nvPr>
        </p:nvSpPr>
        <p:spPr/>
        <p:txBody>
          <a:bodyPr/>
          <a:lstStyle/>
          <a:p>
            <a:fld id="{4EE2BF70-051F-4182-B873-1FBEE890188B}" type="datetime2">
              <a:rPr lang="en-US" smtClean="0"/>
              <a:t>Saturday, September 26, 2026</a:t>
            </a:fld>
            <a:endParaRPr lang="en-US"/>
          </a:p>
        </p:txBody>
      </p:sp>
      <p:sp>
        <p:nvSpPr>
          <p:cNvPr id="5" name="Slide Number Placeholder 4">
            <a:extLst>
              <a:ext uri="{FF2B5EF4-FFF2-40B4-BE49-F238E27FC236}">
                <a16:creationId xmlns:a16="http://schemas.microsoft.com/office/drawing/2014/main" id="{FFC4C584-842E-9FEF-D13D-CAA866F0BFEA}"/>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2320270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81E3123-7D9E-2A08-F196-CDF340945D9D}"/>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F22AD7-5E04-F73B-69E6-5FA92F998C90}"/>
              </a:ext>
              <a:ext uri="{C183D7F6-B498-43B3-948B-1728B52AA6E4}">
                <adec:decorative xmlns:adec="http://schemas.microsoft.com/office/drawing/2017/decorative" val="1"/>
              </a:ext>
            </a:extLst>
          </p:cNvPr>
          <p:cNvSpPr/>
          <p:nvPr/>
        </p:nvSpPr>
        <p:spPr>
          <a:xfrm flipH="1">
            <a:off x="7284615" y="6400799"/>
            <a:ext cx="490738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4736" y="475488"/>
            <a:ext cx="3401568" cy="1197864"/>
          </a:xfrm>
        </p:spPr>
        <p:txBody>
          <a:bodyPr anchor="b"/>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03504" y="603504"/>
            <a:ext cx="6681111" cy="520293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4736" y="1856232"/>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2B29163A-D4FD-4B13-B760-29FEA46D26A0}" type="datetime2">
              <a:rPr lang="en-US" smtClean="0"/>
              <a:t>Saturday, September 26,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2246684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7562434" y="6406116"/>
            <a:ext cx="462956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7"/>
            <a:ext cx="2907792" cy="2377440"/>
          </a:xfrm>
        </p:spPr>
        <p:txBody>
          <a:bodyPr anchor="t"/>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2843784"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7562436" y="0"/>
            <a:ext cx="4629564" cy="6409944"/>
          </a:xfrm>
          <a:blipFill>
            <a:blip r:embed="rId2">
              <a:alphaModFix amt="70000"/>
            </a:blip>
            <a:stretch>
              <a:fillRect/>
            </a:stretch>
          </a:blipFill>
        </p:spPr>
        <p:txBody>
          <a:bodyPr/>
          <a:lstStyle>
            <a:lvl1pPr marL="0" indent="0">
              <a:buNone/>
              <a:defRPr/>
            </a:lvl1pPr>
          </a:lstStyle>
          <a:p>
            <a:r>
              <a:rPr lang="en-US"/>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BF31E3F0-C597-454C-9C6A-C05C00896517}" type="datetime2">
              <a:rPr lang="en-US" smtClean="0"/>
              <a:t>Saturday, September 26,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124910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8305800" y="6406116"/>
            <a:ext cx="388620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2377440"/>
          </a:xfrm>
        </p:spPr>
        <p:txBody>
          <a:bodyPr anchor="t"/>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8305800" y="0"/>
            <a:ext cx="3886200" cy="6406116"/>
          </a:xfrm>
          <a:blipFill>
            <a:blip r:embed="rId2">
              <a:alphaModFix amt="70000"/>
            </a:blip>
            <a:stretch>
              <a:fillRect/>
            </a:stretch>
          </a:blipFill>
        </p:spPr>
        <p:txBody>
          <a:bodyPr/>
          <a:lstStyle>
            <a:lvl1pPr marL="0" indent="0">
              <a:buNone/>
              <a:defRPr/>
            </a:lvl1pPr>
          </a:lstStyle>
          <a:p>
            <a:r>
              <a:rPr lang="en-US"/>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64C03E46-357C-41AA-B644-5D238512659D}" type="datetime2">
              <a:rPr lang="en-US" smtClean="0"/>
              <a:t>Saturday, September 26,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45177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DBABC61-0C94-EB2C-729D-13A2A74C04A2}"/>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F3E17B-3D55-4567-37F8-1842ADBFD144}"/>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23544"/>
            <a:ext cx="3840480" cy="2505456"/>
          </a:xfrm>
        </p:spPr>
        <p:txBody>
          <a:bodyPr anchor="b"/>
          <a:lstStyle>
            <a:lvl1pPr algn="r">
              <a:defRPr/>
            </a:lvl1pPr>
          </a:lstStyle>
          <a:p>
            <a:r>
              <a:rPr lang="en-US"/>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29184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3511295"/>
            <a:ext cx="6172200"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F7317806-C1A4-4898-A392-58092F2DAC1E}" type="datetime2">
              <a:rPr lang="en-US" smtClean="0"/>
              <a:t>Saturday, September 26, 2026</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2488148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460BC6-378A-8F4F-1D44-FA6677F92D4E}"/>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AC97FE-4F82-FCF7-08CC-137F322BADB5}"/>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24128" y="932688"/>
            <a:ext cx="3392424" cy="3182112"/>
          </a:xfrm>
        </p:spPr>
        <p:txBody>
          <a:bodyPr anchor="b"/>
          <a:lstStyle>
            <a:lvl1pPr algn="r">
              <a:defRPr/>
            </a:lvl1pPr>
          </a:lstStyle>
          <a:p>
            <a:r>
              <a:rPr lang="en-US"/>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959352"/>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4206240"/>
            <a:ext cx="6172200"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5EBE550A-BFEE-40D6-A0EE-F4BD2148E98A}" type="datetime2">
              <a:rPr lang="en-US" smtClean="0"/>
              <a:t>Saturday, September 26, 2026</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7385640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1"/>
            <a:ext cx="12191998" cy="449259"/>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314"/>
            <a:ext cx="7783998" cy="449686"/>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7783999" cy="6411311"/>
          </a:xfrm>
          <a:blipFill>
            <a:blip r:embed="rId2">
              <a:alphaModFix amt="70000"/>
            </a:blip>
            <a:stretch>
              <a:fillRect/>
            </a:stretch>
          </a:blipFill>
        </p:spPr>
        <p:txBody>
          <a:bodyPr/>
          <a:lstStyle>
            <a:lvl1pPr marL="0" indent="0">
              <a:buNone/>
              <a:defRPr/>
            </a:lvl1pPr>
          </a:lstStyle>
          <a:p>
            <a:r>
              <a:rPr lang="en-US"/>
              <a:t> </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3F60DE63-5C97-4D17-AD5B-559BE78F8C6E}" type="datetime2">
              <a:rPr lang="en-US" smtClean="0"/>
              <a:t>Saturday, September 26, 2026</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3360448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BED10C-5619-54D2-5D2D-E5D0A3E26E93}"/>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596777-297F-86C7-883A-2CA5E5F7CD86}"/>
              </a:ext>
              <a:ext uri="{C183D7F6-B498-43B3-948B-1728B52AA6E4}">
                <adec:decorative xmlns:adec="http://schemas.microsoft.com/office/drawing/2017/decorative" val="1"/>
              </a:ext>
            </a:extLst>
          </p:cNvPr>
          <p:cNvSpPr/>
          <p:nvPr/>
        </p:nvSpPr>
        <p:spPr>
          <a:xfrm flipH="1">
            <a:off x="6945630" y="6401228"/>
            <a:ext cx="5246366"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12064"/>
            <a:ext cx="10844784" cy="1170432"/>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hasCustomPrompt="1"/>
          </p:nvPr>
        </p:nvSpPr>
        <p:spPr>
          <a:xfrm>
            <a:off x="731520" y="1984247"/>
            <a:ext cx="6214110" cy="3879839"/>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699959" y="1984248"/>
            <a:ext cx="3876346" cy="3879839"/>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C3B1CEA-5D85-42AB-95DF-BF2F02172CA4}" type="datetime2">
              <a:rPr lang="en-US" smtClean="0"/>
              <a:t>Saturday, September 26,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72549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2093A5D-CF9E-656F-6E4D-BBE26617BBEC}"/>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7D037C8-31EA-E42D-7880-3FC907A897D8}"/>
              </a:ext>
              <a:ext uri="{C183D7F6-B498-43B3-948B-1728B52AA6E4}">
                <adec:decorative xmlns:adec="http://schemas.microsoft.com/office/drawing/2017/decorative" val="1"/>
              </a:ext>
            </a:extLst>
          </p:cNvPr>
          <p:cNvSpPr/>
          <p:nvPr/>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86200"/>
            <a:ext cx="3649468" cy="204825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hasCustomPrompt="1"/>
          </p:nvPr>
        </p:nvSpPr>
        <p:spPr>
          <a:xfrm>
            <a:off x="731518" y="0"/>
            <a:ext cx="3520440" cy="364845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230368"/>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B5151AB-126F-4C4D-9C0D-9B9B07DC1CFA}" type="datetime2">
              <a:rPr lang="en-US" smtClean="0"/>
              <a:t>Saturday, September 26,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758037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EA2F20-DFC9-8EAE-10DC-BC89113C2D4F}"/>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4C5968-63F8-AF79-49F2-4D9E9C22DD6B}"/>
              </a:ext>
              <a:ext uri="{C183D7F6-B498-43B3-948B-1728B52AA6E4}">
                <adec:decorative xmlns:adec="http://schemas.microsoft.com/office/drawing/2017/decorative" val="1"/>
              </a:ext>
            </a:extLst>
          </p:cNvPr>
          <p:cNvSpPr/>
          <p:nvPr/>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158191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hasCustomPrompt="1"/>
          </p:nvPr>
        </p:nvSpPr>
        <p:spPr>
          <a:xfrm>
            <a:off x="731520" y="2368296"/>
            <a:ext cx="2788920" cy="3429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8EB0D61-5867-4B60-96C2-F34431D24F0C}" type="datetime2">
              <a:rPr lang="en-US" smtClean="0"/>
              <a:t>Saturday, September 26,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531811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34161-664F-95F7-2318-8455D39DC535}"/>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02F5F8B4-8FF0-1254-0A5B-CC22084F6C2D}"/>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5B4E1ECA-F93C-A483-C4F1-29C42597B7D2}"/>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C06865F-89CC-BE15-EAA2-7DE6517391D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EAFE0B0-2261-5CA7-AE61-EDC374B643E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F7AA7DB0-DE62-3BEE-FB72-481649D63F9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Rectangle 13">
            <a:extLst>
              <a:ext uri="{FF2B5EF4-FFF2-40B4-BE49-F238E27FC236}">
                <a16:creationId xmlns:a16="http://schemas.microsoft.com/office/drawing/2014/main" id="{B3FCEE29-6799-F2C5-729F-491AE62D49D7}"/>
              </a:ext>
              <a:ext uri="{C183D7F6-B498-43B3-948B-1728B52AA6E4}">
                <adec:decorative xmlns:adec="http://schemas.microsoft.com/office/drawing/2017/decorative" val="1"/>
              </a:ext>
            </a:extLst>
          </p:cNvPr>
          <p:cNvSpPr/>
          <p:nvPr/>
        </p:nvSpPr>
        <p:spPr>
          <a:xfrm>
            <a:off x="-18286" y="4719145"/>
            <a:ext cx="12221346" cy="21489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1060704" y="4974336"/>
            <a:ext cx="10433304" cy="1444752"/>
          </a:xfrm>
        </p:spPr>
        <p:txBody>
          <a:bodyPr anchor="ctr">
            <a:normAutofit/>
          </a:bodyPr>
          <a:lstStyle>
            <a:lvl1pPr algn="ctr">
              <a:lnSpc>
                <a:spcPct val="120000"/>
              </a:lnSpc>
              <a:defRPr sz="2800" b="0" cap="all" spc="300" baseline="0">
                <a:solidFill>
                  <a:schemeClr val="bg1"/>
                </a:solidFill>
                <a:latin typeface="+mn-lt"/>
              </a:defRPr>
            </a:lvl1pPr>
          </a:lstStyle>
          <a:p>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1060704" y="704088"/>
            <a:ext cx="10661904" cy="3849624"/>
          </a:xfrm>
        </p:spPr>
        <p:txBody>
          <a:bodyPr anchor="b">
            <a:normAutofit/>
          </a:bodyPr>
          <a:lstStyle>
            <a:lvl1pPr marL="0" indent="0" algn="ctr">
              <a:buNone/>
              <a:defRPr sz="27000" b="1">
                <a:solidFill>
                  <a:schemeClr val="tx1"/>
                </a:solidFill>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774365B4-2BDD-42A8-8AD0-4FD66D3F5C4E}" type="datetime2">
              <a:rPr lang="en-US" smtClean="0"/>
              <a:t>Saturday, September 26, 2026</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059295104"/>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Number Larg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BB2D57-DDE5-A73E-9F8B-DA3ACB699FFB}"/>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F366F834-30C7-711B-1DA9-E85C7CC17F11}"/>
              </a:ext>
              <a:ext uri="{C183D7F6-B498-43B3-948B-1728B52AA6E4}">
                <adec:decorative xmlns:adec="http://schemas.microsoft.com/office/drawing/2017/decorative" val="1"/>
              </a:ext>
            </a:extLst>
          </p:cNvPr>
          <p:cNvSpPr/>
          <p:nvPr/>
        </p:nvSpPr>
        <p:spPr>
          <a:xfrm flipH="1">
            <a:off x="18287" y="-2522"/>
            <a:ext cx="12192000" cy="6865568"/>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766A7B6-C07F-DDF6-2DA7-A25316E3DB49}"/>
              </a:ext>
              <a:ext uri="{C183D7F6-B498-43B3-948B-1728B52AA6E4}">
                <adec:decorative xmlns:adec="http://schemas.microsoft.com/office/drawing/2017/decorative" val="1"/>
              </a:ext>
            </a:extLst>
          </p:cNvPr>
          <p:cNvSpPr/>
          <p:nvPr/>
        </p:nvSpPr>
        <p:spPr>
          <a:xfrm>
            <a:off x="-7227" y="-5045"/>
            <a:ext cx="12217513" cy="6868091"/>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D61767CC-CF27-DF8F-8449-932B71E7F814}"/>
              </a:ext>
              <a:ext uri="{C183D7F6-B498-43B3-948B-1728B52AA6E4}">
                <adec:decorative xmlns:adec="http://schemas.microsoft.com/office/drawing/2017/decorative" val="1"/>
              </a:ext>
            </a:extLst>
          </p:cNvPr>
          <p:cNvSpPr/>
          <p:nvPr/>
        </p:nvSpPr>
        <p:spPr>
          <a:xfrm rot="10800000" flipH="1">
            <a:off x="429475" y="-5045"/>
            <a:ext cx="11788038"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FCDF59EC-E66B-10C0-FD29-4F5A7C07CC05}"/>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id="{014A4547-53B1-493D-CE90-DA2AB946D64A}"/>
              </a:ext>
              <a:ext uri="{C183D7F6-B498-43B3-948B-1728B52AA6E4}">
                <adec:decorative xmlns:adec="http://schemas.microsoft.com/office/drawing/2017/decorative" val="1"/>
              </a:ext>
            </a:extLst>
          </p:cNvPr>
          <p:cNvSpPr/>
          <p:nvPr/>
        </p:nvSpPr>
        <p:spPr>
          <a:xfrm rot="16200000">
            <a:off x="-900224" y="892997"/>
            <a:ext cx="6860522" cy="5074531"/>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2057400" y="4809744"/>
            <a:ext cx="8156448" cy="1545336"/>
          </a:xfrm>
        </p:spPr>
        <p:txBody>
          <a:bodyPr anchor="t">
            <a:normAutofit/>
          </a:bodyPr>
          <a:lstStyle>
            <a:lvl1pPr algn="ctr">
              <a:lnSpc>
                <a:spcPct val="120000"/>
              </a:lnSpc>
              <a:defRPr sz="2800" b="0" cap="all" spc="300" baseline="0">
                <a:solidFill>
                  <a:schemeClr val="tx1"/>
                </a:solidFill>
                <a:latin typeface="+mn-lt"/>
              </a:defRPr>
            </a:lvl1pPr>
          </a:lstStyle>
          <a:p>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822960" y="603504"/>
            <a:ext cx="10543032" cy="4114800"/>
          </a:xfrm>
        </p:spPr>
        <p:txBody>
          <a:bodyPr anchor="b">
            <a:normAutofit/>
          </a:bodyPr>
          <a:lstStyle>
            <a:lvl1pPr marL="0" indent="0" algn="ctr">
              <a:buNone/>
              <a:defRPr sz="25000" b="1">
                <a:solidFill>
                  <a:schemeClr val="tx1"/>
                </a:solidFill>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tx1"/>
                </a:solidFill>
              </a:defRPr>
            </a:lvl1pPr>
          </a:lstStyle>
          <a:p>
            <a:fld id="{18042AE0-E8A0-4C07-BDCE-3F5EAB477031}" type="datetime2">
              <a:rPr lang="en-US" smtClean="0"/>
              <a:t>Saturday, September 26, 2026</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74059127"/>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731520" y="4809744"/>
            <a:ext cx="5897880" cy="1353312"/>
          </a:xfrm>
        </p:spPr>
        <p:txBody>
          <a:bodyPr vert="horz" lIns="91440" tIns="45720" rIns="91440" bIns="45720" rtlCol="0" anchor="t">
            <a:normAutofit/>
          </a:bodyPr>
          <a:lstStyle>
            <a:lvl1pPr>
              <a:lnSpc>
                <a:spcPct val="120000"/>
              </a:lnSpc>
              <a:defRPr lang="en-US" sz="2800" b="0" dirty="0">
                <a:latin typeface="+mn-lt"/>
              </a:defRPr>
            </a:lvl1pPr>
          </a:lstStyle>
          <a:p>
            <a:pPr lvl="0"/>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731520" y="603504"/>
            <a:ext cx="10863072" cy="4206240"/>
          </a:xfrm>
        </p:spPr>
        <p:txBody>
          <a:bodyPr vert="horz" lIns="91440" tIns="45720" rIns="91440" bIns="45720" rtlCol="0" anchor="b">
            <a:normAutofit/>
          </a:bodyPr>
          <a:lstStyle>
            <a:lvl1pPr marL="0" indent="0">
              <a:buNone/>
              <a:defRPr lang="en-US" sz="27800" b="1" dirty="0">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118D1234-C791-4FA0-B7BF-3B97E1AFD349}" type="datetime2">
              <a:rPr lang="en-US" smtClean="0"/>
              <a:t>Saturday, September 26, 2026</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6174268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FA70C64-A82F-539E-FA22-E9EDFA88F0CB}"/>
              </a:ext>
              <a:ext uri="{C183D7F6-B498-43B3-948B-1728B52AA6E4}">
                <adec:decorative xmlns:adec="http://schemas.microsoft.com/office/drawing/2017/decorative" val="1"/>
              </a:ext>
            </a:extLst>
          </p:cNvPr>
          <p:cNvSpPr/>
          <p:nvPr/>
        </p:nvSpPr>
        <p:spPr>
          <a:xfrm flipH="1">
            <a:off x="-1"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B51035-B1FE-075C-1780-50D3B30B2326}"/>
              </a:ext>
              <a:ext uri="{C183D7F6-B498-43B3-948B-1728B52AA6E4}">
                <adec:decorative xmlns:adec="http://schemas.microsoft.com/office/drawing/2017/decorative" val="1"/>
              </a:ext>
            </a:extLst>
          </p:cNvPr>
          <p:cNvSpPr/>
          <p:nvPr/>
        </p:nvSpPr>
        <p:spPr>
          <a:xfrm flipH="1">
            <a:off x="-6"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1594AB-F53B-583B-B352-D96F6BEA3EAE}"/>
              </a:ext>
              <a:ext uri="{C183D7F6-B498-43B3-948B-1728B52AA6E4}">
                <adec:decorative xmlns:adec="http://schemas.microsoft.com/office/drawing/2017/decorative" val="1"/>
              </a:ext>
            </a:extLst>
          </p:cNvPr>
          <p:cNvSpPr/>
          <p:nvPr/>
        </p:nvSpPr>
        <p:spPr>
          <a:xfrm rot="5400000" flipH="1">
            <a:off x="-1890835"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16DC94B-3BDB-1A55-CF02-E0ACF543DF06}"/>
              </a:ext>
              <a:ext uri="{C183D7F6-B498-43B3-948B-1728B52AA6E4}">
                <adec:decorative xmlns:adec="http://schemas.microsoft.com/office/drawing/2017/decorative" val="1"/>
              </a:ext>
            </a:extLst>
          </p:cNvPr>
          <p:cNvSpPr/>
          <p:nvPr/>
        </p:nvSpPr>
        <p:spPr>
          <a:xfrm rot="10800000">
            <a:off x="-25" y="875999"/>
            <a:ext cx="2609262"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97458" y="731520"/>
            <a:ext cx="6794097" cy="5559552"/>
          </a:xfrm>
        </p:spPr>
        <p:txBody>
          <a:bodyPr anchor="ctr">
            <a:norm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D599FD6B-A98A-41CE-AE80-E9BFC922155F}" type="datetime2">
              <a:rPr lang="en-US" smtClean="0"/>
              <a:t>Saturday, September 26,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966156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20" y="978408"/>
            <a:ext cx="10177272" cy="4837176"/>
          </a:xfrm>
        </p:spPr>
        <p:txBody>
          <a:bodyPr anchor="b">
            <a:normAutofit/>
          </a:bodyPr>
          <a:lstStyle>
            <a:lvl1pPr marL="0" indent="0">
              <a:lnSpc>
                <a:spcPct val="110000"/>
              </a:lnSpc>
              <a:buNone/>
              <a:defRPr sz="4800" b="1" cap="none" spc="100" baseline="0">
                <a:latin typeface="+mj-lt"/>
              </a:defRPr>
            </a:lvl1pPr>
            <a:lvl2pPr marL="228600" indent="0">
              <a:lnSpc>
                <a:spcPct val="110000"/>
              </a:lnSpc>
              <a:buNone/>
              <a:defRPr sz="4000" b="1" cap="none" spc="100" baseline="0">
                <a:latin typeface="+mj-lt"/>
              </a:defRPr>
            </a:lvl2pPr>
            <a:lvl3pPr marL="457200" indent="0">
              <a:lnSpc>
                <a:spcPct val="110000"/>
              </a:lnSpc>
              <a:buNone/>
              <a:defRPr sz="3600" b="1" cap="none" spc="100" baseline="0">
                <a:latin typeface="+mj-lt"/>
              </a:defRPr>
            </a:lvl3pPr>
            <a:lvl4pPr marL="685800" indent="0">
              <a:lnSpc>
                <a:spcPct val="110000"/>
              </a:lnSpc>
              <a:buNone/>
              <a:defRPr sz="3200" b="1" cap="none" spc="100" baseline="0">
                <a:latin typeface="+mj-lt"/>
              </a:defRPr>
            </a:lvl4pPr>
            <a:lvl5pPr marL="914400" indent="0">
              <a:lnSpc>
                <a:spcPct val="110000"/>
              </a:lnSpc>
              <a:buNone/>
              <a:defRPr sz="2800" b="1" cap="none" spc="100" baseline="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E952A27B-DA16-4786-8944-4B1CF34905EE}" type="datetime2">
              <a:rPr lang="en-US" smtClean="0"/>
              <a:t>Saturday, September 26,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591227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 uri="{C183D7F6-B498-43B3-948B-1728B52AA6E4}">
                <adec:decorative xmlns:adec="http://schemas.microsoft.com/office/drawing/2017/decorative" val="1"/>
              </a:ext>
            </a:extLst>
          </p:cNvPr>
          <p:cNvSpPr/>
          <p:nvPr/>
        </p:nvSpPr>
        <p:spPr>
          <a:xfrm rot="12508972">
            <a:off x="5465204" y="1877618"/>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7069311F-FD36-C119-8B93-522F477634FB}"/>
              </a:ext>
              <a:ext uri="{C183D7F6-B498-43B3-948B-1728B52AA6E4}">
                <adec:decorative xmlns:adec="http://schemas.microsoft.com/office/drawing/2017/decorative" val="1"/>
              </a:ext>
            </a:extLst>
          </p:cNvPr>
          <p:cNvSpPr/>
          <p:nvPr/>
        </p:nvSpPr>
        <p:spPr>
          <a:xfrm flipV="1">
            <a:off x="-18286" y="-5046"/>
            <a:ext cx="12221346"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19" y="731520"/>
            <a:ext cx="9181224" cy="3806425"/>
          </a:xfrm>
        </p:spPr>
        <p:txBody>
          <a:bodyPr anchor="t">
            <a:normAutofit/>
          </a:bodyPr>
          <a:lstStyle>
            <a:lvl1pPr marL="0" indent="0">
              <a:lnSpc>
                <a:spcPct val="110000"/>
              </a:lnSpc>
              <a:buNone/>
              <a:defRPr sz="4600" b="1" cap="none" spc="100" baseline="0">
                <a:latin typeface="+mj-lt"/>
              </a:defRPr>
            </a:lvl1pPr>
            <a:lvl2pPr marL="228600" indent="0">
              <a:lnSpc>
                <a:spcPct val="110000"/>
              </a:lnSpc>
              <a:buNone/>
              <a:defRPr sz="3600" b="1" cap="none" spc="100" baseline="0">
                <a:latin typeface="+mj-lt"/>
              </a:defRPr>
            </a:lvl2pPr>
            <a:lvl3pPr marL="457200" indent="0">
              <a:lnSpc>
                <a:spcPct val="110000"/>
              </a:lnSpc>
              <a:buNone/>
              <a:defRPr sz="3200" b="1" cap="none" spc="100" baseline="0">
                <a:latin typeface="+mj-lt"/>
              </a:defRPr>
            </a:lvl3pPr>
            <a:lvl4pPr marL="685800" indent="0">
              <a:lnSpc>
                <a:spcPct val="110000"/>
              </a:lnSpc>
              <a:buNone/>
              <a:defRPr sz="2800" b="1" cap="none" spc="100" baseline="0">
                <a:latin typeface="+mj-lt"/>
              </a:defRPr>
            </a:lvl4pPr>
            <a:lvl5pPr marL="914400" indent="0">
              <a:lnSpc>
                <a:spcPct val="110000"/>
              </a:lnSpc>
              <a:buNone/>
              <a:defRPr sz="2400" b="1" cap="none" spc="100" baseline="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C5DA190-1DE0-42AE-81F7-BAE9BB470D89}" type="datetime2">
              <a:rPr lang="en-US" smtClean="0"/>
              <a:t>Saturday, September 26,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0762574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C6A6A9-A341-BF9D-FA80-3868D42AC72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59BFB5-5C25-0FCB-27C7-A478767CACAC}"/>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B5F22C-2988-B6EC-AA0B-D03BCA1A0B45}"/>
              </a:ext>
              <a:ext uri="{C183D7F6-B498-43B3-948B-1728B52AA6E4}">
                <adec:decorative xmlns:adec="http://schemas.microsoft.com/office/drawing/2017/decorative" val="1"/>
              </a:ext>
            </a:extLst>
          </p:cNvPr>
          <p:cNvSpPr/>
          <p:nvPr/>
        </p:nvSpPr>
        <p:spPr>
          <a:xfrm rot="10800000" flipH="1">
            <a:off x="1009651" y="4853253"/>
            <a:ext cx="10172700"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509EC5E-5DB0-5907-06E8-B18F1AE29144}"/>
              </a:ext>
              <a:ext uri="{C183D7F6-B498-43B3-948B-1728B52AA6E4}">
                <adec:decorative xmlns:adec="http://schemas.microsoft.com/office/drawing/2017/decorative" val="1"/>
              </a:ext>
            </a:extLst>
          </p:cNvPr>
          <p:cNvSpPr/>
          <p:nvPr/>
        </p:nvSpPr>
        <p:spPr>
          <a:xfrm flipH="1">
            <a:off x="1009648" y="4853256"/>
            <a:ext cx="710565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499616" y="5020056"/>
            <a:ext cx="9198864" cy="649224"/>
          </a:xfrm>
        </p:spPr>
        <p:txBody>
          <a:bodyPr anchor="ctr">
            <a:normAutofit/>
          </a:bodyPr>
          <a:lstStyle>
            <a:lvl1pPr algn="ctr">
              <a:lnSpc>
                <a:spcPct val="120000"/>
              </a:lnSpc>
              <a:defRPr sz="1600" b="1" cap="all" spc="400" baseline="0">
                <a:solidFill>
                  <a:schemeClr val="bg1"/>
                </a:solidFill>
                <a:latin typeface="+mn-lt"/>
              </a:defRPr>
            </a:lvl1pPr>
          </a:lstStyle>
          <a:p>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2020824" y="1737360"/>
            <a:ext cx="8156448" cy="2569464"/>
          </a:xfrm>
        </p:spPr>
        <p:txBody>
          <a:bodyPr anchor="ctr">
            <a:normAutofit/>
          </a:bodyPr>
          <a:lstStyle>
            <a:lvl1pPr marL="0" indent="0" algn="ctr">
              <a:lnSpc>
                <a:spcPct val="110000"/>
              </a:lnSpc>
              <a:buNone/>
              <a:defRPr sz="3500">
                <a:latin typeface="+mj-lt"/>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2100A192-F923-4AB4-BDCC-6ACB26A0AAAE}" type="datetime2">
              <a:rPr lang="en-US" smtClean="0"/>
              <a:t>Saturday, September 26, 2026</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8437626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F513F4-C880-287E-B00A-BD9B413CBEE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Rectangle 3">
            <a:extLst>
              <a:ext uri="{FF2B5EF4-FFF2-40B4-BE49-F238E27FC236}">
                <a16:creationId xmlns:a16="http://schemas.microsoft.com/office/drawing/2014/main" id="{9B08A6AB-C3A8-7501-6BC6-83CFA6C0F9A3}"/>
              </a:ext>
              <a:ext uri="{C183D7F6-B498-43B3-948B-1728B52AA6E4}">
                <adec:decorative xmlns:adec="http://schemas.microsoft.com/office/drawing/2017/decorative" val="1"/>
              </a:ext>
            </a:extLst>
          </p:cNvPr>
          <p:cNvSpPr/>
          <p:nvPr/>
        </p:nvSpPr>
        <p:spPr>
          <a:xfrm>
            <a:off x="1009651" y="1028698"/>
            <a:ext cx="10172706"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3F9668-0C20-D45C-536B-66FBB7F30C45}"/>
              </a:ext>
              <a:ext uri="{C183D7F6-B498-43B3-948B-1728B52AA6E4}">
                <adec:decorative xmlns:adec="http://schemas.microsoft.com/office/drawing/2017/decorative" val="1"/>
              </a:ext>
            </a:extLst>
          </p:cNvPr>
          <p:cNvSpPr/>
          <p:nvPr/>
        </p:nvSpPr>
        <p:spPr>
          <a:xfrm flipH="1">
            <a:off x="1009649" y="1028699"/>
            <a:ext cx="10174534"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8C2C855-B15C-090B-5493-3D36B8A52654}"/>
              </a:ext>
              <a:ext uri="{C183D7F6-B498-43B3-948B-1728B52AA6E4}">
                <adec:decorative xmlns:adec="http://schemas.microsoft.com/office/drawing/2017/decorative" val="1"/>
              </a:ext>
            </a:extLst>
          </p:cNvPr>
          <p:cNvSpPr/>
          <p:nvPr/>
        </p:nvSpPr>
        <p:spPr>
          <a:xfrm rot="10800000" flipH="1">
            <a:off x="1005991" y="4421079"/>
            <a:ext cx="10176358"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81CB20-1010-8C73-0086-CAB904E4B99D}"/>
              </a:ext>
              <a:ext uri="{C183D7F6-B498-43B3-948B-1728B52AA6E4}">
                <adec:decorative xmlns:adec="http://schemas.microsoft.com/office/drawing/2017/decorative" val="1"/>
              </a:ext>
            </a:extLst>
          </p:cNvPr>
          <p:cNvSpPr/>
          <p:nvPr/>
        </p:nvSpPr>
        <p:spPr>
          <a:xfrm rot="5400000" flipH="1">
            <a:off x="3568444" y="-1531928"/>
            <a:ext cx="4800598" cy="9921854"/>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792224" y="4736592"/>
            <a:ext cx="8349303" cy="795528"/>
          </a:xfrm>
        </p:spPr>
        <p:txBody>
          <a:bodyPr vert="horz" lIns="91440" tIns="45720" rIns="91440" bIns="45720" rtlCol="0" anchor="ctr">
            <a:normAutofit/>
          </a:bodyPr>
          <a:lstStyle>
            <a:lvl1pPr>
              <a:lnSpc>
                <a:spcPct val="120000"/>
              </a:lnSpc>
              <a:defRPr lang="en-US" sz="2200" cap="all" spc="400" baseline="0" dirty="0">
                <a:solidFill>
                  <a:schemeClr val="tx1"/>
                </a:solidFill>
              </a:defRPr>
            </a:lvl1pPr>
          </a:lstStyle>
          <a:p>
            <a:pPr lvl="0"/>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655064" y="1481328"/>
            <a:ext cx="8001000" cy="2752344"/>
          </a:xfrm>
        </p:spPr>
        <p:txBody>
          <a:bodyPr vert="horz" lIns="91440" tIns="45720" rIns="91440" bIns="45720" rtlCol="0" anchor="ctr">
            <a:normAutofit/>
          </a:bodyPr>
          <a:lstStyle>
            <a:lvl1pPr marL="128016" indent="-137160">
              <a:lnSpc>
                <a:spcPct val="110000"/>
              </a:lnSpc>
              <a:buNone/>
              <a:defRPr lang="en-US" sz="3200" dirty="0">
                <a:solidFill>
                  <a:schemeClr val="tx1"/>
                </a:solidFill>
                <a:latin typeface="+mj-lt"/>
              </a:defRPr>
            </a:lvl1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bg1"/>
                </a:solidFill>
              </a:defRPr>
            </a:lvl1pPr>
          </a:lstStyle>
          <a:p>
            <a:fld id="{F3769460-8E62-40CA-83A8-CB830C3D7F18}" type="datetime2">
              <a:rPr lang="en-US" smtClean="0"/>
              <a:t>Saturday, September 26, 2026</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6308584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9A9201-705F-55B6-3F46-D68411A32E2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4BBA50-2898-3426-D749-CD2833395810}"/>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6BEDF5-EA71-E3BD-29EA-A8A58B1227EE}"/>
              </a:ext>
              <a:ext uri="{C183D7F6-B498-43B3-948B-1728B52AA6E4}">
                <adec:decorative xmlns:adec="http://schemas.microsoft.com/office/drawing/2017/decorative" val="1"/>
              </a:ext>
            </a:extLst>
          </p:cNvPr>
          <p:cNvSpPr/>
          <p:nvPr/>
        </p:nvSpPr>
        <p:spPr>
          <a:xfrm flipH="1">
            <a:off x="8115303" y="1028698"/>
            <a:ext cx="3086100"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2ABA6F75-CEBF-CDAC-9F4B-3C794F813211}"/>
              </a:ext>
              <a:ext uri="{C183D7F6-B498-43B3-948B-1728B52AA6E4}">
                <adec:decorative xmlns:adec="http://schemas.microsoft.com/office/drawing/2017/decorative" val="1"/>
              </a:ext>
            </a:extLst>
          </p:cNvPr>
          <p:cNvSpPr/>
          <p:nvPr/>
        </p:nvSpPr>
        <p:spPr>
          <a:xfrm rot="10800000" flipH="1">
            <a:off x="8124832" y="1028696"/>
            <a:ext cx="3076572"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8531352" y="1792224"/>
            <a:ext cx="2322576" cy="3465576"/>
          </a:xfrm>
        </p:spPr>
        <p:txBody>
          <a:bodyPr anchor="ctr">
            <a:normAutofit/>
          </a:bodyPr>
          <a:lstStyle>
            <a:lvl1pPr algn="ctr">
              <a:lnSpc>
                <a:spcPct val="120000"/>
              </a:lnSpc>
              <a:defRPr sz="1600" b="0" cap="all" spc="400" baseline="0">
                <a:solidFill>
                  <a:schemeClr val="bg1"/>
                </a:solidFill>
                <a:latin typeface="+mn-lt"/>
              </a:defRPr>
            </a:lvl1pPr>
          </a:lstStyle>
          <a:p>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737360" y="1399032"/>
            <a:ext cx="5751576" cy="4041648"/>
          </a:xfrm>
        </p:spPr>
        <p:txBody>
          <a:bodyPr vert="horz" lIns="91440" tIns="45720" rIns="91440" bIns="45720" rtlCol="0" anchor="ctr">
            <a:normAutofit/>
          </a:bodyPr>
          <a:lstStyle>
            <a:lvl1pPr marL="182880" indent="-182880">
              <a:lnSpc>
                <a:spcPct val="110000"/>
              </a:lnSpc>
              <a:spcBef>
                <a:spcPts val="0"/>
              </a:spcBef>
              <a:buNone/>
              <a:defRPr lang="en-US" sz="3400" b="1" dirty="0">
                <a:latin typeface="+mj-lt"/>
              </a:defRPr>
            </a:lvl1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4D9BF413-3F81-4C14-A195-E47B863670C3}" type="datetime2">
              <a:rPr lang="en-US" smtClean="0"/>
              <a:t>Saturday, September 26, 2026</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7990669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1" y="294248"/>
            <a:ext cx="10844784" cy="958480"/>
          </a:xfrm>
        </p:spPr>
        <p:txBody>
          <a:body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0D0CE8AB-DD53-DE37-0172-0F4C2D9FEBDA}"/>
              </a:ext>
            </a:extLst>
          </p:cNvPr>
          <p:cNvSpPr>
            <a:spLocks noGrp="1"/>
          </p:cNvSpPr>
          <p:nvPr>
            <p:ph sz="quarter" idx="15"/>
          </p:nvPr>
        </p:nvSpPr>
        <p:spPr>
          <a:xfrm>
            <a:off x="731838"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3467A339-2191-25DF-DA14-F9F1C27E8EBD}"/>
              </a:ext>
            </a:extLst>
          </p:cNvPr>
          <p:cNvSpPr>
            <a:spLocks noGrp="1"/>
          </p:cNvSpPr>
          <p:nvPr>
            <p:ph sz="quarter" idx="16"/>
          </p:nvPr>
        </p:nvSpPr>
        <p:spPr>
          <a:xfrm>
            <a:off x="6500813"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3F1486C-F518-4593-A9F9-71F14C909BBB}" type="datetime2">
              <a:rPr lang="en-US" smtClean="0"/>
              <a:t>Saturday, September 26,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241921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31520" y="292608"/>
            <a:ext cx="10844784" cy="960120"/>
          </a:xfrm>
        </p:spPr>
        <p:txBody>
          <a:body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07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D0ED8F7-2A3F-80A9-EF90-A2A4073C69D3}"/>
              </a:ext>
            </a:extLst>
          </p:cNvPr>
          <p:cNvSpPr>
            <a:spLocks noGrp="1"/>
          </p:cNvSpPr>
          <p:nvPr>
            <p:ph sz="quarter" idx="15"/>
          </p:nvPr>
        </p:nvSpPr>
        <p:spPr>
          <a:xfrm>
            <a:off x="731838" y="2020888"/>
            <a:ext cx="507365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14">
            <a:extLst>
              <a:ext uri="{FF2B5EF4-FFF2-40B4-BE49-F238E27FC236}">
                <a16:creationId xmlns:a16="http://schemas.microsoft.com/office/drawing/2014/main" id="{5D723F4E-0022-57BD-B68A-67BA61881741}"/>
              </a:ext>
            </a:extLst>
          </p:cNvPr>
          <p:cNvSpPr>
            <a:spLocks noGrp="1"/>
          </p:cNvSpPr>
          <p:nvPr>
            <p:ph sz="quarter" idx="16"/>
          </p:nvPr>
        </p:nvSpPr>
        <p:spPr>
          <a:xfrm>
            <a:off x="6500813" y="2020888"/>
            <a:ext cx="5075237"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54DDA2C-4D95-4DB6-BF4A-4F688D05F62F}" type="datetime2">
              <a:rPr lang="en-US" smtClean="0"/>
              <a:t>Saturday, September 26, 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3798346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31520" y="292608"/>
            <a:ext cx="9985248" cy="96012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2AE4565-505C-457E-BFE9-7CA5ED3C51C4}" type="datetime2">
              <a:rPr lang="en-US" smtClean="0"/>
              <a:t>Saturday, September 26, 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881477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E882EFDC-6A75-4D73-91E7-2ECC26E96D93}" type="datetime2">
              <a:rPr lang="en-US" smtClean="0"/>
              <a:t>Saturday, September 26, 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029277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2800"/>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2"/>
            <a:ext cx="3309608" cy="3824566"/>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39309" cy="558207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4B8D072B-0F30-4743-AD00-90BD7F92FC91}" type="datetime2">
              <a:rPr lang="en-US" smtClean="0"/>
              <a:t>Saturday, September 26, 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148819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31520" y="557784"/>
            <a:ext cx="3713996" cy="221231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31520" y="2826137"/>
            <a:ext cx="3310128"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hasCustomPrompt="1"/>
          </p:nvPr>
        </p:nvSpPr>
        <p:spPr>
          <a:xfrm>
            <a:off x="5421313" y="603504"/>
            <a:ext cx="6154737" cy="5376510"/>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F8FF1A8-4BF9-4B7D-9A44-0F91B76D49BD}" type="datetime2">
              <a:rPr lang="en-US" smtClean="0"/>
              <a:t>Saturday, September 26, 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2339515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1DC8D0-ECB3-9C81-4ADA-D2C30B00B146}"/>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A9673D-65B2-D6C4-C53F-8652E7E8A8A2}"/>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2E07E3-56CC-285D-C461-695C95F6ECD4}"/>
              </a:ext>
              <a:ext uri="{C183D7F6-B498-43B3-948B-1728B52AA6E4}">
                <adec:decorative xmlns:adec="http://schemas.microsoft.com/office/drawing/2017/decorative" val="1"/>
              </a:ext>
            </a:extLst>
          </p:cNvPr>
          <p:cNvSpPr/>
          <p:nvPr/>
        </p:nvSpPr>
        <p:spPr>
          <a:xfrm rot="10800000">
            <a:off x="8115300" y="-1"/>
            <a:ext cx="4076700"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013C450-5422-C684-DC49-499D1A1B957B}"/>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10881360" cy="1728216"/>
          </a:xfrm>
        </p:spPr>
        <p:txBody>
          <a:bodyPr anchor="b">
            <a:normAutofit/>
          </a:bodyPr>
          <a:lstStyle>
            <a:lvl1pPr>
              <a:defRPr sz="60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3657600"/>
            <a:ext cx="1088136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F7636FB-A6BA-4E3C-9023-5FBFE4689724}"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79445023"/>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617130E-6216-789E-BE08-6D1E3E75622B}"/>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499983-7B9C-7C3D-25C2-1715A4226DE4}"/>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492B90-6109-F01B-1ABB-6BED7A1F1389}"/>
              </a:ext>
              <a:ext uri="{C183D7F6-B498-43B3-948B-1728B52AA6E4}">
                <adec:decorative xmlns:adec="http://schemas.microsoft.com/office/drawing/2017/decorative" val="1"/>
              </a:ext>
            </a:extLst>
          </p:cNvPr>
          <p:cNvSpPr/>
          <p:nvPr/>
        </p:nvSpPr>
        <p:spPr>
          <a:xfrm rot="10800000">
            <a:off x="8115300" y="-5"/>
            <a:ext cx="4076700"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8F1BDFB-261A-F796-17BC-584DAB2E77B1}"/>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9994392" cy="1728216"/>
          </a:xfrm>
        </p:spPr>
        <p:txBody>
          <a:bodyPr anchor="b">
            <a:normAutofit/>
          </a:bodyPr>
          <a:lstStyle>
            <a:lvl1pPr>
              <a:defRPr sz="60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931920"/>
            <a:ext cx="9994392" cy="1806728"/>
          </a:xfrm>
        </p:spPr>
        <p:txBody>
          <a:bodyPr vert="horz" lIns="91440" tIns="45720" rIns="91440" bIns="45720" rtlCol="0">
            <a:norm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BFE3FE3-B74C-4213-AB2F-60F99F3419C3}"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90825871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 uri="{C183D7F6-B498-43B3-948B-1728B52AA6E4}">
                <adec:decorative xmlns:adec="http://schemas.microsoft.com/office/drawing/2017/decorative" val="1"/>
              </a:ext>
            </a:extLst>
          </p:cNvPr>
          <p:cNvSpPr/>
          <p:nvPr/>
        </p:nvSpPr>
        <p:spPr>
          <a:xfrm rot="10800000" flipH="1">
            <a:off x="0" y="6410026"/>
            <a:ext cx="12192000" cy="448056"/>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965722-DE3B-A05F-AE94-E31AF26EBF9D}"/>
              </a:ext>
              <a:ext uri="{C183D7F6-B498-43B3-948B-1728B52AA6E4}">
                <adec:decorative xmlns:adec="http://schemas.microsoft.com/office/drawing/2017/decorative" val="1"/>
              </a:ext>
            </a:extLst>
          </p:cNvPr>
          <p:cNvSpPr/>
          <p:nvPr/>
        </p:nvSpPr>
        <p:spPr>
          <a:xfrm flipH="1">
            <a:off x="4076700" y="6409937"/>
            <a:ext cx="8115298" cy="448063"/>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33272" y="347472"/>
            <a:ext cx="9985248" cy="132588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33272" y="1837944"/>
            <a:ext cx="9985248" cy="43525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581912" y="1682496"/>
            <a:ext cx="3557016" cy="36576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22008" y="6455664"/>
            <a:ext cx="4672584"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39174FB3-ACF6-4A9B-9D1F-91EEB8A6966E}" type="datetime2">
              <a:rPr lang="en-US" smtClean="0"/>
              <a:t>Saturday, September 26, 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6304" y="6455664"/>
            <a:ext cx="54864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390171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Lst>
  <p:hf sldNum="0"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DE52EB9-288C-A1A3-A942-38337FC50BE6}"/>
              </a:ext>
            </a:extLst>
          </p:cNvPr>
          <p:cNvSpPr txBox="1"/>
          <p:nvPr/>
        </p:nvSpPr>
        <p:spPr>
          <a:xfrm>
            <a:off x="328507" y="1447800"/>
            <a:ext cx="6008915" cy="2349500"/>
          </a:xfrm>
          <a:prstGeom prst="rect">
            <a:avLst/>
          </a:prstGeom>
        </p:spPr>
        <p:txBody>
          <a:bodyPr vert="horz" lIns="91440" tIns="45720" rIns="91440" bIns="45720" rtlCol="0" anchor="b">
            <a:noAutofit/>
          </a:bodyPr>
          <a:lstStyle/>
          <a:p>
            <a:pPr>
              <a:lnSpc>
                <a:spcPct val="120000"/>
              </a:lnSpc>
              <a:spcBef>
                <a:spcPts val="1000"/>
              </a:spcBef>
            </a:pPr>
            <a:r>
              <a:rPr lang="en-US" sz="3600" b="1" dirty="0">
                <a:solidFill>
                  <a:srgbClr val="006EB5"/>
                </a:solidFill>
                <a:latin typeface="Segoe UI Semibold" panose="020B0702040204020203" pitchFamily="34" charset="0"/>
                <a:cs typeface="Segoe UI Semibold" panose="020B0702040204020203" pitchFamily="34" charset="0"/>
              </a:rPr>
              <a:t>PROGRAMME PROGRESS REPORT </a:t>
            </a:r>
          </a:p>
          <a:p>
            <a:pPr>
              <a:lnSpc>
                <a:spcPct val="120000"/>
              </a:lnSpc>
              <a:spcBef>
                <a:spcPts val="1000"/>
              </a:spcBef>
            </a:pPr>
            <a:r>
              <a:rPr lang="en-US" b="1" dirty="0">
                <a:solidFill>
                  <a:srgbClr val="006EB5"/>
                </a:solidFill>
                <a:latin typeface="Segoe UI Semibold" panose="020B0702040204020203" pitchFamily="34" charset="0"/>
                <a:cs typeface="Segoe UI Semibold" panose="020B0702040204020203" pitchFamily="34" charset="0"/>
              </a:rPr>
              <a:t>Jan-Sep 2026 </a:t>
            </a:r>
          </a:p>
          <a:p>
            <a:pPr>
              <a:lnSpc>
                <a:spcPct val="100000"/>
              </a:lnSpc>
              <a:spcBef>
                <a:spcPts val="1000"/>
              </a:spcBef>
            </a:pPr>
            <a:r>
              <a:rPr lang="en-SE" b="1" dirty="0">
                <a:solidFill>
                  <a:srgbClr val="006EB5"/>
                </a:solidFill>
                <a:latin typeface="Segoe UI Semibold" panose="020B0702040204020203" pitchFamily="34" charset="0"/>
                <a:cs typeface="Segoe UI Semibold" panose="020B0702040204020203" pitchFamily="34" charset="0"/>
              </a:rPr>
              <a:t>Programme Delivery, Beneficiary Reach and Geographic Impact</a:t>
            </a:r>
          </a:p>
          <a:p>
            <a:pPr>
              <a:lnSpc>
                <a:spcPct val="120000"/>
              </a:lnSpc>
              <a:spcBef>
                <a:spcPts val="1000"/>
              </a:spcBef>
            </a:pPr>
            <a:endParaRPr lang="en-US" b="1" dirty="0">
              <a:solidFill>
                <a:srgbClr val="006EB5"/>
              </a:solidFill>
              <a:latin typeface="Segoe UI Semibold" panose="020B0702040204020203" pitchFamily="34" charset="0"/>
              <a:cs typeface="Segoe UI Semibold" panose="020B0702040204020203" pitchFamily="34" charset="0"/>
            </a:endParaRPr>
          </a:p>
        </p:txBody>
      </p:sp>
      <p:sp>
        <p:nvSpPr>
          <p:cNvPr id="3" name="Rectangle 2">
            <a:extLst>
              <a:ext uri="{FF2B5EF4-FFF2-40B4-BE49-F238E27FC236}">
                <a16:creationId xmlns:a16="http://schemas.microsoft.com/office/drawing/2014/main" id="{E7A07C67-7F8E-D430-4AFF-655EBB0C143D}"/>
              </a:ext>
            </a:extLst>
          </p:cNvPr>
          <p:cNvSpPr/>
          <p:nvPr/>
        </p:nvSpPr>
        <p:spPr>
          <a:xfrm>
            <a:off x="0" y="6356350"/>
            <a:ext cx="12192000" cy="501650"/>
          </a:xfrm>
          <a:prstGeom prst="rect">
            <a:avLst/>
          </a:prstGeom>
          <a:solidFill>
            <a:srgbClr val="006E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7" name="Picture 6">
            <a:extLst>
              <a:ext uri="{FF2B5EF4-FFF2-40B4-BE49-F238E27FC236}">
                <a16:creationId xmlns:a16="http://schemas.microsoft.com/office/drawing/2014/main" id="{DE0167EA-CE02-560E-F6BE-01E88C383807}"/>
              </a:ext>
            </a:extLst>
          </p:cNvPr>
          <p:cNvPicPr>
            <a:picLocks noChangeAspect="1"/>
          </p:cNvPicPr>
          <p:nvPr/>
        </p:nvPicPr>
        <p:blipFill>
          <a:blip r:embed="rId3"/>
          <a:srcRect t="13531" b="15741"/>
          <a:stretch>
            <a:fillRect/>
          </a:stretch>
        </p:blipFill>
        <p:spPr>
          <a:xfrm>
            <a:off x="6096000" y="108373"/>
            <a:ext cx="5767493" cy="6118884"/>
          </a:xfrm>
          <a:prstGeom prst="rect">
            <a:avLst/>
          </a:prstGeom>
        </p:spPr>
      </p:pic>
    </p:spTree>
    <p:extLst>
      <p:ext uri="{BB962C8B-B14F-4D97-AF65-F5344CB8AC3E}">
        <p14:creationId xmlns:p14="http://schemas.microsoft.com/office/powerpoint/2010/main" val="1952794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EF7A8-71B8-A569-EC0B-A944A5E2E5C1}"/>
              </a:ext>
            </a:extLst>
          </p:cNvPr>
          <p:cNvSpPr>
            <a:spLocks noGrp="1"/>
          </p:cNvSpPr>
          <p:nvPr>
            <p:ph type="title"/>
          </p:nvPr>
        </p:nvSpPr>
        <p:spPr>
          <a:xfrm>
            <a:off x="731520" y="292608"/>
            <a:ext cx="10844784" cy="537816"/>
          </a:xfrm>
        </p:spPr>
        <p:txBody>
          <a:bodyPr anchor="b">
            <a:normAutofit/>
          </a:bodyPr>
          <a:lstStyle/>
          <a:p>
            <a:r>
              <a:rPr lang="en-US" dirty="0"/>
              <a:t>Context, Purpose, and Scope of the Progress Report</a:t>
            </a:r>
          </a:p>
        </p:txBody>
      </p:sp>
      <p:sp>
        <p:nvSpPr>
          <p:cNvPr id="4" name="Content Placeholder 3">
            <a:extLst>
              <a:ext uri="{FF2B5EF4-FFF2-40B4-BE49-F238E27FC236}">
                <a16:creationId xmlns:a16="http://schemas.microsoft.com/office/drawing/2014/main" id="{20648E94-D67C-7B40-F0EA-2EAA0C4747DE}"/>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5618" y="1371600"/>
            <a:ext cx="5370382" cy="4021494"/>
          </a:xfrm>
        </p:spPr>
        <p:txBody>
          <a:bodyPr>
            <a:normAutofit fontScale="92500" lnSpcReduction="10000"/>
          </a:bodyPr>
          <a:lstStyle/>
          <a:p>
            <a:pPr fontAlgn="t">
              <a:buNone/>
            </a:pPr>
            <a:r>
              <a:rPr lang="en-SD" b="1" dirty="0"/>
              <a:t>Challenging Context</a:t>
            </a:r>
          </a:p>
          <a:p>
            <a:pPr fontAlgn="t">
              <a:buNone/>
            </a:pPr>
            <a:r>
              <a:rPr lang="en-SD" dirty="0"/>
              <a:t>Sudan continues to face conflict, displacement, food insecurity, and economic pressures, placing significant strain on communities and essential services.</a:t>
            </a:r>
          </a:p>
          <a:p>
            <a:pPr fontAlgn="t">
              <a:buNone/>
            </a:pPr>
            <a:r>
              <a:rPr lang="en-SD" b="1" dirty="0"/>
              <a:t>Purpose</a:t>
            </a:r>
          </a:p>
          <a:p>
            <a:pPr fontAlgn="t">
              <a:buNone/>
            </a:pPr>
            <a:r>
              <a:rPr lang="en-SD" dirty="0"/>
              <a:t>To present programme results and beneficiary reach against the 2026 </a:t>
            </a:r>
            <a:r>
              <a:rPr lang="en-US" dirty="0"/>
              <a:t> </a:t>
            </a:r>
            <a:r>
              <a:rPr lang="en-SD" dirty="0"/>
              <a:t>planned targets.</a:t>
            </a:r>
          </a:p>
          <a:p>
            <a:pPr fontAlgn="t">
              <a:buNone/>
            </a:pPr>
            <a:r>
              <a:rPr lang="en-SD" b="1" dirty="0"/>
              <a:t>Scope</a:t>
            </a:r>
          </a:p>
          <a:p>
            <a:pPr fontAlgn="t">
              <a:buNone/>
            </a:pPr>
            <a:r>
              <a:rPr lang="en-SD" dirty="0"/>
              <a:t>Covers progress across UNDP Sudan’s four programme pillars through key results, analysis, and visual summaries.</a:t>
            </a:r>
          </a:p>
          <a:p>
            <a:pPr fontAlgn="t">
              <a:buNone/>
            </a:pPr>
            <a:r>
              <a:rPr lang="en-SD" b="1" dirty="0"/>
              <a:t>Strategic Focus</a:t>
            </a:r>
          </a:p>
          <a:p>
            <a:pPr fontAlgn="t">
              <a:buNone/>
            </a:pPr>
            <a:r>
              <a:rPr lang="en-SD" dirty="0"/>
              <a:t>Supports evidence-based decision-making and prioritization of interventions for the remainder of 2026.</a:t>
            </a:r>
          </a:p>
        </p:txBody>
      </p:sp>
      <p:pic>
        <p:nvPicPr>
          <p:cNvPr id="10" name="Picture 9" descr="A map of the state of the united states&#10;&#10;AI-generated content may be incorrect.">
            <a:extLst>
              <a:ext uri="{FF2B5EF4-FFF2-40B4-BE49-F238E27FC236}">
                <a16:creationId xmlns:a16="http://schemas.microsoft.com/office/drawing/2014/main" id="{6B4B55AD-2D12-5CEE-D37E-C6E1D3BBAC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83876" y="1563333"/>
            <a:ext cx="5737471" cy="3829761"/>
          </a:xfrm>
          <a:prstGeom prst="rect">
            <a:avLst/>
          </a:prstGeom>
          <a:noFill/>
        </p:spPr>
      </p:pic>
      <p:sp>
        <p:nvSpPr>
          <p:cNvPr id="5" name="Rectangle 4">
            <a:extLst>
              <a:ext uri="{FF2B5EF4-FFF2-40B4-BE49-F238E27FC236}">
                <a16:creationId xmlns:a16="http://schemas.microsoft.com/office/drawing/2014/main" id="{644647BA-3690-24B4-7891-3F92D5224E0F}"/>
              </a:ext>
            </a:extLst>
          </p:cNvPr>
          <p:cNvSpPr/>
          <p:nvPr/>
        </p:nvSpPr>
        <p:spPr>
          <a:xfrm>
            <a:off x="0" y="6356350"/>
            <a:ext cx="12192000" cy="501650"/>
          </a:xfrm>
          <a:prstGeom prst="rect">
            <a:avLst/>
          </a:prstGeom>
          <a:solidFill>
            <a:srgbClr val="006E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21886659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CC44CD76-3033-E503-F253-840A5B2D64C3}"/>
              </a:ext>
            </a:extLst>
          </p:cNvPr>
          <p:cNvGraphicFramePr>
            <a:graphicFrameLocks noGrp="1"/>
          </p:cNvGraphicFramePr>
          <p:nvPr>
            <p:ph sz="quarter" idx="14"/>
            <p:extLst>
              <p:ext uri="{D42A27DB-BD31-4B8C-83A1-F6EECF244321}">
                <p14:modId xmlns:p14="http://schemas.microsoft.com/office/powerpoint/2010/main" val="258061538"/>
              </p:ext>
            </p:extLst>
          </p:nvPr>
        </p:nvGraphicFramePr>
        <p:xfrm>
          <a:off x="615696" y="1623527"/>
          <a:ext cx="11290553" cy="4032591"/>
        </p:xfrm>
        <a:graphic>
          <a:graphicData uri="http://schemas.openxmlformats.org/drawingml/2006/table">
            <a:tbl>
              <a:tblPr firstRow="1" firstCol="1" bandRow="1">
                <a:tableStyleId>{9D7B26C5-4107-4FEC-AEDC-1716B250A1EF}</a:tableStyleId>
              </a:tblPr>
              <a:tblGrid>
                <a:gridCol w="3276854">
                  <a:extLst>
                    <a:ext uri="{9D8B030D-6E8A-4147-A177-3AD203B41FA5}">
                      <a16:colId xmlns:a16="http://schemas.microsoft.com/office/drawing/2014/main" val="2654290718"/>
                    </a:ext>
                  </a:extLst>
                </a:gridCol>
                <a:gridCol w="1784350">
                  <a:extLst>
                    <a:ext uri="{9D8B030D-6E8A-4147-A177-3AD203B41FA5}">
                      <a16:colId xmlns:a16="http://schemas.microsoft.com/office/drawing/2014/main" val="3546428522"/>
                    </a:ext>
                  </a:extLst>
                </a:gridCol>
                <a:gridCol w="1714500">
                  <a:extLst>
                    <a:ext uri="{9D8B030D-6E8A-4147-A177-3AD203B41FA5}">
                      <a16:colId xmlns:a16="http://schemas.microsoft.com/office/drawing/2014/main" val="1776521297"/>
                    </a:ext>
                  </a:extLst>
                </a:gridCol>
                <a:gridCol w="2089150">
                  <a:extLst>
                    <a:ext uri="{9D8B030D-6E8A-4147-A177-3AD203B41FA5}">
                      <a16:colId xmlns:a16="http://schemas.microsoft.com/office/drawing/2014/main" val="742350081"/>
                    </a:ext>
                  </a:extLst>
                </a:gridCol>
                <a:gridCol w="2425699">
                  <a:extLst>
                    <a:ext uri="{9D8B030D-6E8A-4147-A177-3AD203B41FA5}">
                      <a16:colId xmlns:a16="http://schemas.microsoft.com/office/drawing/2014/main" val="3181172120"/>
                    </a:ext>
                  </a:extLst>
                </a:gridCol>
              </a:tblGrid>
              <a:tr h="891073">
                <a:tc>
                  <a:txBody>
                    <a:bodyPr/>
                    <a:lstStyle/>
                    <a:p>
                      <a:pPr algn="l">
                        <a:lnSpc>
                          <a:spcPct val="115000"/>
                        </a:lnSpc>
                        <a:buNone/>
                      </a:pPr>
                      <a:r>
                        <a:rPr lang="en-SD" sz="1800" kern="100" dirty="0">
                          <a:effectLst/>
                        </a:rPr>
                        <a:t>Pillar</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dirty="0">
                          <a:effectLst/>
                        </a:rPr>
                        <a:t>Beneficiaries Target</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dirty="0">
                          <a:effectLst/>
                        </a:rPr>
                        <a:t>Reached direct+ indirect</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dirty="0">
                          <a:effectLst/>
                        </a:rPr>
                        <a:t>% Achieved</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dirty="0">
                          <a:effectLst/>
                        </a:rPr>
                        <a:t>% of Women</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7337772"/>
                  </a:ext>
                </a:extLst>
              </a:tr>
              <a:tr h="400480">
                <a:tc>
                  <a:txBody>
                    <a:bodyPr/>
                    <a:lstStyle/>
                    <a:p>
                      <a:pPr algn="l">
                        <a:lnSpc>
                          <a:spcPct val="115000"/>
                        </a:lnSpc>
                        <a:buNone/>
                      </a:pPr>
                      <a:r>
                        <a:rPr lang="en-US" sz="1800" kern="100" dirty="0">
                          <a:effectLst/>
                        </a:rPr>
                        <a:t>Health</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a:effectLst/>
                        </a:rPr>
                        <a:t>8,511,342</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dirty="0">
                          <a:effectLst/>
                        </a:rPr>
                        <a:t>5,509,874</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a:effectLst/>
                        </a:rPr>
                        <a:t>64%</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a:effectLst/>
                        </a:rPr>
                        <a:t>61%</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712084753"/>
                  </a:ext>
                </a:extLst>
              </a:tr>
              <a:tr h="780186">
                <a:tc>
                  <a:txBody>
                    <a:bodyPr/>
                    <a:lstStyle/>
                    <a:p>
                      <a:pPr algn="l">
                        <a:lnSpc>
                          <a:spcPct val="115000"/>
                        </a:lnSpc>
                        <a:buNone/>
                      </a:pPr>
                      <a:r>
                        <a:rPr lang="en-US" sz="1800" kern="100" dirty="0">
                          <a:effectLst/>
                        </a:rPr>
                        <a:t>Livelihoods</a:t>
                      </a:r>
                      <a:r>
                        <a:rPr lang="en-SD" sz="1800" kern="100" dirty="0">
                          <a:effectLst/>
                        </a:rPr>
                        <a:t> and Economic Recovery</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a:effectLst/>
                        </a:rPr>
                        <a:t>1,610,404</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a:effectLst/>
                        </a:rPr>
                        <a:t>1,561,005</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dirty="0">
                          <a:effectLst/>
                        </a:rPr>
                        <a:t>97%</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a:effectLst/>
                        </a:rPr>
                        <a:t>36%</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753064161"/>
                  </a:ext>
                </a:extLst>
              </a:tr>
              <a:tr h="780186">
                <a:tc>
                  <a:txBody>
                    <a:bodyPr/>
                    <a:lstStyle/>
                    <a:p>
                      <a:pPr algn="l">
                        <a:lnSpc>
                          <a:spcPct val="115000"/>
                        </a:lnSpc>
                        <a:buNone/>
                      </a:pPr>
                      <a:r>
                        <a:rPr lang="en-US" sz="1800" kern="100" dirty="0">
                          <a:effectLst/>
                        </a:rPr>
                        <a:t>Peacebuilding</a:t>
                      </a:r>
                      <a:r>
                        <a:rPr lang="en-SD" sz="1800" kern="100" dirty="0">
                          <a:effectLst/>
                        </a:rPr>
                        <a:t> and Social Cohesion</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a:effectLst/>
                        </a:rPr>
                        <a:t>19,079</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a:effectLst/>
                        </a:rPr>
                        <a:t>15,943 </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dirty="0">
                          <a:effectLst/>
                        </a:rPr>
                        <a:t>84%</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dirty="0">
                          <a:effectLst/>
                        </a:rPr>
                        <a:t>44%</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570834381"/>
                  </a:ext>
                </a:extLst>
              </a:tr>
              <a:tr h="780186">
                <a:tc>
                  <a:txBody>
                    <a:bodyPr/>
                    <a:lstStyle/>
                    <a:p>
                      <a:pPr algn="l">
                        <a:lnSpc>
                          <a:spcPct val="115000"/>
                        </a:lnSpc>
                        <a:buNone/>
                      </a:pPr>
                      <a:r>
                        <a:rPr lang="en-US" sz="1800" kern="100" dirty="0">
                          <a:effectLst/>
                        </a:rPr>
                        <a:t>Climate Resilience</a:t>
                      </a:r>
                      <a:r>
                        <a:rPr lang="en-SD" sz="1800" kern="100" dirty="0">
                          <a:effectLst/>
                        </a:rPr>
                        <a:t> and Environment</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a:effectLst/>
                        </a:rPr>
                        <a:t>163,351</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a:effectLst/>
                        </a:rPr>
                        <a:t>116,001</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a:effectLst/>
                        </a:rPr>
                        <a:t>71%</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SD" sz="1800" kern="100" dirty="0">
                          <a:effectLst/>
                        </a:rPr>
                        <a:t>49%</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49603554"/>
                  </a:ext>
                </a:extLst>
              </a:tr>
              <a:tr h="400480">
                <a:tc>
                  <a:txBody>
                    <a:bodyPr/>
                    <a:lstStyle/>
                    <a:p>
                      <a:pPr algn="l">
                        <a:lnSpc>
                          <a:spcPct val="115000"/>
                        </a:lnSpc>
                        <a:buNone/>
                      </a:pPr>
                      <a:r>
                        <a:rPr lang="en-US" sz="1800" kern="100">
                          <a:effectLst/>
                        </a:rPr>
                        <a:t>Total</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US" sz="1800" kern="100">
                          <a:effectLst/>
                        </a:rPr>
                        <a:t>10,304,176</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US" sz="1800" kern="100" dirty="0">
                          <a:effectLst/>
                        </a:rPr>
                        <a:t>7,202,823</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US" sz="1800" kern="100">
                          <a:effectLst/>
                        </a:rPr>
                        <a:t>79%</a:t>
                      </a:r>
                      <a:endParaRPr lang="en-SD" sz="1800" kern="10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nchor="ctr"/>
                </a:tc>
                <a:tc>
                  <a:txBody>
                    <a:bodyPr/>
                    <a:lstStyle/>
                    <a:p>
                      <a:pPr algn="l">
                        <a:lnSpc>
                          <a:spcPct val="115000"/>
                        </a:lnSpc>
                        <a:buNone/>
                      </a:pPr>
                      <a:r>
                        <a:rPr lang="en-US" sz="1800" kern="100" dirty="0">
                          <a:effectLst/>
                        </a:rPr>
                        <a:t>48%</a:t>
                      </a:r>
                      <a:endParaRPr lang="en-SD" sz="1800" kern="100" dirty="0">
                        <a:effectLst/>
                        <a:latin typeface="Aptos" panose="020B0004020202020204" pitchFamily="34" charset="0"/>
                        <a:ea typeface="Aptos" panose="020B0004020202020204" pitchFamily="34" charset="0"/>
                        <a:cs typeface="Arial" panose="020B0604020202020204" pitchFamily="34" charset="0"/>
                      </a:endParaRPr>
                    </a:p>
                  </a:txBody>
                  <a:tcPr marL="9525" marR="9525" marT="9525" marB="9525"/>
                </a:tc>
                <a:extLst>
                  <a:ext uri="{0D108BD9-81ED-4DB2-BD59-A6C34878D82A}">
                    <a16:rowId xmlns:a16="http://schemas.microsoft.com/office/drawing/2014/main" val="3780654163"/>
                  </a:ext>
                </a:extLst>
              </a:tr>
            </a:tbl>
          </a:graphicData>
        </a:graphic>
      </p:graphicFrame>
      <p:sp>
        <p:nvSpPr>
          <p:cNvPr id="7" name="TextBox 6">
            <a:extLst>
              <a:ext uri="{FF2B5EF4-FFF2-40B4-BE49-F238E27FC236}">
                <a16:creationId xmlns:a16="http://schemas.microsoft.com/office/drawing/2014/main" id="{51C0A0E2-044E-0659-698B-BA00BB0D167B}"/>
              </a:ext>
            </a:extLst>
          </p:cNvPr>
          <p:cNvSpPr txBox="1"/>
          <p:nvPr/>
        </p:nvSpPr>
        <p:spPr>
          <a:xfrm>
            <a:off x="525780" y="410334"/>
            <a:ext cx="9372599" cy="1025922"/>
          </a:xfrm>
          <a:prstGeom prst="rect">
            <a:avLst/>
          </a:prstGeom>
          <a:noFill/>
        </p:spPr>
        <p:txBody>
          <a:bodyPr wrap="square">
            <a:spAutoFit/>
          </a:bodyPr>
          <a:lstStyle/>
          <a:p>
            <a:pPr algn="just">
              <a:lnSpc>
                <a:spcPct val="100000"/>
              </a:lnSpc>
              <a:spcAft>
                <a:spcPts val="800"/>
              </a:spcAft>
              <a:buNone/>
            </a:pPr>
            <a:r>
              <a:rPr lang="en-SD" sz="1800" b="1" kern="100" dirty="0">
                <a:solidFill>
                  <a:schemeClr val="tx1"/>
                </a:solidFill>
                <a:effectLst/>
                <a:latin typeface="+mn-lt"/>
                <a:ea typeface="Yu Mincho" panose="02020400000000000000" pitchFamily="18" charset="-128"/>
                <a:cs typeface="Arial" panose="020B0604020202020204" pitchFamily="34" charset="0"/>
              </a:rPr>
              <a:t>Key Results Achieved and Strategic Contribution to Country Programme Outcomes</a:t>
            </a:r>
            <a:endParaRPr lang="en-SD" sz="1800" kern="100" dirty="0">
              <a:effectLst/>
              <a:latin typeface="+mn-lt"/>
              <a:ea typeface="Yu Mincho" panose="02020400000000000000" pitchFamily="18" charset="-128"/>
              <a:cs typeface="Arial" panose="020B0604020202020204" pitchFamily="34" charset="0"/>
            </a:endParaRPr>
          </a:p>
          <a:p>
            <a:pPr algn="just">
              <a:lnSpc>
                <a:spcPct val="100000"/>
              </a:lnSpc>
              <a:spcAft>
                <a:spcPts val="800"/>
              </a:spcAft>
              <a:buNone/>
            </a:pPr>
            <a:r>
              <a:rPr lang="en-SD" sz="1800" kern="100" dirty="0">
                <a:effectLst/>
                <a:latin typeface="+mn-lt"/>
                <a:ea typeface="Yu Mincho" panose="02020400000000000000" pitchFamily="18" charset="-128"/>
                <a:cs typeface="Arial" panose="020B0604020202020204" pitchFamily="34" charset="0"/>
              </a:rPr>
              <a:t>Table 1: Progress in Beneficiary Reach Against Approved 2026 Integrated Work Plan (IWP) Targets (January-September 2026)</a:t>
            </a:r>
            <a:endParaRPr lang="en-SD" sz="2000" kern="100" dirty="0">
              <a:effectLst/>
              <a:latin typeface="Aptos" panose="020B0004020202020204" pitchFamily="34" charset="0"/>
              <a:ea typeface="Yu Mincho" panose="02020400000000000000" pitchFamily="18" charset="-128"/>
              <a:cs typeface="Arial" panose="020B0604020202020204" pitchFamily="34" charset="0"/>
            </a:endParaRPr>
          </a:p>
        </p:txBody>
      </p:sp>
      <p:sp>
        <p:nvSpPr>
          <p:cNvPr id="3" name="Rectangle 2">
            <a:extLst>
              <a:ext uri="{FF2B5EF4-FFF2-40B4-BE49-F238E27FC236}">
                <a16:creationId xmlns:a16="http://schemas.microsoft.com/office/drawing/2014/main" id="{12C994D9-DCCD-FED2-A541-CE8ED35493B5}"/>
              </a:ext>
            </a:extLst>
          </p:cNvPr>
          <p:cNvSpPr/>
          <p:nvPr/>
        </p:nvSpPr>
        <p:spPr>
          <a:xfrm>
            <a:off x="0" y="6356350"/>
            <a:ext cx="12192000" cy="501650"/>
          </a:xfrm>
          <a:prstGeom prst="rect">
            <a:avLst/>
          </a:prstGeom>
          <a:solidFill>
            <a:srgbClr val="006E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823024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02431-CF13-8B21-ADD7-0E9EE722D186}"/>
              </a:ext>
            </a:extLst>
          </p:cNvPr>
          <p:cNvSpPr>
            <a:spLocks noGrp="1"/>
          </p:cNvSpPr>
          <p:nvPr>
            <p:ph type="title"/>
          </p:nvPr>
        </p:nvSpPr>
        <p:spPr>
          <a:xfrm>
            <a:off x="731519" y="312572"/>
            <a:ext cx="11379615" cy="676473"/>
          </a:xfrm>
        </p:spPr>
        <p:txBody>
          <a:bodyPr anchor="b">
            <a:normAutofit/>
          </a:bodyPr>
          <a:lstStyle/>
          <a:p>
            <a:r>
              <a:rPr lang="en-US" dirty="0"/>
              <a:t>Pillar 1 Results: Health and Essential Services</a:t>
            </a:r>
          </a:p>
        </p:txBody>
      </p:sp>
      <p:sp>
        <p:nvSpPr>
          <p:cNvPr id="4" name="Content Placeholder 3">
            <a:extLst>
              <a:ext uri="{FF2B5EF4-FFF2-40B4-BE49-F238E27FC236}">
                <a16:creationId xmlns:a16="http://schemas.microsoft.com/office/drawing/2014/main" id="{BC8FD5F0-634B-1D39-683D-750915BF2FF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448926" cy="4608576"/>
          </a:xfrm>
        </p:spPr>
        <p:txBody>
          <a:bodyPr>
            <a:normAutofit fontScale="77500" lnSpcReduction="20000"/>
          </a:bodyPr>
          <a:lstStyle/>
          <a:p>
            <a:r>
              <a:rPr lang="en-SD" b="1" dirty="0"/>
              <a:t>Key results achieved include:</a:t>
            </a:r>
            <a:r>
              <a:rPr lang="en-US" b="1" dirty="0"/>
              <a:t> </a:t>
            </a:r>
            <a:r>
              <a:rPr lang="en-SD" sz="1600" kern="100" dirty="0"/>
              <a:t>5,509,874</a:t>
            </a:r>
            <a:r>
              <a:rPr lang="en-US" sz="1600" kern="100" dirty="0"/>
              <a:t> 61% women</a:t>
            </a:r>
            <a:endParaRPr lang="en-SD" sz="1600" kern="100" dirty="0">
              <a:latin typeface="Aptos" panose="020B0004020202020204" pitchFamily="34" charset="0"/>
              <a:ea typeface="Aptos" panose="020B0004020202020204" pitchFamily="34" charset="0"/>
              <a:cs typeface="Arial" panose="020B0604020202020204" pitchFamily="34" charset="0"/>
            </a:endParaRPr>
          </a:p>
          <a:p>
            <a:pPr lvl="0"/>
            <a:r>
              <a:rPr lang="en-SD" b="1" dirty="0"/>
              <a:t>4,677,963 people</a:t>
            </a:r>
            <a:r>
              <a:rPr lang="en-SD" dirty="0"/>
              <a:t> gained access to improved healthcare services through investments in critical health infrastructure and systems, including oxygen supply systems and PSA oxygen plants, healthcare waste management incinerators, solarization of health facilities, and other essential health service delivery interventions.</a:t>
            </a:r>
            <a:endParaRPr lang="en-SD" sz="1600" dirty="0"/>
          </a:p>
          <a:p>
            <a:pPr lvl="0"/>
            <a:r>
              <a:rPr lang="en-SD" b="1" dirty="0"/>
              <a:t>598,586 people</a:t>
            </a:r>
            <a:r>
              <a:rPr lang="en-SD" dirty="0"/>
              <a:t> benefited from HIV, Tuberculosis (TB), and Primary Health Care (PHC) services, supporting continued access to life-saving and routine healthcare services.</a:t>
            </a:r>
            <a:endParaRPr lang="en-SD" sz="1600" dirty="0"/>
          </a:p>
          <a:p>
            <a:pPr lvl="0"/>
            <a:r>
              <a:rPr lang="en-SD" b="1" dirty="0"/>
              <a:t>45,000 people living with diabetes</a:t>
            </a:r>
            <a:r>
              <a:rPr lang="en-SD" dirty="0"/>
              <a:t> received life-saving insulin and related treatment support, helping to ensure continuity of care for individuals with chronic health conditions.</a:t>
            </a:r>
            <a:endParaRPr lang="en-SD" sz="1600" dirty="0"/>
          </a:p>
          <a:p>
            <a:pPr lvl="0"/>
            <a:r>
              <a:rPr lang="en-SD" b="1" dirty="0"/>
              <a:t>646 health personnel</a:t>
            </a:r>
            <a:r>
              <a:rPr lang="en-SD" dirty="0"/>
              <a:t> were trained during 2026 to strengthen the capacity of healthcare institutions and improve service quality. Training focused on: </a:t>
            </a:r>
            <a:endParaRPr lang="en-SD" sz="1600" dirty="0"/>
          </a:p>
          <a:p>
            <a:pPr lvl="1"/>
            <a:r>
              <a:rPr lang="en-SD" dirty="0"/>
              <a:t>Healthcare waste management.</a:t>
            </a:r>
          </a:p>
          <a:p>
            <a:pPr lvl="1"/>
            <a:r>
              <a:rPr lang="en-SD" dirty="0"/>
              <a:t>Incinerator operation and maintenance.</a:t>
            </a:r>
          </a:p>
          <a:p>
            <a:pPr lvl="1"/>
            <a:r>
              <a:rPr lang="en-SD" dirty="0"/>
              <a:t>Oxygen PSA plant operation and maintenance.</a:t>
            </a:r>
          </a:p>
          <a:p>
            <a:pPr lvl="1"/>
            <a:r>
              <a:rPr lang="en-SD" dirty="0"/>
              <a:t>Prevention, Diagnosis, care, and treatment of TB and HIV.</a:t>
            </a:r>
          </a:p>
          <a:p>
            <a:pPr lvl="1"/>
            <a:r>
              <a:rPr lang="en-SD" dirty="0"/>
              <a:t>Awareness raising, Human rights, and stigma reduction.</a:t>
            </a:r>
          </a:p>
          <a:p>
            <a:r>
              <a:rPr lang="en-SD" dirty="0"/>
              <a:t>Collectively, these interventions strengthened access to essential healthcare services, enhanced the resilience of health systems, improved service quality, and built the capacity of health workers to respond effectively to the growing health needs of vulnerable populations across Sudan</a:t>
            </a:r>
            <a:endParaRPr lang="en-US" b="1" dirty="0"/>
          </a:p>
        </p:txBody>
      </p:sp>
      <p:pic>
        <p:nvPicPr>
          <p:cNvPr id="7" name="drawing">
            <a:extLst>
              <a:ext uri="{FF2B5EF4-FFF2-40B4-BE49-F238E27FC236}">
                <a16:creationId xmlns:a16="http://schemas.microsoft.com/office/drawing/2014/main" id="{4B17F119-13F2-5628-950E-5C7D637B3E2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354577" y="1856792"/>
            <a:ext cx="4756557" cy="3778898"/>
          </a:xfrm>
          <a:prstGeom prst="rect">
            <a:avLst/>
          </a:prstGeom>
        </p:spPr>
      </p:pic>
      <p:sp>
        <p:nvSpPr>
          <p:cNvPr id="5" name="Rectangle 4">
            <a:extLst>
              <a:ext uri="{FF2B5EF4-FFF2-40B4-BE49-F238E27FC236}">
                <a16:creationId xmlns:a16="http://schemas.microsoft.com/office/drawing/2014/main" id="{8A816FDE-06E1-BCFD-4E29-F3233E566375}"/>
              </a:ext>
            </a:extLst>
          </p:cNvPr>
          <p:cNvSpPr/>
          <p:nvPr/>
        </p:nvSpPr>
        <p:spPr>
          <a:xfrm>
            <a:off x="0" y="6356350"/>
            <a:ext cx="12192000" cy="501650"/>
          </a:xfrm>
          <a:prstGeom prst="rect">
            <a:avLst/>
          </a:prstGeom>
          <a:solidFill>
            <a:srgbClr val="006E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15051388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D1379-FD07-B1B9-17CE-30D644FA3282}"/>
              </a:ext>
            </a:extLst>
          </p:cNvPr>
          <p:cNvSpPr>
            <a:spLocks noGrp="1"/>
          </p:cNvSpPr>
          <p:nvPr>
            <p:ph type="title"/>
          </p:nvPr>
        </p:nvSpPr>
        <p:spPr>
          <a:xfrm>
            <a:off x="731520" y="312572"/>
            <a:ext cx="11370284" cy="556108"/>
          </a:xfrm>
        </p:spPr>
        <p:txBody>
          <a:bodyPr anchor="b">
            <a:normAutofit/>
          </a:bodyPr>
          <a:lstStyle/>
          <a:p>
            <a:r>
              <a:rPr lang="en-US" dirty="0"/>
              <a:t>Pillar 2 Results: Resilience and Recovery</a:t>
            </a:r>
          </a:p>
        </p:txBody>
      </p:sp>
      <p:sp>
        <p:nvSpPr>
          <p:cNvPr id="4" name="Content Placeholder 3">
            <a:extLst>
              <a:ext uri="{FF2B5EF4-FFF2-40B4-BE49-F238E27FC236}">
                <a16:creationId xmlns:a16="http://schemas.microsoft.com/office/drawing/2014/main" id="{F8E4CFD2-C2A5-4D02-FBE1-A2BDA8F6384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70588" y="951722"/>
            <a:ext cx="6438122" cy="5304699"/>
          </a:xfrm>
        </p:spPr>
        <p:txBody>
          <a:bodyPr>
            <a:noAutofit/>
          </a:bodyPr>
          <a:lstStyle/>
          <a:p>
            <a:r>
              <a:rPr lang="en-SD" sz="900" b="1" dirty="0"/>
              <a:t>1,561,005 individuals (36% women)</a:t>
            </a:r>
            <a:r>
              <a:rPr lang="en-SD" sz="900" dirty="0"/>
              <a:t> benefited from integrated livelihood interventions between January and September 2026, contributing to improved food security, sustainable income streams, and essential services powered through renewable energy. Out of which:</a:t>
            </a:r>
          </a:p>
          <a:p>
            <a:pPr lvl="0"/>
            <a:r>
              <a:rPr lang="en-SD" sz="900" dirty="0"/>
              <a:t>111,489 individuals received agricultural inputs, seeds, tools and extension services including agricultural associations that utilized heavy duty tractors to increase their production, benefiting 510,194 community members indirectly.</a:t>
            </a:r>
          </a:p>
          <a:p>
            <a:pPr lvl="0"/>
            <a:r>
              <a:rPr lang="en-SD" sz="900" dirty="0"/>
              <a:t>23,200 people gained access to clean, safe drinking water through established and rehabilitated solarized water yards, benefiting 39,200 community members indirectly. An additional 260,070 farmers gained access to improved water through solarized irrigation schemes and rehabilitated water canals reviving agricultural activity creating multiplier benefits for an extended 11,680 small-holder farmers.</a:t>
            </a:r>
          </a:p>
          <a:p>
            <a:pPr lvl="0"/>
            <a:r>
              <a:rPr lang="en-SD" sz="900" dirty="0"/>
              <a:t>18,440 people received capacity building spanning vocational training, cost recovery systems and community management through Community Management Committees (CMCs) and Water User Associations (</a:t>
            </a:r>
            <a:r>
              <a:rPr lang="en-SD" sz="900" dirty="0" err="1"/>
              <a:t>WUAs</a:t>
            </a:r>
            <a:r>
              <a:rPr lang="en-SD" sz="900" dirty="0"/>
              <a:t>) enabling self-sustained access to critical services reaching 177,450 extended households beyond project lifecycles.</a:t>
            </a:r>
          </a:p>
          <a:p>
            <a:pPr lvl="0"/>
            <a:r>
              <a:rPr lang="en-SD" sz="900" dirty="0"/>
              <a:t>21,995 people received immediate financial resources (cash for work) through temporary employment opportunities provided by cash-for-work schemes, enabling them to support an additional 64,370 community members indirectly through multiplier effects of cleaning campaigns, communal spending and cost-sharing for community infrastructure.</a:t>
            </a:r>
          </a:p>
          <a:p>
            <a:pPr lvl="0"/>
            <a:r>
              <a:rPr lang="en-SD" sz="900" dirty="0"/>
              <a:t>17,229 people received job opportunities through various micro-grants to establish small-scale businesses and create long-term sources of income through self-employment. 39% were women empowered through </a:t>
            </a:r>
            <a:r>
              <a:rPr lang="en-SD" sz="900" dirty="0" err="1"/>
              <a:t>VSLAs</a:t>
            </a:r>
            <a:r>
              <a:rPr lang="en-SD" sz="900" dirty="0"/>
              <a:t> and income-generating groups to launch small-businesses including women who received access to financial services. Altogether, these support an additional 123,788 community members through improved household income covering education, health services and dignified living conditions.</a:t>
            </a:r>
          </a:p>
          <a:p>
            <a:pPr lvl="0"/>
            <a:r>
              <a:rPr lang="en-SD" sz="900" dirty="0"/>
              <a:t>Other interventions geared towards improving community resilience have reached 74,700 people through social cohesion forums, shared infrastructure rehabilitation including health </a:t>
            </a:r>
            <a:r>
              <a:rPr lang="en-SD" sz="900" dirty="0" err="1"/>
              <a:t>centers</a:t>
            </a:r>
            <a:r>
              <a:rPr lang="en-SD" sz="900" dirty="0"/>
              <a:t>, distribution of solar kits and installation of solar streetlights, extending reach to 107,200 community members significantly reducing associated GBV risks</a:t>
            </a:r>
            <a:r>
              <a:rPr lang="en-SD" dirty="0"/>
              <a:t>.</a:t>
            </a:r>
          </a:p>
        </p:txBody>
      </p:sp>
      <p:pic>
        <p:nvPicPr>
          <p:cNvPr id="7" name="drawing">
            <a:extLst>
              <a:ext uri="{FF2B5EF4-FFF2-40B4-BE49-F238E27FC236}">
                <a16:creationId xmlns:a16="http://schemas.microsoft.com/office/drawing/2014/main" id="{6C809A4A-8A90-FA25-8C37-213D73881D8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512767" y="1129005"/>
            <a:ext cx="5682805" cy="5127416"/>
          </a:xfrm>
          <a:prstGeom prst="rect">
            <a:avLst/>
          </a:prstGeom>
        </p:spPr>
      </p:pic>
      <p:sp>
        <p:nvSpPr>
          <p:cNvPr id="5" name="Rectangle 4">
            <a:extLst>
              <a:ext uri="{FF2B5EF4-FFF2-40B4-BE49-F238E27FC236}">
                <a16:creationId xmlns:a16="http://schemas.microsoft.com/office/drawing/2014/main" id="{9DD24D40-78A0-DA0A-E671-453537A23489}"/>
              </a:ext>
            </a:extLst>
          </p:cNvPr>
          <p:cNvSpPr/>
          <p:nvPr/>
        </p:nvSpPr>
        <p:spPr>
          <a:xfrm>
            <a:off x="0" y="6356350"/>
            <a:ext cx="12192000" cy="501650"/>
          </a:xfrm>
          <a:prstGeom prst="rect">
            <a:avLst/>
          </a:prstGeom>
          <a:solidFill>
            <a:srgbClr val="006E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34413996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81F7B-05A7-0AE3-977D-AACA34F1F2D8}"/>
              </a:ext>
            </a:extLst>
          </p:cNvPr>
          <p:cNvSpPr>
            <a:spLocks noGrp="1"/>
          </p:cNvSpPr>
          <p:nvPr>
            <p:ph type="title"/>
          </p:nvPr>
        </p:nvSpPr>
        <p:spPr>
          <a:xfrm>
            <a:off x="731520" y="312572"/>
            <a:ext cx="11370284" cy="556108"/>
          </a:xfrm>
        </p:spPr>
        <p:txBody>
          <a:bodyPr anchor="b">
            <a:normAutofit/>
          </a:bodyPr>
          <a:lstStyle/>
          <a:p>
            <a:r>
              <a:rPr lang="en-US" dirty="0"/>
              <a:t>Pillar 3: Peacebuilding &amp; inclusive Governance</a:t>
            </a:r>
          </a:p>
        </p:txBody>
      </p:sp>
      <p:sp>
        <p:nvSpPr>
          <p:cNvPr id="4" name="Content Placeholder 3">
            <a:extLst>
              <a:ext uri="{FF2B5EF4-FFF2-40B4-BE49-F238E27FC236}">
                <a16:creationId xmlns:a16="http://schemas.microsoft.com/office/drawing/2014/main" id="{631271B3-DA2D-A098-A81D-182EAF646E7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06148"/>
            <a:ext cx="6593011" cy="4683172"/>
          </a:xfrm>
        </p:spPr>
        <p:txBody>
          <a:bodyPr>
            <a:normAutofit lnSpcReduction="10000"/>
          </a:bodyPr>
          <a:lstStyle/>
          <a:p>
            <a:pPr marL="0" lvl="0" indent="0">
              <a:spcBef>
                <a:spcPts val="2500"/>
              </a:spcBef>
              <a:buFont typeface="Arial" panose="020B0604020202020204" pitchFamily="34" charset="0"/>
              <a:buNone/>
            </a:pPr>
            <a:r>
              <a:rPr lang="en-US" b="1" dirty="0"/>
              <a:t>Peacebuilding and Inclusive Governance</a:t>
            </a:r>
          </a:p>
          <a:p>
            <a:r>
              <a:rPr lang="en-SD" b="1" dirty="0"/>
              <a:t>In total 15,943 people </a:t>
            </a:r>
            <a:r>
              <a:rPr lang="en-US" b="1" dirty="0"/>
              <a:t>(873 direct and 14,534 indirect/</a:t>
            </a:r>
            <a:r>
              <a:rPr lang="en-SD" b="1" dirty="0"/>
              <a:t>(44%women),</a:t>
            </a:r>
            <a:r>
              <a:rPr lang="en-SD" dirty="0"/>
              <a:t> were reached through interventions focused on </a:t>
            </a:r>
            <a:r>
              <a:rPr lang="en-SD" b="1" dirty="0"/>
              <a:t>community protection, mediation, peacebuilding, and social cohesion</a:t>
            </a:r>
            <a:r>
              <a:rPr lang="en-SD" dirty="0"/>
              <a:t> between January and September 2026.</a:t>
            </a:r>
          </a:p>
          <a:p>
            <a:pPr lvl="0"/>
            <a:r>
              <a:rPr lang="en-US" dirty="0"/>
              <a:t>UNDP supports a nationwide network of Academic Peace </a:t>
            </a:r>
            <a:r>
              <a:rPr lang="en-US" dirty="0" err="1"/>
              <a:t>Centres</a:t>
            </a:r>
            <a:r>
              <a:rPr lang="en-US" dirty="0"/>
              <a:t>, providing an impartial platform for conflict analysis, dialogue, locally led peacebuilding initiatives, and the preservation of professional relationships across conflict lines. As part of this effort, UNDP brought together </a:t>
            </a:r>
            <a:r>
              <a:rPr lang="en-US" b="1" dirty="0"/>
              <a:t>60</a:t>
            </a:r>
            <a:r>
              <a:rPr lang="en-US" dirty="0"/>
              <a:t> participants representing </a:t>
            </a:r>
            <a:r>
              <a:rPr lang="en-US" b="1" dirty="0"/>
              <a:t>22 Academic Peace </a:t>
            </a:r>
            <a:r>
              <a:rPr lang="en-US" b="1" dirty="0" err="1"/>
              <a:t>Centres</a:t>
            </a:r>
            <a:r>
              <a:rPr lang="en-US" dirty="0"/>
              <a:t> from all states across the country, strengthening collaboration, knowledge exchange, and coordinated peacebuilding efforts at the national level.</a:t>
            </a:r>
            <a:endParaRPr lang="en-SD" dirty="0"/>
          </a:p>
          <a:p>
            <a:pPr lvl="0"/>
            <a:r>
              <a:rPr lang="en-SD" dirty="0"/>
              <a:t>Support was provided through the reactivation and strengthening of community-based protection and peacebuilding mechanisms, enabling local actors to play a greater role in conflict prevention and resolution.</a:t>
            </a:r>
          </a:p>
          <a:p>
            <a:pPr lvl="0"/>
            <a:r>
              <a:rPr lang="en-US" dirty="0"/>
              <a:t>Community members, including women, youth, displaced populations, and other vulnerable groups, participated in initiatives that promoted inclusive dialogue, peaceful coexistence, and community engagement.</a:t>
            </a:r>
            <a:endParaRPr lang="en-SD" dirty="0"/>
          </a:p>
          <a:p>
            <a:pPr marL="0" lvl="0" indent="0">
              <a:spcBef>
                <a:spcPts val="2500"/>
              </a:spcBef>
              <a:buFont typeface="Arial" panose="020B0604020202020204" pitchFamily="34" charset="0"/>
              <a:buNone/>
            </a:pPr>
            <a:endParaRPr lang="en-US" b="1" dirty="0"/>
          </a:p>
        </p:txBody>
      </p:sp>
      <p:pic>
        <p:nvPicPr>
          <p:cNvPr id="7" name="drawing">
            <a:extLst>
              <a:ext uri="{FF2B5EF4-FFF2-40B4-BE49-F238E27FC236}">
                <a16:creationId xmlns:a16="http://schemas.microsoft.com/office/drawing/2014/main" id="{1F987596-2858-D463-D0D4-9971B49FB277}"/>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305561" y="1306148"/>
            <a:ext cx="4796243" cy="4683172"/>
          </a:xfrm>
          <a:prstGeom prst="rect">
            <a:avLst/>
          </a:prstGeom>
        </p:spPr>
      </p:pic>
      <p:sp>
        <p:nvSpPr>
          <p:cNvPr id="5" name="Rectangle 4">
            <a:extLst>
              <a:ext uri="{FF2B5EF4-FFF2-40B4-BE49-F238E27FC236}">
                <a16:creationId xmlns:a16="http://schemas.microsoft.com/office/drawing/2014/main" id="{13588D35-F476-BA8F-BD2B-9E08701858F1}"/>
              </a:ext>
            </a:extLst>
          </p:cNvPr>
          <p:cNvSpPr/>
          <p:nvPr/>
        </p:nvSpPr>
        <p:spPr>
          <a:xfrm>
            <a:off x="0" y="6356350"/>
            <a:ext cx="12192000" cy="501650"/>
          </a:xfrm>
          <a:prstGeom prst="rect">
            <a:avLst/>
          </a:prstGeom>
          <a:solidFill>
            <a:srgbClr val="006E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14607916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AF92A-702B-43DF-76D2-DD7197DA27CD}"/>
              </a:ext>
            </a:extLst>
          </p:cNvPr>
          <p:cNvSpPr>
            <a:spLocks noGrp="1"/>
          </p:cNvSpPr>
          <p:nvPr>
            <p:ph type="title"/>
          </p:nvPr>
        </p:nvSpPr>
        <p:spPr>
          <a:xfrm>
            <a:off x="731520" y="312572"/>
            <a:ext cx="11460480" cy="556108"/>
          </a:xfrm>
        </p:spPr>
        <p:txBody>
          <a:bodyPr/>
          <a:lstStyle/>
          <a:p>
            <a:r>
              <a:rPr lang="en-US" dirty="0"/>
              <a:t>Pillar 4 Results: Environment, Energy Climate Change</a:t>
            </a:r>
            <a:endParaRPr lang="en-SD" dirty="0"/>
          </a:p>
        </p:txBody>
      </p:sp>
      <p:sp>
        <p:nvSpPr>
          <p:cNvPr id="3" name="Content Placeholder 2">
            <a:extLst>
              <a:ext uri="{FF2B5EF4-FFF2-40B4-BE49-F238E27FC236}">
                <a16:creationId xmlns:a16="http://schemas.microsoft.com/office/drawing/2014/main" id="{370F4559-E3D9-3044-FA43-410E0D734C7B}"/>
              </a:ext>
            </a:extLst>
          </p:cNvPr>
          <p:cNvSpPr>
            <a:spLocks noGrp="1"/>
          </p:cNvSpPr>
          <p:nvPr>
            <p:ph sz="quarter" idx="14"/>
          </p:nvPr>
        </p:nvSpPr>
        <p:spPr>
          <a:xfrm>
            <a:off x="731520" y="1380744"/>
            <a:ext cx="6723639" cy="4608576"/>
          </a:xfrm>
        </p:spPr>
        <p:txBody>
          <a:bodyPr/>
          <a:lstStyle/>
          <a:p>
            <a:r>
              <a:rPr lang="en-SD" b="1" dirty="0"/>
              <a:t>Water, Clean Energy and Climate Resilience</a:t>
            </a:r>
            <a:endParaRPr lang="en-SD" dirty="0"/>
          </a:p>
          <a:p>
            <a:r>
              <a:rPr lang="en-SD" b="1" dirty="0"/>
              <a:t>A total of 116,001 people (49% women)</a:t>
            </a:r>
            <a:r>
              <a:rPr lang="en-SD" dirty="0"/>
              <a:t> benefited from interventions in water, clean energy, and climate resilience. This included </a:t>
            </a:r>
            <a:r>
              <a:rPr lang="en-SD" b="1" dirty="0"/>
              <a:t>47,380 people gaining access to electricity</a:t>
            </a:r>
            <a:r>
              <a:rPr lang="en-SD" dirty="0"/>
              <a:t> through the installation of new solar energy infrastructure, including solar streetlights and solar 3-in-1 kits. In addition, communities benefited from improved access to safe water through the establishment and rehabilitation of solar-powered water systems and water yards. Furthermore, </a:t>
            </a:r>
            <a:r>
              <a:rPr lang="en-SD" b="1" dirty="0"/>
              <a:t>12,980 farmers</a:t>
            </a:r>
            <a:r>
              <a:rPr lang="en-SD" dirty="0"/>
              <a:t> received solar-powered irrigation systems, contributing to enhanced agricultural productivity and supporting increased food production for an estimated </a:t>
            </a:r>
            <a:r>
              <a:rPr lang="en-SD" b="1" dirty="0"/>
              <a:t>20,980 people</a:t>
            </a:r>
            <a:r>
              <a:rPr lang="en-SD" dirty="0"/>
              <a:t>.</a:t>
            </a:r>
          </a:p>
          <a:p>
            <a:endParaRPr lang="en-SD" dirty="0"/>
          </a:p>
        </p:txBody>
      </p:sp>
      <p:pic>
        <p:nvPicPr>
          <p:cNvPr id="5" name="drawing">
            <a:extLst>
              <a:ext uri="{FF2B5EF4-FFF2-40B4-BE49-F238E27FC236}">
                <a16:creationId xmlns:a16="http://schemas.microsoft.com/office/drawing/2014/main" id="{E4FB5CA8-98E6-8803-3DB1-42DC6F56F0F9}"/>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589521" y="1380742"/>
            <a:ext cx="4602480" cy="4608577"/>
          </a:xfrm>
          <a:prstGeom prst="rect">
            <a:avLst/>
          </a:prstGeom>
        </p:spPr>
      </p:pic>
      <p:sp>
        <p:nvSpPr>
          <p:cNvPr id="6" name="Rectangle 5">
            <a:extLst>
              <a:ext uri="{FF2B5EF4-FFF2-40B4-BE49-F238E27FC236}">
                <a16:creationId xmlns:a16="http://schemas.microsoft.com/office/drawing/2014/main" id="{5593D1B1-BFB3-D0C2-6759-C1081D8ABE4C}"/>
              </a:ext>
            </a:extLst>
          </p:cNvPr>
          <p:cNvSpPr/>
          <p:nvPr/>
        </p:nvSpPr>
        <p:spPr>
          <a:xfrm>
            <a:off x="0" y="6356350"/>
            <a:ext cx="12192000" cy="501650"/>
          </a:xfrm>
          <a:prstGeom prst="rect">
            <a:avLst/>
          </a:prstGeom>
          <a:solidFill>
            <a:srgbClr val="006E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1612172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C6DE728F-EA35-C227-295D-5E0D57FE7C9C}"/>
              </a:ext>
            </a:extLst>
          </p:cNvPr>
          <p:cNvSpPr>
            <a:spLocks noGrp="1"/>
          </p:cNvSpPr>
          <p:nvPr>
            <p:ph type="title"/>
          </p:nvPr>
        </p:nvSpPr>
        <p:spPr>
          <a:xfrm>
            <a:off x="731520" y="312572"/>
            <a:ext cx="6858000" cy="923544"/>
          </a:xfrm>
        </p:spPr>
        <p:txBody>
          <a:bodyPr anchor="b">
            <a:normAutofit/>
          </a:bodyPr>
          <a:lstStyle/>
          <a:p>
            <a:r>
              <a:rPr lang="en-US" dirty="0"/>
              <a:t>Overview</a:t>
            </a:r>
          </a:p>
        </p:txBody>
      </p:sp>
      <p:sp>
        <p:nvSpPr>
          <p:cNvPr id="4" name="Content Placeholder 3">
            <a:extLst>
              <a:ext uri="{FF2B5EF4-FFF2-40B4-BE49-F238E27FC236}">
                <a16:creationId xmlns:a16="http://schemas.microsoft.com/office/drawing/2014/main" id="{367AE65A-8277-AD8F-6744-43D0720C8FD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4843780" cy="4608576"/>
          </a:xfrm>
        </p:spPr>
        <p:txBody>
          <a:bodyPr>
            <a:normAutofit/>
          </a:bodyPr>
          <a:lstStyle/>
          <a:p>
            <a:pPr marL="0" indent="0">
              <a:lnSpc>
                <a:spcPct val="110000"/>
              </a:lnSpc>
              <a:spcBef>
                <a:spcPts val="2500"/>
              </a:spcBef>
              <a:buNone/>
            </a:pPr>
            <a:r>
              <a:rPr lang="en-US" sz="1000" b="1" dirty="0">
                <a:latin typeface="Segoe UI" panose="020B0502040204020203" pitchFamily="34" charset="0"/>
                <a:cs typeface="Segoe UI" panose="020B0502040204020203" pitchFamily="34" charset="0"/>
              </a:rPr>
              <a:t>State-Level Performance Variation</a:t>
            </a:r>
            <a:br>
              <a:rPr lang="en-US" sz="1000" dirty="0">
                <a:latin typeface="Segoe UI" panose="020B0502040204020203" pitchFamily="34" charset="0"/>
                <a:cs typeface="Segoe UI" panose="020B0502040204020203" pitchFamily="34" charset="0"/>
              </a:rPr>
            </a:br>
            <a:r>
              <a:rPr lang="en-US" sz="1000" dirty="0">
                <a:latin typeface="Segoe UI" panose="020B0502040204020203" pitchFamily="34" charset="0"/>
                <a:cs typeface="Segoe UI" panose="020B0502040204020203" pitchFamily="34" charset="0"/>
              </a:rPr>
              <a:t>Sudan’s states show substantial variation in beneficiary reach against planned targets. Direct achievement ranges from below 30% in some states to more than 190% in others.</a:t>
            </a:r>
            <a:br>
              <a:rPr lang="en-US" sz="1000" dirty="0">
                <a:latin typeface="Segoe UI" panose="020B0502040204020203" pitchFamily="34" charset="0"/>
                <a:cs typeface="Segoe UI" panose="020B0502040204020203" pitchFamily="34" charset="0"/>
              </a:rPr>
            </a:br>
            <a:br>
              <a:rPr lang="en-US" sz="1000" dirty="0">
                <a:latin typeface="Segoe UI" panose="020B0502040204020203" pitchFamily="34" charset="0"/>
                <a:cs typeface="Segoe UI" panose="020B0502040204020203" pitchFamily="34" charset="0"/>
              </a:rPr>
            </a:br>
            <a:r>
              <a:rPr lang="en-US" sz="1000" b="1" dirty="0">
                <a:latin typeface="Segoe UI" panose="020B0502040204020203" pitchFamily="34" charset="0"/>
                <a:cs typeface="Segoe UI" panose="020B0502040204020203" pitchFamily="34" charset="0"/>
              </a:rPr>
              <a:t>High-Performing States</a:t>
            </a:r>
            <a:br>
              <a:rPr lang="en-US" sz="1000" dirty="0">
                <a:latin typeface="Segoe UI" panose="020B0502040204020203" pitchFamily="34" charset="0"/>
                <a:cs typeface="Segoe UI" panose="020B0502040204020203" pitchFamily="34" charset="0"/>
              </a:rPr>
            </a:br>
            <a:r>
              <a:rPr lang="en-US" sz="1000" dirty="0">
                <a:latin typeface="Segoe UI" panose="020B0502040204020203" pitchFamily="34" charset="0"/>
                <a:cs typeface="Segoe UI" panose="020B0502040204020203" pitchFamily="34" charset="0"/>
              </a:rPr>
              <a:t>North Kordofan, Central Darfur, Red Sea, Aj Jazirah, and North Darfur met or exceeded their direct beneficiary targets, reaching approximately 104%–193% of planned targets.</a:t>
            </a:r>
            <a:br>
              <a:rPr lang="en-US" sz="1000" dirty="0">
                <a:latin typeface="Segoe UI" panose="020B0502040204020203" pitchFamily="34" charset="0"/>
                <a:cs typeface="Segoe UI" panose="020B0502040204020203" pitchFamily="34" charset="0"/>
              </a:rPr>
            </a:br>
            <a:br>
              <a:rPr lang="en-US" sz="1000" b="1" dirty="0">
                <a:latin typeface="Segoe UI" panose="020B0502040204020203" pitchFamily="34" charset="0"/>
                <a:cs typeface="Segoe UI" panose="020B0502040204020203" pitchFamily="34" charset="0"/>
              </a:rPr>
            </a:br>
            <a:r>
              <a:rPr lang="en-US" sz="1000" b="1" dirty="0">
                <a:latin typeface="Segoe UI" panose="020B0502040204020203" pitchFamily="34" charset="0"/>
                <a:cs typeface="Segoe UI" panose="020B0502040204020203" pitchFamily="34" charset="0"/>
              </a:rPr>
              <a:t>Lower-Reach States</a:t>
            </a:r>
            <a:br>
              <a:rPr lang="en-US" sz="1000" b="1" dirty="0">
                <a:latin typeface="Segoe UI" panose="020B0502040204020203" pitchFamily="34" charset="0"/>
                <a:cs typeface="Segoe UI" panose="020B0502040204020203" pitchFamily="34" charset="0"/>
              </a:rPr>
            </a:br>
            <a:r>
              <a:rPr lang="en-US" sz="1000" dirty="0">
                <a:latin typeface="Segoe UI" panose="020B0502040204020203" pitchFamily="34" charset="0"/>
                <a:cs typeface="Segoe UI" panose="020B0502040204020203" pitchFamily="34" charset="0"/>
              </a:rPr>
              <a:t>Kassala, </a:t>
            </a:r>
            <a:r>
              <a:rPr lang="en-US" sz="1000" dirty="0" err="1">
                <a:latin typeface="Segoe UI" panose="020B0502040204020203" pitchFamily="34" charset="0"/>
                <a:cs typeface="Segoe UI" panose="020B0502040204020203" pitchFamily="34" charset="0"/>
              </a:rPr>
              <a:t>Sennar</a:t>
            </a:r>
            <a:r>
              <a:rPr lang="en-US" sz="1000" dirty="0">
                <a:latin typeface="Segoe UI" panose="020B0502040204020203" pitchFamily="34" charset="0"/>
                <a:cs typeface="Segoe UI" panose="020B0502040204020203" pitchFamily="34" charset="0"/>
              </a:rPr>
              <a:t>, Abyei PCA, East Darfur, Northern, White Nile, </a:t>
            </a:r>
            <a:r>
              <a:rPr lang="en-US" sz="1000" dirty="0" err="1">
                <a:latin typeface="Segoe UI" panose="020B0502040204020203" pitchFamily="34" charset="0"/>
                <a:cs typeface="Segoe UI" panose="020B0502040204020203" pitchFamily="34" charset="0"/>
              </a:rPr>
              <a:t>Gedaref</a:t>
            </a:r>
            <a:r>
              <a:rPr lang="en-US" sz="1000" dirty="0">
                <a:latin typeface="Segoe UI" panose="020B0502040204020203" pitchFamily="34" charset="0"/>
                <a:cs typeface="Segoe UI" panose="020B0502040204020203" pitchFamily="34" charset="0"/>
              </a:rPr>
              <a:t>, and South Kordofan achieved less than 50% of their direct beneficiary targets.</a:t>
            </a:r>
            <a:br>
              <a:rPr lang="en-US" sz="1000" dirty="0">
                <a:latin typeface="Segoe UI" panose="020B0502040204020203" pitchFamily="34" charset="0"/>
                <a:cs typeface="Segoe UI" panose="020B0502040204020203" pitchFamily="34" charset="0"/>
              </a:rPr>
            </a:br>
            <a:br>
              <a:rPr lang="en-US" sz="1000" dirty="0">
                <a:latin typeface="Segoe UI" panose="020B0502040204020203" pitchFamily="34" charset="0"/>
                <a:cs typeface="Segoe UI" panose="020B0502040204020203" pitchFamily="34" charset="0"/>
              </a:rPr>
            </a:br>
            <a:r>
              <a:rPr lang="en-US" sz="1000" b="1" dirty="0">
                <a:latin typeface="Segoe UI" panose="020B0502040204020203" pitchFamily="34" charset="0"/>
                <a:cs typeface="Segoe UI" panose="020B0502040204020203" pitchFamily="34" charset="0"/>
              </a:rPr>
              <a:t>Multi-Pillar Presence and Gaps</a:t>
            </a:r>
            <a:br>
              <a:rPr lang="en-US" sz="1000" dirty="0">
                <a:latin typeface="Segoe UI" panose="020B0502040204020203" pitchFamily="34" charset="0"/>
                <a:cs typeface="Segoe UI" panose="020B0502040204020203" pitchFamily="34" charset="0"/>
              </a:rPr>
            </a:br>
            <a:r>
              <a:rPr lang="en-US" sz="1000" dirty="0">
                <a:latin typeface="Segoe UI" panose="020B0502040204020203" pitchFamily="34" charset="0"/>
                <a:cs typeface="Segoe UI" panose="020B0502040204020203" pitchFamily="34" charset="0"/>
              </a:rPr>
              <a:t>Red Sea, Kassala, and </a:t>
            </a:r>
            <a:r>
              <a:rPr lang="en-US" sz="1000" dirty="0" err="1">
                <a:latin typeface="Segoe UI" panose="020B0502040204020203" pitchFamily="34" charset="0"/>
                <a:cs typeface="Segoe UI" panose="020B0502040204020203" pitchFamily="34" charset="0"/>
              </a:rPr>
              <a:t>Gedaref</a:t>
            </a:r>
            <a:r>
              <a:rPr lang="en-US" sz="1000" dirty="0">
                <a:latin typeface="Segoe UI" panose="020B0502040204020203" pitchFamily="34" charset="0"/>
                <a:cs typeface="Segoe UI" panose="020B0502040204020203" pitchFamily="34" charset="0"/>
              </a:rPr>
              <a:t> have activities across all four pillars. Aj Jazirah, Blue Nile, River Nile, and </a:t>
            </a:r>
            <a:r>
              <a:rPr lang="en-US" sz="1000" dirty="0" err="1">
                <a:latin typeface="Segoe UI" panose="020B0502040204020203" pitchFamily="34" charset="0"/>
                <a:cs typeface="Segoe UI" panose="020B0502040204020203" pitchFamily="34" charset="0"/>
              </a:rPr>
              <a:t>Sennar</a:t>
            </a:r>
            <a:r>
              <a:rPr lang="en-US" sz="1000" dirty="0">
                <a:latin typeface="Segoe UI" panose="020B0502040204020203" pitchFamily="34" charset="0"/>
                <a:cs typeface="Segoe UI" panose="020B0502040204020203" pitchFamily="34" charset="0"/>
              </a:rPr>
              <a:t> show three-pillar coverage, while West Kordofan has no recorded </a:t>
            </a:r>
            <a:r>
              <a:rPr lang="en-US" sz="1000" dirty="0" err="1">
                <a:latin typeface="Segoe UI" panose="020B0502040204020203" pitchFamily="34" charset="0"/>
                <a:cs typeface="Segoe UI" panose="020B0502040204020203" pitchFamily="34" charset="0"/>
              </a:rPr>
              <a:t>programme</a:t>
            </a:r>
            <a:r>
              <a:rPr lang="en-US" sz="1000" dirty="0">
                <a:latin typeface="Segoe UI" panose="020B0502040204020203" pitchFamily="34" charset="0"/>
                <a:cs typeface="Segoe UI" panose="020B0502040204020203" pitchFamily="34" charset="0"/>
              </a:rPr>
              <a:t> presence in the current dataset.</a:t>
            </a:r>
          </a:p>
        </p:txBody>
      </p:sp>
      <p:pic>
        <p:nvPicPr>
          <p:cNvPr id="20" name="Picture 19">
            <a:extLst>
              <a:ext uri="{FF2B5EF4-FFF2-40B4-BE49-F238E27FC236}">
                <a16:creationId xmlns:a16="http://schemas.microsoft.com/office/drawing/2014/main" id="{6D3B3D1F-A6D7-BEDB-3F0E-30850891CCF0}"/>
              </a:ext>
            </a:extLst>
          </p:cNvPr>
          <p:cNvPicPr>
            <a:picLocks noChangeAspect="1"/>
          </p:cNvPicPr>
          <p:nvPr/>
        </p:nvPicPr>
        <p:blipFill>
          <a:blip r:embed="rId3"/>
          <a:srcRect l="7339" r="13139"/>
          <a:stretch>
            <a:fillRect/>
          </a:stretch>
        </p:blipFill>
        <p:spPr>
          <a:xfrm>
            <a:off x="6009218" y="609854"/>
            <a:ext cx="6062132" cy="5202832"/>
          </a:xfrm>
          <a:prstGeom prst="rect">
            <a:avLst/>
          </a:prstGeom>
          <a:noFill/>
        </p:spPr>
      </p:pic>
      <p:sp>
        <p:nvSpPr>
          <p:cNvPr id="3" name="Rectangle 2">
            <a:extLst>
              <a:ext uri="{FF2B5EF4-FFF2-40B4-BE49-F238E27FC236}">
                <a16:creationId xmlns:a16="http://schemas.microsoft.com/office/drawing/2014/main" id="{F186C417-008A-3C95-AA77-9234C1FB8B09}"/>
              </a:ext>
            </a:extLst>
          </p:cNvPr>
          <p:cNvSpPr/>
          <p:nvPr/>
        </p:nvSpPr>
        <p:spPr>
          <a:xfrm>
            <a:off x="0" y="6356350"/>
            <a:ext cx="12192000" cy="501650"/>
          </a:xfrm>
          <a:prstGeom prst="rect">
            <a:avLst/>
          </a:prstGeom>
          <a:solidFill>
            <a:srgbClr val="006E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9211452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3A963-1CC0-1A17-D0C1-9E8BA19D92BF}"/>
              </a:ext>
            </a:extLst>
          </p:cNvPr>
          <p:cNvSpPr>
            <a:spLocks noGrp="1"/>
          </p:cNvSpPr>
          <p:nvPr>
            <p:ph type="title"/>
          </p:nvPr>
        </p:nvSpPr>
        <p:spPr>
          <a:xfrm>
            <a:off x="458470" y="509422"/>
            <a:ext cx="4754880" cy="335128"/>
          </a:xfrm>
        </p:spPr>
        <p:txBody>
          <a:bodyPr>
            <a:normAutofit fontScale="90000"/>
          </a:bodyPr>
          <a:lstStyle/>
          <a:p>
            <a:r>
              <a:rPr lang="en-SE" sz="2000" dirty="0">
                <a:latin typeface="Segoe UI" panose="020B0502040204020203" pitchFamily="34" charset="0"/>
                <a:cs typeface="Segoe UI" panose="020B0502040204020203" pitchFamily="34" charset="0"/>
              </a:rPr>
              <a:t>Raito of Beneficiary Reach Against Targets</a:t>
            </a:r>
          </a:p>
        </p:txBody>
      </p:sp>
      <p:sp>
        <p:nvSpPr>
          <p:cNvPr id="8" name="TextBox 7">
            <a:extLst>
              <a:ext uri="{FF2B5EF4-FFF2-40B4-BE49-F238E27FC236}">
                <a16:creationId xmlns:a16="http://schemas.microsoft.com/office/drawing/2014/main" id="{1FC465BB-FF7A-90BE-A240-24B556BDEB60}"/>
              </a:ext>
            </a:extLst>
          </p:cNvPr>
          <p:cNvSpPr txBox="1"/>
          <p:nvPr/>
        </p:nvSpPr>
        <p:spPr>
          <a:xfrm>
            <a:off x="458470" y="1147164"/>
            <a:ext cx="6096000" cy="4975721"/>
          </a:xfrm>
          <a:prstGeom prst="rect">
            <a:avLst/>
          </a:prstGeom>
          <a:noFill/>
        </p:spPr>
        <p:txBody>
          <a:bodyPr wrap="square">
            <a:spAutoFit/>
          </a:bodyPr>
          <a:lstStyle/>
          <a:p>
            <a:pPr>
              <a:lnSpc>
                <a:spcPct val="100000"/>
              </a:lnSpc>
              <a:spcAft>
                <a:spcPts val="800"/>
              </a:spcAft>
            </a:pPr>
            <a:r>
              <a:rPr lang="en-SE" sz="1200" b="1"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Key Insights:</a:t>
            </a:r>
            <a:br>
              <a:rPr lang="en-US" sz="1200" b="1"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br>
            <a:endParaRPr lang="en-SE" sz="1200" kern="100" dirty="0">
              <a:effectLst/>
              <a:latin typeface="Segoe UI" panose="020B0502040204020203" pitchFamily="34" charset="0"/>
              <a:ea typeface="Yu Mincho" panose="02020400000000000000" pitchFamily="18" charset="-128"/>
              <a:cs typeface="Segoe UI" panose="020B0502040204020203" pitchFamily="34" charset="0"/>
            </a:endParaRPr>
          </a:p>
          <a:p>
            <a:pPr lvl="0">
              <a:lnSpc>
                <a:spcPct val="100000"/>
              </a:lnSpc>
              <a:spcAft>
                <a:spcPts val="800"/>
              </a:spcAft>
              <a:buSzPts val="1000"/>
              <a:tabLst>
                <a:tab pos="457200" algn="l"/>
              </a:tabLst>
            </a:pPr>
            <a:r>
              <a:rPr lang="en-SE" sz="1200" b="1"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Strong Reach:</a:t>
            </a:r>
            <a:r>
              <a:rPr lang="en-SE" sz="1200"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 North Kordofan, Central Darfur, Red Sea, Aj Jazirah, and North Darfur met or exceeded their direct beneficiary targets.</a:t>
            </a:r>
          </a:p>
          <a:p>
            <a:pPr lvl="0">
              <a:lnSpc>
                <a:spcPct val="100000"/>
              </a:lnSpc>
              <a:spcAft>
                <a:spcPts val="800"/>
              </a:spcAft>
              <a:buSzPts val="1000"/>
              <a:tabLst>
                <a:tab pos="457200" algn="l"/>
              </a:tabLst>
            </a:pPr>
            <a:r>
              <a:rPr lang="en-SE" sz="1200" b="1"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Moderate Reach:</a:t>
            </a:r>
            <a:r>
              <a:rPr lang="en-SE" sz="1200"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 River Nile, Khartoum, Blue Nile, and South Darfur achieved approximately 69%–75% of their planned targets.</a:t>
            </a:r>
          </a:p>
          <a:p>
            <a:pPr lvl="0">
              <a:lnSpc>
                <a:spcPct val="100000"/>
              </a:lnSpc>
              <a:spcAft>
                <a:spcPts val="800"/>
              </a:spcAft>
              <a:buSzPts val="1000"/>
              <a:tabLst>
                <a:tab pos="457200" algn="l"/>
              </a:tabLst>
            </a:pPr>
            <a:r>
              <a:rPr lang="en-SE" sz="1200" b="1"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Lower Reach:</a:t>
            </a:r>
            <a:r>
              <a:rPr lang="en-SE" sz="1200"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 </a:t>
            </a:r>
            <a:r>
              <a:rPr lang="en-SE" sz="1200" kern="100" dirty="0" err="1">
                <a:solidFill>
                  <a:schemeClr val="tx1"/>
                </a:solidFill>
                <a:effectLst/>
                <a:latin typeface="Segoe UI" panose="020B0502040204020203" pitchFamily="34" charset="0"/>
                <a:ea typeface="Yu Mincho" panose="02020400000000000000" pitchFamily="18" charset="-128"/>
                <a:cs typeface="Segoe UI" panose="020B0502040204020203" pitchFamily="34" charset="0"/>
              </a:rPr>
              <a:t>Gedaref</a:t>
            </a:r>
            <a:r>
              <a:rPr lang="en-SE" sz="1200"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 South Kordofan, White Nile, Northern, East Darfur, Kassala, </a:t>
            </a:r>
            <a:r>
              <a:rPr lang="en-SE" sz="1200" kern="100" dirty="0" err="1">
                <a:solidFill>
                  <a:schemeClr val="tx1"/>
                </a:solidFill>
                <a:effectLst/>
                <a:latin typeface="Segoe UI" panose="020B0502040204020203" pitchFamily="34" charset="0"/>
                <a:ea typeface="Yu Mincho" panose="02020400000000000000" pitchFamily="18" charset="-128"/>
                <a:cs typeface="Segoe UI" panose="020B0502040204020203" pitchFamily="34" charset="0"/>
              </a:rPr>
              <a:t>Sennar</a:t>
            </a:r>
            <a:r>
              <a:rPr lang="en-SE" sz="1200"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 and Abyei PCA remained below 50% of target achievement.</a:t>
            </a:r>
          </a:p>
          <a:p>
            <a:pPr lvl="0">
              <a:lnSpc>
                <a:spcPct val="100000"/>
              </a:lnSpc>
              <a:spcAft>
                <a:spcPts val="800"/>
              </a:spcAft>
              <a:buSzPts val="1000"/>
              <a:tabLst>
                <a:tab pos="457200" algn="l"/>
              </a:tabLst>
            </a:pPr>
            <a:r>
              <a:rPr lang="en-SE" sz="1200" b="1"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Highest Shortfalls:</a:t>
            </a:r>
            <a:r>
              <a:rPr lang="en-SE" sz="1200"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 Kassala and </a:t>
            </a:r>
            <a:r>
              <a:rPr lang="en-SE" sz="1200" kern="100" dirty="0" err="1">
                <a:solidFill>
                  <a:schemeClr val="tx1"/>
                </a:solidFill>
                <a:effectLst/>
                <a:latin typeface="Segoe UI" panose="020B0502040204020203" pitchFamily="34" charset="0"/>
                <a:ea typeface="Yu Mincho" panose="02020400000000000000" pitchFamily="18" charset="-128"/>
                <a:cs typeface="Segoe UI" panose="020B0502040204020203" pitchFamily="34" charset="0"/>
              </a:rPr>
              <a:t>Sennar</a:t>
            </a:r>
            <a:r>
              <a:rPr lang="en-SE" sz="1200"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 show particularly low reach ratios despite substantial planned targets. Kassala reached approximately 31% of its target.</a:t>
            </a:r>
          </a:p>
          <a:p>
            <a:pPr lvl="0">
              <a:lnSpc>
                <a:spcPct val="100000"/>
              </a:lnSpc>
              <a:spcAft>
                <a:spcPts val="800"/>
              </a:spcAft>
              <a:buSzPts val="1000"/>
              <a:tabLst>
                <a:tab pos="457200" algn="l"/>
              </a:tabLst>
            </a:pPr>
            <a:r>
              <a:rPr lang="en-SE" sz="1200" b="1"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Mixed Darfur Performance:</a:t>
            </a:r>
            <a:r>
              <a:rPr lang="en-SE" sz="1200"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 North Darfur and Central Darfur exceeded their targets, while South Darfur and East Darfur achieved partial progress. West Darfur has no valid target or actual values for comparison.</a:t>
            </a:r>
          </a:p>
          <a:p>
            <a:pPr lvl="0">
              <a:lnSpc>
                <a:spcPct val="100000"/>
              </a:lnSpc>
              <a:spcAft>
                <a:spcPts val="800"/>
              </a:spcAft>
              <a:buSzPts val="1000"/>
              <a:tabLst>
                <a:tab pos="457200" algn="l"/>
              </a:tabLst>
            </a:pPr>
            <a:r>
              <a:rPr lang="en-SE" sz="1200" b="1"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Potential Scale-Up:</a:t>
            </a:r>
            <a:r>
              <a:rPr lang="en-SE" sz="1200"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 River Nile, Khartoum, Blue Nile, and South Darfur show moderate progress with scope for further implementation gains.</a:t>
            </a:r>
          </a:p>
          <a:p>
            <a:pPr lvl="0">
              <a:lnSpc>
                <a:spcPct val="100000"/>
              </a:lnSpc>
              <a:spcAft>
                <a:spcPts val="800"/>
              </a:spcAft>
              <a:buSzPts val="1000"/>
              <a:tabLst>
                <a:tab pos="457200" algn="l"/>
              </a:tabLst>
            </a:pPr>
            <a:r>
              <a:rPr lang="en-SE" sz="1200" b="1"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Large-Scale Priority:</a:t>
            </a:r>
            <a:r>
              <a:rPr lang="en-SE" sz="1200"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 </a:t>
            </a:r>
            <a:r>
              <a:rPr lang="en-SE" sz="1200" kern="100" dirty="0" err="1">
                <a:solidFill>
                  <a:schemeClr val="tx1"/>
                </a:solidFill>
                <a:effectLst/>
                <a:latin typeface="Segoe UI" panose="020B0502040204020203" pitchFamily="34" charset="0"/>
                <a:ea typeface="Yu Mincho" panose="02020400000000000000" pitchFamily="18" charset="-128"/>
                <a:cs typeface="Segoe UI" panose="020B0502040204020203" pitchFamily="34" charset="0"/>
              </a:rPr>
              <a:t>Gedaref</a:t>
            </a:r>
            <a:r>
              <a:rPr lang="en-SE" sz="1200"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 and White Nile have substantial planned beneficiary volumes but reached less than half of their targets, making them important areas for operational review.</a:t>
            </a:r>
          </a:p>
          <a:p>
            <a:pPr lvl="0">
              <a:lnSpc>
                <a:spcPct val="100000"/>
              </a:lnSpc>
              <a:spcAft>
                <a:spcPts val="800"/>
              </a:spcAft>
              <a:buSzPts val="1000"/>
              <a:tabLst>
                <a:tab pos="457200" algn="l"/>
              </a:tabLst>
            </a:pPr>
            <a:r>
              <a:rPr lang="en-SE" sz="1200" b="1"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Geographic Variation:</a:t>
            </a:r>
            <a:r>
              <a:rPr lang="en-SE" sz="1200" kern="100" dirty="0">
                <a:solidFill>
                  <a:schemeClr val="tx1"/>
                </a:solidFill>
                <a:effectLst/>
                <a:latin typeface="Segoe UI" panose="020B0502040204020203" pitchFamily="34" charset="0"/>
                <a:ea typeface="Yu Mincho" panose="02020400000000000000" pitchFamily="18" charset="-128"/>
                <a:cs typeface="Segoe UI" panose="020B0502040204020203" pitchFamily="34" charset="0"/>
              </a:rPr>
              <a:t> Achievement differs considerably across states, reflecting varying implementation conditions, access constraints, programme scale, and reporting completeness. These ratios indicate target achievement, not population coverage or unmet need.</a:t>
            </a:r>
            <a:endParaRPr lang="en-SE" sz="1000" kern="100" dirty="0">
              <a:solidFill>
                <a:srgbClr val="0070C0"/>
              </a:solidFill>
              <a:effectLst/>
              <a:latin typeface="Segoe UI" panose="020B0502040204020203" pitchFamily="34" charset="0"/>
              <a:ea typeface="Yu Mincho" panose="02020400000000000000" pitchFamily="18" charset="-128"/>
              <a:cs typeface="Segoe UI" panose="020B0502040204020203" pitchFamily="34" charset="0"/>
            </a:endParaRPr>
          </a:p>
        </p:txBody>
      </p:sp>
      <p:sp>
        <p:nvSpPr>
          <p:cNvPr id="13" name="Rectangle 12">
            <a:extLst>
              <a:ext uri="{FF2B5EF4-FFF2-40B4-BE49-F238E27FC236}">
                <a16:creationId xmlns:a16="http://schemas.microsoft.com/office/drawing/2014/main" id="{D2F38B58-46B8-D767-AB75-5AC4F85CC7A2}"/>
              </a:ext>
            </a:extLst>
          </p:cNvPr>
          <p:cNvSpPr/>
          <p:nvPr/>
        </p:nvSpPr>
        <p:spPr>
          <a:xfrm>
            <a:off x="0" y="6356350"/>
            <a:ext cx="12192000" cy="501650"/>
          </a:xfrm>
          <a:prstGeom prst="rect">
            <a:avLst/>
          </a:prstGeom>
          <a:solidFill>
            <a:srgbClr val="006E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5" name="Picture 14">
            <a:extLst>
              <a:ext uri="{FF2B5EF4-FFF2-40B4-BE49-F238E27FC236}">
                <a16:creationId xmlns:a16="http://schemas.microsoft.com/office/drawing/2014/main" id="{3694C37F-5961-EF4B-817C-0438D560BAA7}"/>
              </a:ext>
            </a:extLst>
          </p:cNvPr>
          <p:cNvPicPr>
            <a:picLocks noChangeAspect="1"/>
          </p:cNvPicPr>
          <p:nvPr/>
        </p:nvPicPr>
        <p:blipFill>
          <a:blip r:embed="rId2"/>
          <a:srcRect l="9643" r="28633"/>
          <a:stretch>
            <a:fillRect/>
          </a:stretch>
        </p:blipFill>
        <p:spPr>
          <a:xfrm>
            <a:off x="6642100" y="1033473"/>
            <a:ext cx="5467350" cy="4791054"/>
          </a:xfrm>
          <a:prstGeom prst="rect">
            <a:avLst/>
          </a:prstGeom>
        </p:spPr>
      </p:pic>
      <p:pic>
        <p:nvPicPr>
          <p:cNvPr id="17" name="Picture 16">
            <a:extLst>
              <a:ext uri="{FF2B5EF4-FFF2-40B4-BE49-F238E27FC236}">
                <a16:creationId xmlns:a16="http://schemas.microsoft.com/office/drawing/2014/main" id="{77F09BCB-1585-89F7-96E5-9A58BB680061}"/>
              </a:ext>
            </a:extLst>
          </p:cNvPr>
          <p:cNvPicPr>
            <a:picLocks noChangeAspect="1"/>
          </p:cNvPicPr>
          <p:nvPr/>
        </p:nvPicPr>
        <p:blipFill>
          <a:blip r:embed="rId2"/>
          <a:srcRect l="78680" r="1033" b="34394"/>
          <a:stretch>
            <a:fillRect/>
          </a:stretch>
        </p:blipFill>
        <p:spPr>
          <a:xfrm>
            <a:off x="11220450" y="4558342"/>
            <a:ext cx="723899" cy="1266185"/>
          </a:xfrm>
          <a:prstGeom prst="rect">
            <a:avLst/>
          </a:prstGeom>
        </p:spPr>
      </p:pic>
    </p:spTree>
    <p:extLst>
      <p:ext uri="{BB962C8B-B14F-4D97-AF65-F5344CB8AC3E}">
        <p14:creationId xmlns:p14="http://schemas.microsoft.com/office/powerpoint/2010/main" val="3195439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C2E1C-845A-8374-8E62-9770D7404C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324BB-D8E8-DB6F-8FD4-EC5C4317BD9B}"/>
              </a:ext>
            </a:extLst>
          </p:cNvPr>
          <p:cNvSpPr>
            <a:spLocks noGrp="1"/>
          </p:cNvSpPr>
          <p:nvPr>
            <p:ph type="title"/>
          </p:nvPr>
        </p:nvSpPr>
        <p:spPr>
          <a:xfrm>
            <a:off x="309457" y="256858"/>
            <a:ext cx="5326380" cy="558800"/>
          </a:xfrm>
        </p:spPr>
        <p:txBody>
          <a:bodyPr>
            <a:normAutofit fontScale="90000"/>
          </a:bodyPr>
          <a:lstStyle/>
          <a:p>
            <a:r>
              <a:rPr lang="en-US" sz="2000" dirty="0">
                <a:latin typeface="Segoe UI" panose="020B0502040204020203" pitchFamily="34" charset="0"/>
                <a:cs typeface="Segoe UI" panose="020B0502040204020203" pitchFamily="34" charset="0"/>
              </a:rPr>
              <a:t>UNDP Sudan Geographical Coverage and Pillar Presence and Overlapping</a:t>
            </a:r>
            <a:endParaRPr lang="en-SE" sz="2000" dirty="0">
              <a:latin typeface="Segoe UI" panose="020B0502040204020203" pitchFamily="34" charset="0"/>
              <a:cs typeface="Segoe UI" panose="020B0502040204020203" pitchFamily="34" charset="0"/>
            </a:endParaRPr>
          </a:p>
        </p:txBody>
      </p:sp>
      <p:sp>
        <p:nvSpPr>
          <p:cNvPr id="8" name="TextBox 7">
            <a:extLst>
              <a:ext uri="{FF2B5EF4-FFF2-40B4-BE49-F238E27FC236}">
                <a16:creationId xmlns:a16="http://schemas.microsoft.com/office/drawing/2014/main" id="{CF412213-3E1B-5DDC-0F33-D198334CE9FB}"/>
              </a:ext>
            </a:extLst>
          </p:cNvPr>
          <p:cNvSpPr txBox="1"/>
          <p:nvPr/>
        </p:nvSpPr>
        <p:spPr>
          <a:xfrm>
            <a:off x="309457" y="908705"/>
            <a:ext cx="5888143" cy="5447645"/>
          </a:xfrm>
          <a:prstGeom prst="rect">
            <a:avLst/>
          </a:prstGeom>
          <a:noFill/>
        </p:spPr>
        <p:txBody>
          <a:bodyPr wrap="square">
            <a:spAutoFit/>
          </a:bodyPr>
          <a:lstStyle/>
          <a:p>
            <a:r>
              <a:rPr lang="en-SE" sz="1200" b="1" dirty="0">
                <a:latin typeface="Segoe UI" panose="020B0502040204020203" pitchFamily="34" charset="0"/>
                <a:cs typeface="Segoe UI" panose="020B0502040204020203" pitchFamily="34" charset="0"/>
              </a:rPr>
              <a:t>Key Insights:</a:t>
            </a:r>
            <a:br>
              <a:rPr lang="en-US" sz="1200" b="1"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Strongest Multi-Pillar Presence:</a:t>
            </a:r>
            <a:r>
              <a:rPr lang="en-SE" sz="1200" dirty="0">
                <a:latin typeface="Segoe UI" panose="020B0502040204020203" pitchFamily="34" charset="0"/>
                <a:cs typeface="Segoe UI" panose="020B0502040204020203" pitchFamily="34" charset="0"/>
              </a:rPr>
              <a:t> Red Sea, Kassala, and </a:t>
            </a:r>
            <a:r>
              <a:rPr lang="en-SE" sz="1200" dirty="0" err="1">
                <a:latin typeface="Segoe UI" panose="020B0502040204020203" pitchFamily="34" charset="0"/>
                <a:cs typeface="Segoe UI" panose="020B0502040204020203" pitchFamily="34" charset="0"/>
              </a:rPr>
              <a:t>Gedaref</a:t>
            </a:r>
            <a:r>
              <a:rPr lang="en-SE" sz="1200" dirty="0">
                <a:latin typeface="Segoe UI" panose="020B0502040204020203" pitchFamily="34" charset="0"/>
                <a:cs typeface="Segoe UI" panose="020B0502040204020203" pitchFamily="34" charset="0"/>
              </a:rPr>
              <a:t> have activities across all four pillars: Health, Environment/Energy/Climate Change, Peacebuilding &amp; Governance, and Resilience &amp; Recovery.</a:t>
            </a:r>
            <a:br>
              <a:rPr lang="en-US" sz="1200"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Broad Three-Pillar Coverage:</a:t>
            </a:r>
            <a:r>
              <a:rPr lang="en-SE" sz="1200" dirty="0">
                <a:latin typeface="Segoe UI" panose="020B0502040204020203" pitchFamily="34" charset="0"/>
                <a:cs typeface="Segoe UI" panose="020B0502040204020203" pitchFamily="34" charset="0"/>
              </a:rPr>
              <a:t> Aj Jazirah, Blue Nile, River Nile, and </a:t>
            </a:r>
            <a:r>
              <a:rPr lang="en-SE" sz="1200" dirty="0" err="1">
                <a:latin typeface="Segoe UI" panose="020B0502040204020203" pitchFamily="34" charset="0"/>
                <a:cs typeface="Segoe UI" panose="020B0502040204020203" pitchFamily="34" charset="0"/>
              </a:rPr>
              <a:t>Sennar</a:t>
            </a:r>
            <a:r>
              <a:rPr lang="en-SE" sz="1200" dirty="0">
                <a:latin typeface="Segoe UI" panose="020B0502040204020203" pitchFamily="34" charset="0"/>
                <a:cs typeface="Segoe UI" panose="020B0502040204020203" pitchFamily="34" charset="0"/>
              </a:rPr>
              <a:t> each show activity across three pillars, indicating relatively broad programme integration.</a:t>
            </a:r>
            <a:br>
              <a:rPr lang="en-US" sz="1200"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Health as the Most Widespread Pillar:</a:t>
            </a:r>
            <a:r>
              <a:rPr lang="en-SE" sz="1200" dirty="0">
                <a:latin typeface="Segoe UI" panose="020B0502040204020203" pitchFamily="34" charset="0"/>
                <a:cs typeface="Segoe UI" panose="020B0502040204020203" pitchFamily="34" charset="0"/>
              </a:rPr>
              <a:t> Health activities appear across the largest number of states and form the primary programme presence in several locations.</a:t>
            </a:r>
            <a:br>
              <a:rPr lang="en-US" sz="1200"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Peacebuilding Concentration:</a:t>
            </a:r>
            <a:r>
              <a:rPr lang="en-SE" sz="1200" dirty="0">
                <a:latin typeface="Segoe UI" panose="020B0502040204020203" pitchFamily="34" charset="0"/>
                <a:cs typeface="Segoe UI" panose="020B0502040204020203" pitchFamily="34" charset="0"/>
              </a:rPr>
              <a:t> Peacebuilding and Governance is present in Red Sea, Kassala, </a:t>
            </a:r>
            <a:r>
              <a:rPr lang="en-SE" sz="1200" dirty="0" err="1">
                <a:latin typeface="Segoe UI" panose="020B0502040204020203" pitchFamily="34" charset="0"/>
                <a:cs typeface="Segoe UI" panose="020B0502040204020203" pitchFamily="34" charset="0"/>
              </a:rPr>
              <a:t>Gedaref</a:t>
            </a:r>
            <a:r>
              <a:rPr lang="en-SE" sz="1200" dirty="0">
                <a:latin typeface="Segoe UI" panose="020B0502040204020203" pitchFamily="34" charset="0"/>
                <a:cs typeface="Segoe UI" panose="020B0502040204020203" pitchFamily="34" charset="0"/>
              </a:rPr>
              <a:t>, Aj Jazirah, Blue Nile, </a:t>
            </a:r>
            <a:r>
              <a:rPr lang="en-SE" sz="1200" dirty="0" err="1">
                <a:latin typeface="Segoe UI" panose="020B0502040204020203" pitchFamily="34" charset="0"/>
                <a:cs typeface="Segoe UI" panose="020B0502040204020203" pitchFamily="34" charset="0"/>
              </a:rPr>
              <a:t>Sennar</a:t>
            </a:r>
            <a:r>
              <a:rPr lang="en-SE" sz="1200" dirty="0">
                <a:latin typeface="Segoe UI" panose="020B0502040204020203" pitchFamily="34" charset="0"/>
                <a:cs typeface="Segoe UI" panose="020B0502040204020203" pitchFamily="34" charset="0"/>
              </a:rPr>
              <a:t>, South Darfur, South Kordofan, Abyei PCA, and North Darfur. In Darfur, it is strongest in North Darfur and South Darfur.</a:t>
            </a:r>
            <a:br>
              <a:rPr lang="en-US" sz="1200"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Limited Pillar Coverage in Darfur:</a:t>
            </a:r>
            <a:r>
              <a:rPr lang="en-SE" sz="1200" dirty="0">
                <a:latin typeface="Segoe UI" panose="020B0502040204020203" pitchFamily="34" charset="0"/>
                <a:cs typeface="Segoe UI" panose="020B0502040204020203" pitchFamily="34" charset="0"/>
              </a:rPr>
              <a:t> South Darfur has two active pillars, while North Darfur, Central Darfur, East Darfur, and West Darfur each show activity from only one pillar. This indicates more limited cross-pillar integration across much of Darfur.</a:t>
            </a:r>
            <a:br>
              <a:rPr lang="en-US" sz="1200"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Single-Pillar States:</a:t>
            </a:r>
            <a:r>
              <a:rPr lang="en-SE" sz="1200" dirty="0">
                <a:latin typeface="Segoe UI" panose="020B0502040204020203" pitchFamily="34" charset="0"/>
                <a:cs typeface="Segoe UI" panose="020B0502040204020203" pitchFamily="34" charset="0"/>
              </a:rPr>
              <a:t> Abyei PCA, Central Darfur, East Darfur, North Darfur, North Kordofan, and West Darfur currently show activity from only one pillar.</a:t>
            </a:r>
            <a:br>
              <a:rPr lang="en-US" sz="1200"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Geographic Gap:</a:t>
            </a:r>
            <a:r>
              <a:rPr lang="en-SE" sz="1200" dirty="0">
                <a:latin typeface="Segoe UI" panose="020B0502040204020203" pitchFamily="34" charset="0"/>
                <a:cs typeface="Segoe UI" panose="020B0502040204020203" pitchFamily="34" charset="0"/>
              </a:rPr>
              <a:t> West Kordofan shows no recorded programme presence in the current master data.</a:t>
            </a:r>
            <a:br>
              <a:rPr lang="en-US" sz="1200"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Uneven Cross-Pillar Coverage:</a:t>
            </a:r>
            <a:r>
              <a:rPr lang="en-SE" sz="1200" dirty="0">
                <a:latin typeface="Segoe UI" panose="020B0502040204020203" pitchFamily="34" charset="0"/>
                <a:cs typeface="Segoe UI" panose="020B0502040204020203" pitchFamily="34" charset="0"/>
              </a:rPr>
              <a:t> UNDP activities extend across most mapped states, but the depth of collaboration varies substantially, from single-pillar presence to four-pillar coverage.</a:t>
            </a:r>
          </a:p>
        </p:txBody>
      </p:sp>
      <p:sp>
        <p:nvSpPr>
          <p:cNvPr id="13" name="Rectangle 12">
            <a:extLst>
              <a:ext uri="{FF2B5EF4-FFF2-40B4-BE49-F238E27FC236}">
                <a16:creationId xmlns:a16="http://schemas.microsoft.com/office/drawing/2014/main" id="{BBDC1E31-8AFE-CCAA-4C44-CF4A63C69253}"/>
              </a:ext>
            </a:extLst>
          </p:cNvPr>
          <p:cNvSpPr/>
          <p:nvPr/>
        </p:nvSpPr>
        <p:spPr>
          <a:xfrm>
            <a:off x="0" y="6356350"/>
            <a:ext cx="12192000" cy="501650"/>
          </a:xfrm>
          <a:prstGeom prst="rect">
            <a:avLst/>
          </a:prstGeom>
          <a:solidFill>
            <a:srgbClr val="006E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6" name="Picture 5">
            <a:extLst>
              <a:ext uri="{FF2B5EF4-FFF2-40B4-BE49-F238E27FC236}">
                <a16:creationId xmlns:a16="http://schemas.microsoft.com/office/drawing/2014/main" id="{8E80DFB0-6520-78C2-3F0A-F159EEDCDADC}"/>
              </a:ext>
            </a:extLst>
          </p:cNvPr>
          <p:cNvPicPr>
            <a:picLocks noChangeAspect="1"/>
          </p:cNvPicPr>
          <p:nvPr/>
        </p:nvPicPr>
        <p:blipFill>
          <a:blip r:embed="rId2"/>
          <a:srcRect l="10763" r="27381"/>
          <a:stretch>
            <a:fillRect/>
          </a:stretch>
        </p:blipFill>
        <p:spPr>
          <a:xfrm>
            <a:off x="6554470" y="1216379"/>
            <a:ext cx="4768427" cy="5070756"/>
          </a:xfrm>
          <a:prstGeom prst="rect">
            <a:avLst/>
          </a:prstGeom>
        </p:spPr>
      </p:pic>
      <p:pic>
        <p:nvPicPr>
          <p:cNvPr id="9" name="Picture 8">
            <a:extLst>
              <a:ext uri="{FF2B5EF4-FFF2-40B4-BE49-F238E27FC236}">
                <a16:creationId xmlns:a16="http://schemas.microsoft.com/office/drawing/2014/main" id="{4CABBB43-D5D9-87EA-E8DF-E7ADB6D1175D}"/>
              </a:ext>
            </a:extLst>
          </p:cNvPr>
          <p:cNvPicPr>
            <a:picLocks noChangeAspect="1"/>
          </p:cNvPicPr>
          <p:nvPr/>
        </p:nvPicPr>
        <p:blipFill>
          <a:blip r:embed="rId2"/>
          <a:srcRect l="75062" r="775" b="70629"/>
          <a:stretch>
            <a:fillRect/>
          </a:stretch>
        </p:blipFill>
        <p:spPr>
          <a:xfrm>
            <a:off x="10391564" y="4748923"/>
            <a:ext cx="1631103" cy="1304167"/>
          </a:xfrm>
          <a:prstGeom prst="rect">
            <a:avLst/>
          </a:prstGeom>
        </p:spPr>
      </p:pic>
    </p:spTree>
    <p:extLst>
      <p:ext uri="{BB962C8B-B14F-4D97-AF65-F5344CB8AC3E}">
        <p14:creationId xmlns:p14="http://schemas.microsoft.com/office/powerpoint/2010/main" val="3200822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E9B8E-AACF-1A84-D60D-9C875C8621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239163-034F-06ED-2AFE-F7ADA02689D4}"/>
              </a:ext>
            </a:extLst>
          </p:cNvPr>
          <p:cNvSpPr>
            <a:spLocks noGrp="1"/>
          </p:cNvSpPr>
          <p:nvPr>
            <p:ph type="title"/>
          </p:nvPr>
        </p:nvSpPr>
        <p:spPr>
          <a:xfrm>
            <a:off x="309457" y="256858"/>
            <a:ext cx="5326380" cy="558800"/>
          </a:xfrm>
        </p:spPr>
        <p:txBody>
          <a:bodyPr>
            <a:normAutofit fontScale="90000"/>
          </a:bodyPr>
          <a:lstStyle/>
          <a:p>
            <a:r>
              <a:rPr lang="en-US" sz="2000" dirty="0">
                <a:latin typeface="Segoe UI" panose="020B0502040204020203" pitchFamily="34" charset="0"/>
                <a:cs typeface="Segoe UI" panose="020B0502040204020203" pitchFamily="34" charset="0"/>
              </a:rPr>
              <a:t>Beneficiaries Distribution (Female, Male and Youth)</a:t>
            </a:r>
            <a:endParaRPr lang="en-SE" sz="2000" dirty="0">
              <a:latin typeface="Segoe UI" panose="020B0502040204020203" pitchFamily="34" charset="0"/>
              <a:cs typeface="Segoe UI" panose="020B0502040204020203" pitchFamily="34" charset="0"/>
            </a:endParaRPr>
          </a:p>
        </p:txBody>
      </p:sp>
      <p:sp>
        <p:nvSpPr>
          <p:cNvPr id="8" name="TextBox 7">
            <a:extLst>
              <a:ext uri="{FF2B5EF4-FFF2-40B4-BE49-F238E27FC236}">
                <a16:creationId xmlns:a16="http://schemas.microsoft.com/office/drawing/2014/main" id="{FFF5C0A4-7172-58EF-2594-58B2FFF0B525}"/>
              </a:ext>
            </a:extLst>
          </p:cNvPr>
          <p:cNvSpPr txBox="1"/>
          <p:nvPr/>
        </p:nvSpPr>
        <p:spPr>
          <a:xfrm>
            <a:off x="309458" y="1058763"/>
            <a:ext cx="5326380" cy="4893647"/>
          </a:xfrm>
          <a:prstGeom prst="rect">
            <a:avLst/>
          </a:prstGeom>
          <a:noFill/>
        </p:spPr>
        <p:txBody>
          <a:bodyPr wrap="square">
            <a:spAutoFit/>
          </a:bodyPr>
          <a:lstStyle/>
          <a:p>
            <a:r>
              <a:rPr lang="en-US" sz="1200" b="1" dirty="0">
                <a:latin typeface="Segoe UI" panose="020B0502040204020203" pitchFamily="34" charset="0"/>
                <a:cs typeface="Segoe UI" panose="020B0502040204020203" pitchFamily="34" charset="0"/>
              </a:rPr>
              <a:t>Key Insights:</a:t>
            </a:r>
            <a:br>
              <a:rPr lang="en-US" sz="1200" b="1"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Male-Dominant Distribution:</a:t>
            </a:r>
            <a:r>
              <a:rPr lang="en-SE" sz="1200" dirty="0">
                <a:latin typeface="Segoe UI" panose="020B0502040204020203" pitchFamily="34" charset="0"/>
                <a:cs typeface="Segoe UI" panose="020B0502040204020203" pitchFamily="34" charset="0"/>
              </a:rPr>
              <a:t> Male beneficiaries represent the largest share in most states, including Red Sea, River Nile, Blue Nile, </a:t>
            </a:r>
            <a:r>
              <a:rPr lang="en-SE" sz="1200" dirty="0" err="1">
                <a:latin typeface="Segoe UI" panose="020B0502040204020203" pitchFamily="34" charset="0"/>
                <a:cs typeface="Segoe UI" panose="020B0502040204020203" pitchFamily="34" charset="0"/>
              </a:rPr>
              <a:t>Gedaref</a:t>
            </a:r>
            <a:r>
              <a:rPr lang="en-SE" sz="1200" dirty="0">
                <a:latin typeface="Segoe UI" panose="020B0502040204020203" pitchFamily="34" charset="0"/>
                <a:cs typeface="Segoe UI" panose="020B0502040204020203" pitchFamily="34" charset="0"/>
              </a:rPr>
              <a:t>, Khartoum, Kassala, and White Nile.</a:t>
            </a:r>
            <a:br>
              <a:rPr lang="en-US" sz="1200"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Female-Dominant Exception:</a:t>
            </a:r>
            <a:r>
              <a:rPr lang="en-SE" sz="1200" dirty="0">
                <a:latin typeface="Segoe UI" panose="020B0502040204020203" pitchFamily="34" charset="0"/>
                <a:cs typeface="Segoe UI" panose="020B0502040204020203" pitchFamily="34" charset="0"/>
              </a:rPr>
              <a:t> North Darfur shows a clearly female-dominant distribution, with female beneficiaries accounting for approximately 69% of the reported total.</a:t>
            </a:r>
            <a:br>
              <a:rPr lang="en-US" sz="1200"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More Balanced States:</a:t>
            </a:r>
            <a:r>
              <a:rPr lang="en-SE" sz="1200" dirty="0">
                <a:latin typeface="Segoe UI" panose="020B0502040204020203" pitchFamily="34" charset="0"/>
                <a:cs typeface="Segoe UI" panose="020B0502040204020203" pitchFamily="34" charset="0"/>
              </a:rPr>
              <a:t> Aj Jazirah and Kassala show relatively balanced Female/Male distributions, although male beneficiaries remain slightly higher.</a:t>
            </a:r>
            <a:br>
              <a:rPr lang="en-US" sz="1200"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Youth Representation:</a:t>
            </a:r>
            <a:r>
              <a:rPr lang="en-SE" sz="1200" dirty="0">
                <a:latin typeface="Segoe UI" panose="020B0502040204020203" pitchFamily="34" charset="0"/>
                <a:cs typeface="Segoe UI" panose="020B0502040204020203" pitchFamily="34" charset="0"/>
              </a:rPr>
              <a:t> Youth beneficiaries account for a smaller share in most states. The highest reported youth representation appears in Abyei PCA and North Darfur, followed by South Kordofan and South Darfur.</a:t>
            </a:r>
            <a:br>
              <a:rPr lang="en-US" sz="1200"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Regional Variation:</a:t>
            </a:r>
            <a:r>
              <a:rPr lang="en-SE" sz="1200" dirty="0">
                <a:latin typeface="Segoe UI" panose="020B0502040204020203" pitchFamily="34" charset="0"/>
                <a:cs typeface="Segoe UI" panose="020B0502040204020203" pitchFamily="34" charset="0"/>
              </a:rPr>
              <a:t> Female participation is comparatively stronger in parts of Darfur, while most eastern, central, and northern states show a clearer male majority.</a:t>
            </a:r>
            <a:br>
              <a:rPr lang="en-US" sz="1200"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Data Interpretation:</a:t>
            </a:r>
            <a:r>
              <a:rPr lang="en-SE" sz="1200" dirty="0">
                <a:latin typeface="Segoe UI" panose="020B0502040204020203" pitchFamily="34" charset="0"/>
                <a:cs typeface="Segoe UI" panose="020B0502040204020203" pitchFamily="34" charset="0"/>
              </a:rPr>
              <a:t> Youth is reported as a separate category and may overlap with Female or Male beneficiaries. Therefore, Female, Male, and Youth percentages should be interpreted as reported demographic shares rather than mutually exclusive groups.</a:t>
            </a:r>
          </a:p>
        </p:txBody>
      </p:sp>
      <p:sp>
        <p:nvSpPr>
          <p:cNvPr id="13" name="Rectangle 12">
            <a:extLst>
              <a:ext uri="{FF2B5EF4-FFF2-40B4-BE49-F238E27FC236}">
                <a16:creationId xmlns:a16="http://schemas.microsoft.com/office/drawing/2014/main" id="{598E66ED-B806-41B7-8D08-95AE2D907322}"/>
              </a:ext>
            </a:extLst>
          </p:cNvPr>
          <p:cNvSpPr/>
          <p:nvPr/>
        </p:nvSpPr>
        <p:spPr>
          <a:xfrm>
            <a:off x="0" y="6356350"/>
            <a:ext cx="12192000" cy="501650"/>
          </a:xfrm>
          <a:prstGeom prst="rect">
            <a:avLst/>
          </a:prstGeom>
          <a:solidFill>
            <a:srgbClr val="006E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7" name="Picture 6">
            <a:extLst>
              <a:ext uri="{FF2B5EF4-FFF2-40B4-BE49-F238E27FC236}">
                <a16:creationId xmlns:a16="http://schemas.microsoft.com/office/drawing/2014/main" id="{1A83AB57-420B-9472-269E-EA947BF6C0E4}"/>
              </a:ext>
            </a:extLst>
          </p:cNvPr>
          <p:cNvPicPr>
            <a:picLocks noChangeAspect="1"/>
          </p:cNvPicPr>
          <p:nvPr/>
        </p:nvPicPr>
        <p:blipFill>
          <a:blip r:embed="rId2"/>
          <a:srcRect l="6063" r="29375"/>
          <a:stretch>
            <a:fillRect/>
          </a:stretch>
        </p:blipFill>
        <p:spPr>
          <a:xfrm>
            <a:off x="5635837" y="965152"/>
            <a:ext cx="5999902" cy="5080868"/>
          </a:xfrm>
          <a:prstGeom prst="rect">
            <a:avLst/>
          </a:prstGeom>
        </p:spPr>
      </p:pic>
      <p:pic>
        <p:nvPicPr>
          <p:cNvPr id="11" name="Picture 10">
            <a:extLst>
              <a:ext uri="{FF2B5EF4-FFF2-40B4-BE49-F238E27FC236}">
                <a16:creationId xmlns:a16="http://schemas.microsoft.com/office/drawing/2014/main" id="{886F4D6D-A704-5A4F-A3AA-DC362A1AB5CF}"/>
              </a:ext>
            </a:extLst>
          </p:cNvPr>
          <p:cNvPicPr>
            <a:picLocks noChangeAspect="1"/>
          </p:cNvPicPr>
          <p:nvPr/>
        </p:nvPicPr>
        <p:blipFill>
          <a:blip r:embed="rId2"/>
          <a:srcRect l="80874" t="215" r="759" b="70840"/>
          <a:stretch>
            <a:fillRect/>
          </a:stretch>
        </p:blipFill>
        <p:spPr>
          <a:xfrm>
            <a:off x="10652760" y="4819765"/>
            <a:ext cx="1371599" cy="1181780"/>
          </a:xfrm>
          <a:prstGeom prst="rect">
            <a:avLst/>
          </a:prstGeom>
        </p:spPr>
      </p:pic>
    </p:spTree>
    <p:extLst>
      <p:ext uri="{BB962C8B-B14F-4D97-AF65-F5344CB8AC3E}">
        <p14:creationId xmlns:p14="http://schemas.microsoft.com/office/powerpoint/2010/main" val="1324078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4F3F6-9888-C822-2151-2C3CACB66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7294C-1F46-D90D-A063-DC18D4266860}"/>
              </a:ext>
            </a:extLst>
          </p:cNvPr>
          <p:cNvSpPr>
            <a:spLocks noGrp="1"/>
          </p:cNvSpPr>
          <p:nvPr>
            <p:ph type="title"/>
          </p:nvPr>
        </p:nvSpPr>
        <p:spPr>
          <a:xfrm>
            <a:off x="309457" y="256858"/>
            <a:ext cx="5326380" cy="558800"/>
          </a:xfrm>
        </p:spPr>
        <p:txBody>
          <a:bodyPr>
            <a:normAutofit fontScale="90000"/>
          </a:bodyPr>
          <a:lstStyle/>
          <a:p>
            <a:r>
              <a:rPr lang="en-US" sz="2000" dirty="0">
                <a:latin typeface="Segoe UI" panose="020B0502040204020203" pitchFamily="34" charset="0"/>
                <a:cs typeface="Segoe UI" panose="020B0502040204020203" pitchFamily="34" charset="0"/>
              </a:rPr>
              <a:t>Geographic Distribution of Beneficiary Reach Compared to Targets/Coverage</a:t>
            </a:r>
            <a:endParaRPr lang="en-SE" sz="2000" dirty="0">
              <a:latin typeface="Segoe UI" panose="020B0502040204020203" pitchFamily="34" charset="0"/>
              <a:cs typeface="Segoe UI" panose="020B0502040204020203" pitchFamily="34" charset="0"/>
            </a:endParaRPr>
          </a:p>
        </p:txBody>
      </p:sp>
      <p:sp>
        <p:nvSpPr>
          <p:cNvPr id="8" name="TextBox 7">
            <a:extLst>
              <a:ext uri="{FF2B5EF4-FFF2-40B4-BE49-F238E27FC236}">
                <a16:creationId xmlns:a16="http://schemas.microsoft.com/office/drawing/2014/main" id="{3A6B87A8-9CE6-5593-33AD-4C840D4C3CC5}"/>
              </a:ext>
            </a:extLst>
          </p:cNvPr>
          <p:cNvSpPr txBox="1"/>
          <p:nvPr/>
        </p:nvSpPr>
        <p:spPr>
          <a:xfrm>
            <a:off x="309458" y="1058763"/>
            <a:ext cx="5326380" cy="5078313"/>
          </a:xfrm>
          <a:prstGeom prst="rect">
            <a:avLst/>
          </a:prstGeom>
          <a:noFill/>
        </p:spPr>
        <p:txBody>
          <a:bodyPr wrap="square">
            <a:spAutoFit/>
          </a:bodyPr>
          <a:lstStyle/>
          <a:p>
            <a:r>
              <a:rPr lang="en-SE" sz="1200" b="1" dirty="0">
                <a:latin typeface="Segoe UI" panose="020B0502040204020203" pitchFamily="34" charset="0"/>
                <a:cs typeface="Segoe UI" panose="020B0502040204020203" pitchFamily="34" charset="0"/>
              </a:rPr>
              <a:t>Key Insights</a:t>
            </a:r>
            <a:br>
              <a:rPr lang="en-US" sz="1200" b="1"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Strong Progress Against Targets:</a:t>
            </a:r>
            <a:br>
              <a:rPr lang="en-SE" sz="1200" dirty="0">
                <a:latin typeface="Segoe UI" panose="020B0502040204020203" pitchFamily="34" charset="0"/>
                <a:cs typeface="Segoe UI" panose="020B0502040204020203" pitchFamily="34" charset="0"/>
              </a:rPr>
            </a:br>
            <a:r>
              <a:rPr lang="en-SE" sz="1200" dirty="0">
                <a:latin typeface="Segoe UI" panose="020B0502040204020203" pitchFamily="34" charset="0"/>
                <a:cs typeface="Segoe UI" panose="020B0502040204020203" pitchFamily="34" charset="0"/>
              </a:rPr>
              <a:t>Aj Jazirah and Red Sea combine relatively substantial targets with actual reach at or above target. North Kordofan and Central Darfur also exceed their targets, although their overall target volumes are comparatively small.</a:t>
            </a:r>
            <a:br>
              <a:rPr lang="en-US" sz="1200"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High Targets with Scope to Improve Delivery:</a:t>
            </a:r>
            <a:br>
              <a:rPr lang="en-SE" sz="1200" dirty="0">
                <a:latin typeface="Segoe UI" panose="020B0502040204020203" pitchFamily="34" charset="0"/>
                <a:cs typeface="Segoe UI" panose="020B0502040204020203" pitchFamily="34" charset="0"/>
              </a:rPr>
            </a:br>
            <a:r>
              <a:rPr lang="en-SE" sz="1200" dirty="0">
                <a:latin typeface="Segoe UI" panose="020B0502040204020203" pitchFamily="34" charset="0"/>
                <a:cs typeface="Segoe UI" panose="020B0502040204020203" pitchFamily="34" charset="0"/>
              </a:rPr>
              <a:t>Kassala, White Nile, </a:t>
            </a:r>
            <a:r>
              <a:rPr lang="en-SE" sz="1200" dirty="0" err="1">
                <a:latin typeface="Segoe UI" panose="020B0502040204020203" pitchFamily="34" charset="0"/>
                <a:cs typeface="Segoe UI" panose="020B0502040204020203" pitchFamily="34" charset="0"/>
              </a:rPr>
              <a:t>Gedaref</a:t>
            </a:r>
            <a:r>
              <a:rPr lang="en-SE" sz="1200" dirty="0">
                <a:latin typeface="Segoe UI" panose="020B0502040204020203" pitchFamily="34" charset="0"/>
                <a:cs typeface="Segoe UI" panose="020B0502040204020203" pitchFamily="34" charset="0"/>
              </a:rPr>
              <a:t>, and Northern carry some of the largest beneficiary targets but remain below 50% achievement. These states should be prioritized for implementation review, operational strengthening, or target reassessment.</a:t>
            </a:r>
            <a:br>
              <a:rPr lang="en-US" sz="1200"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Moderate Progress:</a:t>
            </a:r>
            <a:br>
              <a:rPr lang="en-SE" sz="1200" dirty="0">
                <a:latin typeface="Segoe UI" panose="020B0502040204020203" pitchFamily="34" charset="0"/>
                <a:cs typeface="Segoe UI" panose="020B0502040204020203" pitchFamily="34" charset="0"/>
              </a:rPr>
            </a:br>
            <a:r>
              <a:rPr lang="en-SE" sz="1200" dirty="0">
                <a:latin typeface="Segoe UI" panose="020B0502040204020203" pitchFamily="34" charset="0"/>
                <a:cs typeface="Segoe UI" panose="020B0502040204020203" pitchFamily="34" charset="0"/>
              </a:rPr>
              <a:t>River Nile, Khartoum, Blue Nile, and South Darfur show intermediate achievement levels, reaching approximately 69%–75% of their targets.</a:t>
            </a:r>
            <a:br>
              <a:rPr lang="en-US" sz="1200"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Lower Reach and Potential Constraints:</a:t>
            </a:r>
            <a:br>
              <a:rPr lang="en-SE" sz="1200" dirty="0">
                <a:latin typeface="Segoe UI" panose="020B0502040204020203" pitchFamily="34" charset="0"/>
                <a:cs typeface="Segoe UI" panose="020B0502040204020203" pitchFamily="34" charset="0"/>
              </a:rPr>
            </a:br>
            <a:r>
              <a:rPr lang="en-SE" sz="1200" dirty="0" err="1">
                <a:latin typeface="Segoe UI" panose="020B0502040204020203" pitchFamily="34" charset="0"/>
                <a:cs typeface="Segoe UI" panose="020B0502040204020203" pitchFamily="34" charset="0"/>
              </a:rPr>
              <a:t>Sennar</a:t>
            </a:r>
            <a:r>
              <a:rPr lang="en-SE" sz="1200" dirty="0">
                <a:latin typeface="Segoe UI" panose="020B0502040204020203" pitchFamily="34" charset="0"/>
                <a:cs typeface="Segoe UI" panose="020B0502040204020203" pitchFamily="34" charset="0"/>
              </a:rPr>
              <a:t>, Abyei PCA, East Darfur, and South Kordofan show lower target achievement. Their results may reflect implementation, access, reporting, or operational constraints.</a:t>
            </a:r>
            <a:br>
              <a:rPr lang="en-US" sz="1200" dirty="0">
                <a:latin typeface="Segoe UI" panose="020B0502040204020203" pitchFamily="34" charset="0"/>
                <a:cs typeface="Segoe UI" panose="020B0502040204020203" pitchFamily="34" charset="0"/>
              </a:rPr>
            </a:br>
            <a:endParaRPr lang="en-SE" sz="1200" dirty="0">
              <a:latin typeface="Segoe UI" panose="020B0502040204020203" pitchFamily="34" charset="0"/>
              <a:cs typeface="Segoe UI" panose="020B0502040204020203" pitchFamily="34" charset="0"/>
            </a:endParaRPr>
          </a:p>
          <a:p>
            <a:pPr lvl="0"/>
            <a:r>
              <a:rPr lang="en-SE" sz="1200" b="1" dirty="0">
                <a:latin typeface="Segoe UI" panose="020B0502040204020203" pitchFamily="34" charset="0"/>
                <a:cs typeface="Segoe UI" panose="020B0502040204020203" pitchFamily="34" charset="0"/>
              </a:rPr>
              <a:t>Limited or Missing Coverage:</a:t>
            </a:r>
            <a:br>
              <a:rPr lang="en-SE" sz="1200" dirty="0">
                <a:latin typeface="Segoe UI" panose="020B0502040204020203" pitchFamily="34" charset="0"/>
                <a:cs typeface="Segoe UI" panose="020B0502040204020203" pitchFamily="34" charset="0"/>
              </a:rPr>
            </a:br>
            <a:r>
              <a:rPr lang="en-SE" sz="1200" dirty="0">
                <a:latin typeface="Segoe UI" panose="020B0502040204020203" pitchFamily="34" charset="0"/>
                <a:cs typeface="Segoe UI" panose="020B0502040204020203" pitchFamily="34" charset="0"/>
              </a:rPr>
              <a:t>West Darfur has no valid target or actual value for comparison, while West Kordofan shows no recorded programme presence in the current dataset. These should be treated as data or coverage gaps rather than confirmed low performance.</a:t>
            </a:r>
          </a:p>
        </p:txBody>
      </p:sp>
      <p:sp>
        <p:nvSpPr>
          <p:cNvPr id="13" name="Rectangle 12">
            <a:extLst>
              <a:ext uri="{FF2B5EF4-FFF2-40B4-BE49-F238E27FC236}">
                <a16:creationId xmlns:a16="http://schemas.microsoft.com/office/drawing/2014/main" id="{02FCB587-9522-5053-643C-10305BDE00B1}"/>
              </a:ext>
            </a:extLst>
          </p:cNvPr>
          <p:cNvSpPr/>
          <p:nvPr/>
        </p:nvSpPr>
        <p:spPr>
          <a:xfrm>
            <a:off x="0" y="6356350"/>
            <a:ext cx="12192000" cy="501650"/>
          </a:xfrm>
          <a:prstGeom prst="rect">
            <a:avLst/>
          </a:prstGeom>
          <a:solidFill>
            <a:srgbClr val="006E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4" name="Picture 3">
            <a:extLst>
              <a:ext uri="{FF2B5EF4-FFF2-40B4-BE49-F238E27FC236}">
                <a16:creationId xmlns:a16="http://schemas.microsoft.com/office/drawing/2014/main" id="{3F770EAD-1419-98FA-697E-EAA52DCF45D2}"/>
              </a:ext>
            </a:extLst>
          </p:cNvPr>
          <p:cNvPicPr>
            <a:picLocks noChangeAspect="1"/>
          </p:cNvPicPr>
          <p:nvPr/>
        </p:nvPicPr>
        <p:blipFill>
          <a:blip r:embed="rId2"/>
          <a:srcRect l="8188" r="28875"/>
          <a:stretch>
            <a:fillRect/>
          </a:stretch>
        </p:blipFill>
        <p:spPr>
          <a:xfrm>
            <a:off x="5509260" y="812068"/>
            <a:ext cx="6028266" cy="5233864"/>
          </a:xfrm>
          <a:prstGeom prst="rect">
            <a:avLst/>
          </a:prstGeom>
        </p:spPr>
      </p:pic>
      <p:pic>
        <p:nvPicPr>
          <p:cNvPr id="6" name="Picture 5">
            <a:extLst>
              <a:ext uri="{FF2B5EF4-FFF2-40B4-BE49-F238E27FC236}">
                <a16:creationId xmlns:a16="http://schemas.microsoft.com/office/drawing/2014/main" id="{F8402828-CED4-C13C-1D4D-C5068CC5E19A}"/>
              </a:ext>
            </a:extLst>
          </p:cNvPr>
          <p:cNvPicPr>
            <a:picLocks noChangeAspect="1"/>
          </p:cNvPicPr>
          <p:nvPr/>
        </p:nvPicPr>
        <p:blipFill>
          <a:blip r:embed="rId2"/>
          <a:srcRect l="80390" t="-241" r="676" b="61743"/>
          <a:stretch>
            <a:fillRect/>
          </a:stretch>
        </p:blipFill>
        <p:spPr>
          <a:xfrm>
            <a:off x="10682578" y="4680528"/>
            <a:ext cx="1326542" cy="1473852"/>
          </a:xfrm>
          <a:prstGeom prst="rect">
            <a:avLst/>
          </a:prstGeom>
        </p:spPr>
      </p:pic>
    </p:spTree>
    <p:extLst>
      <p:ext uri="{BB962C8B-B14F-4D97-AF65-F5344CB8AC3E}">
        <p14:creationId xmlns:p14="http://schemas.microsoft.com/office/powerpoint/2010/main" val="4023794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80FC2-AC83-CEA4-AA61-9728F197BA03}"/>
              </a:ext>
            </a:extLst>
          </p:cNvPr>
          <p:cNvSpPr>
            <a:spLocks noGrp="1"/>
          </p:cNvSpPr>
          <p:nvPr>
            <p:ph type="title"/>
          </p:nvPr>
        </p:nvSpPr>
        <p:spPr>
          <a:xfrm>
            <a:off x="731520" y="312572"/>
            <a:ext cx="6858000" cy="923544"/>
          </a:xfrm>
        </p:spPr>
        <p:txBody>
          <a:bodyPr anchor="b">
            <a:normAutofit/>
          </a:bodyPr>
          <a:lstStyle/>
          <a:p>
            <a:r>
              <a:rPr lang="en-US" dirty="0"/>
              <a:t>Key Challenges, Lessons Learned, and Way Forward -NH</a:t>
            </a:r>
          </a:p>
        </p:txBody>
      </p:sp>
      <p:sp>
        <p:nvSpPr>
          <p:cNvPr id="4" name="Content Placeholder 3">
            <a:extLst>
              <a:ext uri="{FF2B5EF4-FFF2-40B4-BE49-F238E27FC236}">
                <a16:creationId xmlns:a16="http://schemas.microsoft.com/office/drawing/2014/main" id="{1F2EA692-333F-5D1E-AB45-1E99E5C4F51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lvl="0" indent="0">
              <a:spcBef>
                <a:spcPts val="2500"/>
              </a:spcBef>
              <a:buFont typeface="Arial" panose="020B0604020202020204" pitchFamily="34" charset="0"/>
              <a:buNone/>
            </a:pPr>
            <a:r>
              <a:rPr lang="en-US" b="1" dirty="0"/>
              <a:t>Lessons Learned</a:t>
            </a:r>
          </a:p>
          <a:p>
            <a:pPr marL="0" lvl="0" indent="0">
              <a:spcBef>
                <a:spcPts val="2500"/>
              </a:spcBef>
              <a:buFont typeface="Arial" panose="020B0604020202020204" pitchFamily="34" charset="0"/>
              <a:buNone/>
            </a:pPr>
            <a:r>
              <a:rPr lang="en-US" b="1" dirty="0"/>
              <a:t>Future Priorities</a:t>
            </a:r>
          </a:p>
          <a:p>
            <a:pPr marL="0" lvl="1" indent="0">
              <a:buFont typeface="Arial" panose="020B0604020202020204" pitchFamily="34" charset="0"/>
              <a:buNone/>
            </a:pPr>
            <a:r>
              <a:rPr lang="en-US" dirty="0"/>
              <a:t>Digitalizing data, quarterly beneficiary mapping, and GIS analysis will enhance decision-making and program effectiveness.</a:t>
            </a:r>
          </a:p>
          <a:p>
            <a:pPr marL="0" lvl="0" indent="0">
              <a:spcBef>
                <a:spcPts val="2500"/>
              </a:spcBef>
              <a:buFont typeface="Arial" panose="020B0604020202020204" pitchFamily="34" charset="0"/>
              <a:buNone/>
            </a:pPr>
            <a:r>
              <a:rPr lang="en-US" b="1" dirty="0"/>
              <a:t>Key Recommendation: Sustaining Progress/SIMS</a:t>
            </a:r>
          </a:p>
        </p:txBody>
      </p:sp>
      <p:pic>
        <p:nvPicPr>
          <p:cNvPr id="5" name="Content Placeholder 4" descr="[3d &amp; graphical design&amp; art elements of work created by the contributor]">
            <a:extLst>
              <a:ext uri="{FF2B5EF4-FFF2-40B4-BE49-F238E27FC236}">
                <a16:creationId xmlns:a16="http://schemas.microsoft.com/office/drawing/2014/main" id="{FEBD5B78-D2D3-4184-AA60-AEE276DA02A2}"/>
              </a:ext>
            </a:extLst>
          </p:cNvPr>
          <p:cNvPicPr>
            <a:picLocks noGrp="1" noChangeAspect="1"/>
          </p:cNvPicPr>
          <p:nvPr>
            <p:ph type="pic" sz="quarter" idx="15"/>
          </p:nvPr>
        </p:nvPicPr>
        <p:blipFill>
          <a:blip r:embed="rId3"/>
          <a:srcRect l="28426" r="31994" b="2"/>
          <a:stretch>
            <a:fillRect/>
          </a:stretch>
        </p:blipFill>
        <p:spPr>
          <a:xfrm>
            <a:off x="8491126" y="603504"/>
            <a:ext cx="3085177" cy="5202936"/>
          </a:xfrm>
        </p:spPr>
      </p:pic>
      <p:sp>
        <p:nvSpPr>
          <p:cNvPr id="6" name="Rectangle 5">
            <a:extLst>
              <a:ext uri="{FF2B5EF4-FFF2-40B4-BE49-F238E27FC236}">
                <a16:creationId xmlns:a16="http://schemas.microsoft.com/office/drawing/2014/main" id="{ABB3AA6E-3811-E6ED-2728-8AA7E8DED95F}"/>
              </a:ext>
            </a:extLst>
          </p:cNvPr>
          <p:cNvSpPr/>
          <p:nvPr/>
        </p:nvSpPr>
        <p:spPr>
          <a:xfrm>
            <a:off x="0" y="6356350"/>
            <a:ext cx="12192000" cy="501650"/>
          </a:xfrm>
          <a:prstGeom prst="rect">
            <a:avLst/>
          </a:prstGeom>
          <a:solidFill>
            <a:srgbClr val="006E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15127269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GradientRise">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GradientRise">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 id="{FF74CFCA-15A8-4A19-8791-A4B07AC19AED}" vid="{4F1DA30D-FBF7-47F9-8AB5-ACED5332D3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a92d9f05-d449-4457-acdb-7d30940c7cbe}" enabled="1" method="Standard" siteId="{720b637a-655a-40cf-816a-f22f40755c2c}" contentBits="0" removed="0"/>
</clbl:labelList>
</file>

<file path=docProps/app.xml><?xml version="1.0" encoding="utf-8"?>
<Properties xmlns="http://schemas.openxmlformats.org/officeDocument/2006/extended-properties" xmlns:vt="http://schemas.openxmlformats.org/officeDocument/2006/docPropsVTypes">
  <TotalTime>320</TotalTime>
  <Words>3503</Words>
  <Application>Microsoft Office PowerPoint</Application>
  <PresentationFormat>Widescreen</PresentationFormat>
  <Paragraphs>129</Paragraphs>
  <Slides>13</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Aptos</vt:lpstr>
      <vt:lpstr>Arial</vt:lpstr>
      <vt:lpstr>Avenir Next LT Pro</vt:lpstr>
      <vt:lpstr>Avenir Next LT Pro Light</vt:lpstr>
      <vt:lpstr>Calibri</vt:lpstr>
      <vt:lpstr>Neue Haas Grotesk Text Pro</vt:lpstr>
      <vt:lpstr>Segoe UI</vt:lpstr>
      <vt:lpstr>Segoe UI Semibold</vt:lpstr>
      <vt:lpstr>GradientRise</vt:lpstr>
      <vt:lpstr>PowerPoint Presentation</vt:lpstr>
      <vt:lpstr>Context, Purpose, and Scope of the Progress Report</vt:lpstr>
      <vt:lpstr>PowerPoint Presentation</vt:lpstr>
      <vt:lpstr>Pillar 1 Results: Health and Essential Services</vt:lpstr>
      <vt:lpstr>Pillar 2 Results: Resilience and Recovery</vt:lpstr>
      <vt:lpstr>Pillar 3: Peacebuilding &amp; inclusive Governance</vt:lpstr>
      <vt:lpstr>Pillar 4 Results: Environment, Energy Climate Change</vt:lpstr>
      <vt:lpstr>Overview</vt:lpstr>
      <vt:lpstr>Raito of Beneficiary Reach Against Targets</vt:lpstr>
      <vt:lpstr>UNDP Sudan Geographical Coverage and Pillar Presence and Overlapping</vt:lpstr>
      <vt:lpstr>Beneficiaries Distribution (Female, Male and Youth)</vt:lpstr>
      <vt:lpstr>Geographic Distribution of Beneficiary Reach Compared to Targets/Coverage</vt:lpstr>
      <vt:lpstr>Key Challenges, Lessons Learned, and Way Forward -NH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nadia.hamid@undp.org</dc:creator>
  <cp:lastModifiedBy>Mohamed Ali</cp:lastModifiedBy>
  <cp:revision>7</cp:revision>
  <dcterms:modified xsi:type="dcterms:W3CDTF">2026-09-26T17:00:10Z</dcterms:modified>
</cp:coreProperties>
</file>